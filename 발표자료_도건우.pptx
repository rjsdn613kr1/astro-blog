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1" r:id="rId4"/>
    <p:sldId id="258" r:id="rId5"/>
    <p:sldId id="266" r:id="rId6"/>
    <p:sldId id="265" r:id="rId7"/>
    <p:sldId id="338" r:id="rId8"/>
    <p:sldId id="267" r:id="rId9"/>
    <p:sldId id="270" r:id="rId10"/>
    <p:sldId id="268" r:id="rId11"/>
    <p:sldId id="269" r:id="rId12"/>
    <p:sldId id="271" r:id="rId13"/>
    <p:sldId id="340" r:id="rId14"/>
    <p:sldId id="341" r:id="rId15"/>
  </p:sldIdLst>
  <p:sldSz cx="12192000" cy="6858000"/>
  <p:notesSz cx="9144000" cy="6858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094086-941F-34D8-E827-9A58D6D278DC}" name="도건우" initials="도" userId="S::rjsdn613@g.kmou.ac.kr::b8fc7900-54d3-4eec-8869-0ccf90c8019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32" autoAdjust="0"/>
    <p:restoredTop sz="96993" autoAdjust="0"/>
  </p:normalViewPr>
  <p:slideViewPr>
    <p:cSldViewPr snapToGrid="0" showGuides="1">
      <p:cViewPr>
        <p:scale>
          <a:sx n="150" d="100"/>
          <a:sy n="150" d="100"/>
        </p:scale>
        <p:origin x="1024" y="35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61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69C585A8-20F1-4616-A0D1-DB38F7419C47}" type="datetimeFigureOut">
              <a:rPr lang="ko-KR" altLang="en-US" smtClean="0"/>
              <a:t>2026. 6. 18.</a:t>
            </a:fld>
            <a:endParaRPr lang="ko-KR" altLang="en-US"/>
          </a:p>
        </p:txBody>
      </p:sp>
      <p:sp>
        <p:nvSpPr>
          <p:cNvPr id="4" name="슬라이드 이미지 개체 틀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F3E414AB-0718-42D2-9019-CDEBB5DB8A6B}" type="slidenum">
              <a:rPr lang="ko-KR" altLang="en-US" smtClean="0"/>
              <a:t>‹#›</a:t>
            </a:fld>
            <a:endParaRPr lang="ko-KR" altLang="en-US"/>
          </a:p>
        </p:txBody>
      </p:sp>
    </p:spTree>
    <p:extLst>
      <p:ext uri="{BB962C8B-B14F-4D97-AF65-F5344CB8AC3E}">
        <p14:creationId xmlns:p14="http://schemas.microsoft.com/office/powerpoint/2010/main" val="387683553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kern="1200" dirty="0">
                <a:solidFill>
                  <a:schemeClr val="tx1"/>
                </a:solidFill>
                <a:effectLst/>
                <a:latin typeface="+mn-lt"/>
                <a:ea typeface="+mn-ea"/>
                <a:cs typeface="+mn-cs"/>
              </a:rPr>
              <a:t>Hello, I am </a:t>
            </a:r>
            <a:r>
              <a:rPr lang="en-US" altLang="ko-KR" sz="1200" kern="1200" dirty="0" err="1">
                <a:solidFill>
                  <a:schemeClr val="tx1"/>
                </a:solidFill>
                <a:effectLst/>
                <a:latin typeface="+mn-lt"/>
                <a:ea typeface="+mn-ea"/>
                <a:cs typeface="+mn-cs"/>
              </a:rPr>
              <a:t>Gunwoo</a:t>
            </a:r>
            <a:r>
              <a:rPr lang="en-US" altLang="ko-KR" sz="1200" kern="1200" dirty="0">
                <a:solidFill>
                  <a:schemeClr val="tx1"/>
                </a:solidFill>
                <a:effectLst/>
                <a:latin typeface="+mn-lt"/>
                <a:ea typeface="+mn-ea"/>
                <a:cs typeface="+mn-cs"/>
              </a:rPr>
              <a:t> Do from Korea Maritime and Ocean University. </a:t>
            </a:r>
          </a:p>
          <a:p>
            <a:r>
              <a:rPr lang="en-US" altLang="ko-KR" sz="1200" kern="1200" dirty="0">
                <a:solidFill>
                  <a:schemeClr val="tx1"/>
                </a:solidFill>
                <a:effectLst/>
                <a:latin typeface="+mn-lt"/>
                <a:ea typeface="+mn-ea"/>
                <a:cs typeface="+mn-cs"/>
              </a:rPr>
              <a:t>My talk is "Influence of Kuroshio Current Transport on Tropical Cyclone Intensity in the East China Sea.“ </a:t>
            </a:r>
          </a:p>
          <a:p>
            <a:r>
              <a:rPr lang="en-US" altLang="ko-KR" sz="1200" kern="1200" dirty="0">
                <a:solidFill>
                  <a:schemeClr val="tx1"/>
                </a:solidFill>
                <a:effectLst/>
                <a:latin typeface="+mn-lt"/>
                <a:ea typeface="+mn-ea"/>
                <a:cs typeface="+mn-cs"/>
              </a:rPr>
              <a:t>I would like to let you know that the title has been little changed. I apologize about that and I appreciate your understanding.</a:t>
            </a:r>
            <a:endParaRPr lang="ko-KR" altLang="ko-KR" sz="12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1</a:t>
            </a:fld>
            <a:endParaRPr lang="ko-KR" altLang="en-US"/>
          </a:p>
        </p:txBody>
      </p:sp>
    </p:spTree>
    <p:extLst>
      <p:ext uri="{BB962C8B-B14F-4D97-AF65-F5344CB8AC3E}">
        <p14:creationId xmlns:p14="http://schemas.microsoft.com/office/powerpoint/2010/main" val="3562040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Many studies have reported that tropical cyclone activity has been moving poleward in recent years. especially, Kossin et al. 2014 found that the latitude of lifetime maximum intensity in the Northern Hemisphere has been moving poleward at a rate of 83 km per decade.</a:t>
            </a:r>
          </a:p>
          <a:p>
            <a:endParaRPr lang="en-US" altLang="ko-KR" dirty="0"/>
          </a:p>
          <a:p>
            <a:r>
              <a:rPr lang="en-US" altLang="ko-KR" dirty="0"/>
              <a:t>The IPCC report said that these trends cannot be explained by internal variability alone.</a:t>
            </a:r>
          </a:p>
          <a:p>
            <a:r>
              <a:rPr lang="en-US" altLang="ko-KR" dirty="0"/>
              <a:t>So, the importance of tropical cyclone research in the mid-latitude region is getting bigger.</a:t>
            </a:r>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2</a:t>
            </a:fld>
            <a:endParaRPr lang="ko-KR" altLang="en-US"/>
          </a:p>
        </p:txBody>
      </p:sp>
    </p:spTree>
    <p:extLst>
      <p:ext uri="{BB962C8B-B14F-4D97-AF65-F5344CB8AC3E}">
        <p14:creationId xmlns:p14="http://schemas.microsoft.com/office/powerpoint/2010/main" val="2033371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Zhang et al. 2020 said that the Kuroshio Current plays an important role in transporting heat from low latitudes to high latitudes. </a:t>
            </a:r>
          </a:p>
          <a:p>
            <a:r>
              <a:rPr lang="en-US" altLang="ko-KR" dirty="0"/>
              <a:t>Tropical cyclones also move heat energy from low latitudes to high latitudes, just like the Kuroshio Current.</a:t>
            </a:r>
          </a:p>
          <a:p>
            <a:endParaRPr lang="en-US" altLang="ko-KR" dirty="0"/>
          </a:p>
          <a:p>
            <a:r>
              <a:rPr lang="en-US" altLang="ko-KR" dirty="0"/>
              <a:t>Zhang et al. said that Eddy PV from tropical cyclones has been increasing in figure C, and this is what drives the increase in Kuroshio transport.</a:t>
            </a:r>
          </a:p>
          <a:p>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effectLst/>
              </a:rPr>
              <a:t>By the way, it has been hard to find studies that looked at the effect of Kuroshio Current transport on tropical cyclone intensity, which is the opposite direction from previous studies.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effectLst/>
            </a:endParaRPr>
          </a:p>
          <a:p>
            <a:r>
              <a:rPr lang="en-US" altLang="ko-KR" dirty="0"/>
              <a:t>So, In this study, we investigated the effect of Kuroshio Current transport on tropical cyclone intensity unlike previous studies.</a:t>
            </a:r>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3</a:t>
            </a:fld>
            <a:endParaRPr lang="ko-KR" altLang="en-US"/>
          </a:p>
        </p:txBody>
      </p:sp>
    </p:spTree>
    <p:extLst>
      <p:ext uri="{BB962C8B-B14F-4D97-AF65-F5344CB8AC3E}">
        <p14:creationId xmlns:p14="http://schemas.microsoft.com/office/powerpoint/2010/main" val="700791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used data shown upper-left.</a:t>
            </a:r>
          </a:p>
          <a:p>
            <a:endParaRPr lang="en-US" altLang="ko-KR" dirty="0"/>
          </a:p>
          <a:p>
            <a:r>
              <a:rPr lang="en-US" altLang="ko-KR" dirty="0"/>
              <a:t>Kuroshio Current transport was calculated as shown in the bottom left. </a:t>
            </a:r>
          </a:p>
          <a:p>
            <a:endParaRPr lang="en-US" altLang="ko-KR" dirty="0"/>
          </a:p>
          <a:p>
            <a:r>
              <a:rPr lang="en-US" altLang="ko-KR" dirty="0"/>
              <a:t>The Kuroshio Current region was selected using grid points with current speeds at or above the 85th percentile of monthly ocean current data, which can well capture the Kuroshio Current. Sensitivity tests from the 80th to 90th percentile showed that the results were not strongly affected by the threshold.</a:t>
            </a:r>
          </a:p>
          <a:p>
            <a:endParaRPr lang="en-US" altLang="ko-KR" dirty="0"/>
          </a:p>
          <a:p>
            <a:r>
              <a:rPr lang="en-US" altLang="ko-KR" dirty="0"/>
              <a:t>Out of 237 tropical cyclones above TS grade, 83 passed through the Kuroshio region. Among these, we removed cases where track data did not exist before or after crossing the Kuroshio, where the tropical cyclone made landfall right after crossing, or where it did not pass through the central axis of the Kuroshio Current. As a result, 68 tropical cyclones were selected.</a:t>
            </a:r>
          </a:p>
          <a:p>
            <a:endParaRPr lang="en-US" altLang="ko-KR" dirty="0"/>
          </a:p>
          <a:p>
            <a:r>
              <a:rPr lang="en-US" altLang="ko-KR" dirty="0"/>
              <a:t>We divided the tropical cyclones into two groups based on the median of Kuroshio transport anomaly. The group with higher transport was defined as HT and the group with lower transport was defined as LT. </a:t>
            </a:r>
          </a:p>
          <a:p>
            <a:r>
              <a:rPr lang="en-US" altLang="ko-KR" dirty="0"/>
              <a:t>31 tropical cyclones were assigned to the HT group and 37 to the LT group.</a:t>
            </a:r>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4</a:t>
            </a:fld>
            <a:endParaRPr lang="ko-KR" altLang="en-US"/>
          </a:p>
        </p:txBody>
      </p:sp>
    </p:spTree>
    <p:extLst>
      <p:ext uri="{BB962C8B-B14F-4D97-AF65-F5344CB8AC3E}">
        <p14:creationId xmlns:p14="http://schemas.microsoft.com/office/powerpoint/2010/main" val="4160885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top left figure shows the time series of Kuroshio Current transport in the Kuroshio region. The gray line shows the monthly raw data, the black line shows the one-year running mean, and the thick red line shows the trend. Kuroshio Current transport has been increasing at a rate of 0.51 </a:t>
            </a:r>
            <a:r>
              <a:rPr lang="en-US" altLang="ko-KR" dirty="0" err="1"/>
              <a:t>Sverdrups</a:t>
            </a:r>
            <a:r>
              <a:rPr lang="en-US" altLang="ko-KR" dirty="0"/>
              <a:t> per year, with a p-value of 0.02, showing a significant increasing trend.</a:t>
            </a:r>
          </a:p>
          <a:p>
            <a:endParaRPr lang="en-US" altLang="ko-KR" dirty="0"/>
          </a:p>
          <a:p>
            <a:r>
              <a:rPr lang="en-US" altLang="ko-KR" dirty="0"/>
              <a:t>The bottom left figure shows the monthly distribution of the HT and LT groups. The results show that each group is evenly distributed across the seasons.</a:t>
            </a:r>
          </a:p>
          <a:p>
            <a:endParaRPr lang="en-US" altLang="ko-KR" dirty="0"/>
          </a:p>
          <a:p>
            <a:r>
              <a:rPr lang="en-US" altLang="ko-KR" dirty="0"/>
              <a:t>The top right figure is a box plot comparing Kuroshio transport between the two groups. The two groups show a significant difference in Kuroshio Current transport.</a:t>
            </a:r>
          </a:p>
          <a:p>
            <a:endParaRPr lang="en-US" altLang="ko-KR" dirty="0"/>
          </a:p>
          <a:p>
            <a:r>
              <a:rPr lang="en-US" altLang="ko-KR" dirty="0"/>
              <a:t>So, Kuroshio Current transport has been increasing, and the two groups appear to be properly classified based on their transport values.</a:t>
            </a:r>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5</a:t>
            </a:fld>
            <a:endParaRPr lang="ko-KR" altLang="en-US"/>
          </a:p>
        </p:txBody>
      </p:sp>
    </p:spTree>
    <p:extLst>
      <p:ext uri="{BB962C8B-B14F-4D97-AF65-F5344CB8AC3E}">
        <p14:creationId xmlns:p14="http://schemas.microsoft.com/office/powerpoint/2010/main" val="2339461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top left figures show Absolute Dynamic Topography. The left figure is the ADT for the HT group, the middle figure is for the LT group, and the right figure shows the difference between HT and LT. </a:t>
            </a:r>
          </a:p>
          <a:p>
            <a:r>
              <a:rPr lang="en-US" altLang="ko-KR" dirty="0"/>
              <a:t>In all figures, only significant vectors are shown. In the difference figure, only significant areas are shaded, with positive values shown as solid lines, zero as bold solid lines, and negative values as dashed lines. </a:t>
            </a:r>
          </a:p>
          <a:p>
            <a:endParaRPr lang="en-US" altLang="ko-KR" dirty="0"/>
          </a:p>
          <a:p>
            <a:r>
              <a:rPr lang="en-US" altLang="ko-KR" dirty="0"/>
              <a:t>For ADT, the HT group showed significantly higher ADT than the LT group in the Kuroshio region by about +5.67 cm on average. Ocean current vectors in the direction of the Kuroshio Current also showed significantly faster speeds.</a:t>
            </a:r>
          </a:p>
          <a:p>
            <a:endParaRPr lang="en-US" altLang="ko-KR" dirty="0"/>
          </a:p>
          <a:p>
            <a:r>
              <a:rPr lang="en-US" altLang="ko-KR" dirty="0"/>
              <a:t>The bottom left figures show Sea Surface Temperature with same format. For SST, the HT group showed warmer SST in the Kuroshio region.</a:t>
            </a:r>
          </a:p>
          <a:p>
            <a:endParaRPr lang="en-US" altLang="ko-KR" dirty="0"/>
          </a:p>
          <a:p>
            <a:r>
              <a:rPr lang="en-US" altLang="ko-KR" dirty="0"/>
              <a:t>The top right figures show Ocean Heat Content. For OHC, the HT group showed higher values in the Kuroshio region.</a:t>
            </a:r>
          </a:p>
          <a:p>
            <a:endParaRPr lang="en-US" altLang="ko-KR" dirty="0"/>
          </a:p>
          <a:p>
            <a:r>
              <a:rPr lang="en-US" altLang="ko-KR" dirty="0"/>
              <a:t>The bottom right figures show Vertical Wind Shear. VWS was calculated as the wind speed difference between 200 hPa and 850 hPa. For VWS, no significant difference was found between the two groups.</a:t>
            </a:r>
          </a:p>
          <a:p>
            <a:endParaRPr lang="en-US" altLang="ko-KR" dirty="0"/>
          </a:p>
          <a:p>
            <a:r>
              <a:rPr lang="en-US" altLang="ko-KR" dirty="0">
                <a:effectLst/>
              </a:rPr>
              <a:t>In summary, the HT group showed generally higher heat energy in the Kuroshio region. VWS, which is a key atmospheric factor affecting tropical cyclone intensity in the mid-latitude region, showed no </a:t>
            </a:r>
            <a:r>
              <a:rPr lang="en-US" altLang="ko-KR" dirty="0" err="1">
                <a:effectLst/>
              </a:rPr>
              <a:t>siginificant</a:t>
            </a:r>
            <a:r>
              <a:rPr lang="en-US" altLang="ko-KR" dirty="0">
                <a:effectLst/>
              </a:rPr>
              <a:t> difference between the two groups. Therefore, we can more independently evaluate the effect of Kuroshio transport by limited influence of VWS.</a:t>
            </a:r>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6</a:t>
            </a:fld>
            <a:endParaRPr lang="ko-KR" altLang="en-US"/>
          </a:p>
        </p:txBody>
      </p:sp>
    </p:spTree>
    <p:extLst>
      <p:ext uri="{BB962C8B-B14F-4D97-AF65-F5344CB8AC3E}">
        <p14:creationId xmlns:p14="http://schemas.microsoft.com/office/powerpoint/2010/main" val="986210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11729-763B-018D-1D46-1A4C74C5A77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CCE0361-F02B-37A7-4ABA-B9CE959DF1A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0AC27AE-A398-70DE-AC98-061F03C1B2C7}"/>
              </a:ext>
            </a:extLst>
          </p:cNvPr>
          <p:cNvSpPr>
            <a:spLocks noGrp="1"/>
          </p:cNvSpPr>
          <p:nvPr>
            <p:ph type="body" idx="1"/>
          </p:nvPr>
        </p:nvSpPr>
        <p:spPr/>
        <p:txBody>
          <a:bodyPr/>
          <a:lstStyle/>
          <a:p>
            <a:r>
              <a:rPr lang="en-US" altLang="ko-KR" dirty="0"/>
              <a:t>We also compared the 500 hPa geopotential height across groups. The first row shows the mean field, and the second row shows the anomaly field.</a:t>
            </a:r>
          </a:p>
          <a:p>
            <a:r>
              <a:rPr lang="en-US" altLang="ko-KR" dirty="0"/>
              <a:t>No significant differences were found between the two groups. Therefore, similar to the VWS results, we believe this further supports that the effect of Kuroshio Current transport can be more clearly identified.</a:t>
            </a:r>
          </a:p>
          <a:p>
            <a:endParaRPr lang="en-US" altLang="ko-KR" dirty="0">
              <a:effectLst/>
            </a:endParaRPr>
          </a:p>
        </p:txBody>
      </p:sp>
      <p:sp>
        <p:nvSpPr>
          <p:cNvPr id="4" name="슬라이드 번호 개체 틀 3">
            <a:extLst>
              <a:ext uri="{FF2B5EF4-FFF2-40B4-BE49-F238E27FC236}">
                <a16:creationId xmlns:a16="http://schemas.microsoft.com/office/drawing/2014/main" id="{C7197D2C-EA69-15E2-592B-CD2BD9F63F27}"/>
              </a:ext>
            </a:extLst>
          </p:cNvPr>
          <p:cNvSpPr>
            <a:spLocks noGrp="1"/>
          </p:cNvSpPr>
          <p:nvPr>
            <p:ph type="sldNum" sz="quarter" idx="5"/>
          </p:nvPr>
        </p:nvSpPr>
        <p:spPr/>
        <p:txBody>
          <a:bodyPr/>
          <a:lstStyle/>
          <a:p>
            <a:fld id="{F3E414AB-0718-42D2-9019-CDEBB5DB8A6B}" type="slidenum">
              <a:rPr lang="ko-KR" altLang="en-US" smtClean="0"/>
              <a:t>7</a:t>
            </a:fld>
            <a:endParaRPr lang="ko-KR" altLang="en-US"/>
          </a:p>
        </p:txBody>
      </p:sp>
    </p:spTree>
    <p:extLst>
      <p:ext uri="{BB962C8B-B14F-4D97-AF65-F5344CB8AC3E}">
        <p14:creationId xmlns:p14="http://schemas.microsoft.com/office/powerpoint/2010/main" val="2716143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figure on the left shows the mean TC tracks of the HT and LT groups. HT is in red, and LT is in blue. The Kuroshio region is represented by a black dashed line, and the </a:t>
            </a:r>
            <a:r>
              <a:rPr lang="en-US" altLang="ko-KR" dirty="0" err="1"/>
              <a:t>LMI</a:t>
            </a:r>
            <a:r>
              <a:rPr lang="en-US" altLang="ko-KR" dirty="0"/>
              <a:t> location for each group is indicated by a star marker. The genesis and LMI latitudes of the two groups appear similar.</a:t>
            </a:r>
          </a:p>
          <a:p>
            <a:endParaRPr lang="en-US" altLang="ko-KR" dirty="0"/>
          </a:p>
          <a:p>
            <a:r>
              <a:rPr lang="en-US" altLang="ko-KR" dirty="0"/>
              <a:t>The center figure is a box plot of LMI for the two groups. It was found that there was no significant difference in LMI between the two groups.</a:t>
            </a:r>
          </a:p>
          <a:p>
            <a:endParaRPr lang="en-US" altLang="ko-KR" dirty="0"/>
          </a:p>
          <a:p>
            <a:r>
              <a:rPr lang="en-US" altLang="ko-KR" dirty="0"/>
              <a:t>The figure on the right is a box plot showing the time taken for the two groups to pass through the Kuroshio region. There was no significant difference in pass through the Kuroshio region.</a:t>
            </a:r>
          </a:p>
          <a:p>
            <a:endParaRPr lang="en-US" altLang="ko-KR" dirty="0"/>
          </a:p>
          <a:p>
            <a:r>
              <a:rPr lang="en-US" altLang="ko-KR" dirty="0"/>
              <a:t>So, there was no significant difference in the LMI between the two groups, and the time taken to pass through the current was also similar. This result provides a basis for assessing the influence of the Kuroshio Current's transport on TC intensity more independently.</a:t>
            </a:r>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8</a:t>
            </a:fld>
            <a:endParaRPr lang="ko-KR" altLang="en-US"/>
          </a:p>
        </p:txBody>
      </p:sp>
    </p:spTree>
    <p:extLst>
      <p:ext uri="{BB962C8B-B14F-4D97-AF65-F5344CB8AC3E}">
        <p14:creationId xmlns:p14="http://schemas.microsoft.com/office/powerpoint/2010/main" val="2045745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top left figure shows the Kuroshio region and the mean tracks of the HT and LT groups passing through it. </a:t>
            </a:r>
          </a:p>
          <a:p>
            <a:r>
              <a:rPr lang="en-US" altLang="ko-KR" dirty="0"/>
              <a:t>HT is shown in red and LT in blue. Positions before crossing are shown with circle markers, and positions after crossing are shown with square markers. Both groups passed through the central part of the Kuroshio region.</a:t>
            </a:r>
          </a:p>
          <a:p>
            <a:endParaRPr lang="en-US" altLang="ko-KR" dirty="0"/>
          </a:p>
          <a:p>
            <a:r>
              <a:rPr lang="en-US" altLang="ko-KR" dirty="0"/>
              <a:t>The bottom left figure shows the TC intensity of each group before and after crossing the Kuroshio region. The markers indicate the mean intensity, and the range is shown with 95% confidence intervals. </a:t>
            </a:r>
          </a:p>
          <a:p>
            <a:r>
              <a:rPr lang="en-US" altLang="ko-KR" dirty="0"/>
              <a:t>The HT group showed no significant decrease in TC intensity after crossing the Kuroshio Current. On the other hand, the LT group showed a significant decrease in TC intensity after crossing the Kuroshio Current.</a:t>
            </a:r>
          </a:p>
          <a:p>
            <a:endParaRPr lang="en-US" altLang="ko-KR" dirty="0"/>
          </a:p>
          <a:p>
            <a:r>
              <a:rPr lang="en-US" altLang="ko-KR" dirty="0"/>
              <a:t>The bottom right figure compares the mean TC intensity north of 30°N. The HT group showed significantly stronger than the LT group.</a:t>
            </a:r>
          </a:p>
          <a:p>
            <a:endParaRPr lang="en-US" altLang="ko-KR" dirty="0"/>
          </a:p>
          <a:p>
            <a:r>
              <a:rPr lang="en-US" altLang="ko-KR" dirty="0"/>
              <a:t>The top right figure shows the time series of annual mean TC intensity north of 30°N. The thick lines show the trend for each group. The HT group showed a significant increasing trend at a rate of 3.14 m/s per decade. The LT group showed a non-significant decreasing trend at a rate of -0.19 m/s per decade.</a:t>
            </a:r>
          </a:p>
          <a:p>
            <a:endParaRPr lang="en-US" altLang="ko-KR" dirty="0"/>
          </a:p>
          <a:p>
            <a:r>
              <a:rPr lang="en-US" altLang="ko-KR" dirty="0"/>
              <a:t>In summary, in the HT group, which has a high</a:t>
            </a:r>
            <a:r>
              <a:rPr lang="ko-KR" altLang="en-US" dirty="0"/>
              <a:t> </a:t>
            </a:r>
            <a:r>
              <a:rPr lang="en-US" altLang="ko-KR" dirty="0"/>
              <a:t>transport of Kuroshio Current, the intensity was well maintained before and after the passage of the Kuroshio Current, and showed significantly strong intensity even north of 30°N. In addition, the annual mean intensity north of 30°N showed a significantly increasing trend.</a:t>
            </a:r>
          </a:p>
          <a:p>
            <a:r>
              <a:rPr lang="en-US" altLang="ko-KR" dirty="0">
                <a:effectLst/>
              </a:rPr>
              <a:t>Therefore, if these trends continue, </a:t>
            </a:r>
            <a:r>
              <a:rPr lang="en-US" altLang="ko-KR" dirty="0"/>
              <a:t>tropical cyclones affecting East Asian countries such as Korea, Japan, and China may become stronger when Kuroshio Current transport is high in summer.</a:t>
            </a:r>
            <a:endParaRPr lang="en-US" altLang="ko-KR" dirty="0">
              <a:effectLst/>
            </a:endParaRPr>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9</a:t>
            </a:fld>
            <a:endParaRPr lang="ko-KR" altLang="en-US"/>
          </a:p>
        </p:txBody>
      </p:sp>
    </p:spTree>
    <p:extLst>
      <p:ext uri="{BB962C8B-B14F-4D97-AF65-F5344CB8AC3E}">
        <p14:creationId xmlns:p14="http://schemas.microsoft.com/office/powerpoint/2010/main" val="1201849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summarize the results, Kuroshio Current transport in summer showed an increasing trend, and the HT group showed higher ADT, SST, and OHC than the LT group.</a:t>
            </a:r>
          </a:p>
          <a:p>
            <a:endParaRPr lang="en-US" altLang="ko-KR" dirty="0"/>
          </a:p>
          <a:p>
            <a:r>
              <a:rPr lang="en-US" altLang="ko-KR" dirty="0"/>
              <a:t>VWS, which is a key atmospheric factor affecting TC intensity in the mid-latitude region, showed no significant difference between the HT and LT groups.</a:t>
            </a:r>
          </a:p>
          <a:p>
            <a:endParaRPr lang="en-US" altLang="ko-KR" dirty="0"/>
          </a:p>
          <a:p>
            <a:r>
              <a:rPr lang="en-US" altLang="ko-KR" dirty="0"/>
              <a:t>The TCs in the HT and LT groups had similar </a:t>
            </a:r>
            <a:r>
              <a:rPr lang="en-US" altLang="ko-KR" dirty="0" err="1"/>
              <a:t>LMI</a:t>
            </a:r>
            <a:r>
              <a:rPr lang="en-US" altLang="ko-KR" dirty="0"/>
              <a:t> locations and similar time spent crossing the Kuroshio region.</a:t>
            </a:r>
          </a:p>
          <a:p>
            <a:endParaRPr lang="en-US" altLang="ko-KR" dirty="0"/>
          </a:p>
          <a:p>
            <a:r>
              <a:rPr lang="en-US" altLang="ko-KR" dirty="0"/>
              <a:t>Therefore, we were able to better understand the effect of Kuroshio Current transport by limiting the influence of other factors.</a:t>
            </a:r>
          </a:p>
          <a:p>
            <a:endParaRPr lang="en-US" altLang="ko-KR" dirty="0"/>
          </a:p>
          <a:p>
            <a:r>
              <a:rPr lang="en-US" altLang="ko-KR" dirty="0"/>
              <a:t>The HT group showed no significant difference in TC intensity before and after crossing the Kuroshio region, while the LT group showed a significant decrease in TC intensity after crossing.</a:t>
            </a:r>
          </a:p>
          <a:p>
            <a:endParaRPr lang="en-US" altLang="ko-KR" dirty="0"/>
          </a:p>
          <a:p>
            <a:r>
              <a:rPr lang="en-US" altLang="ko-KR" dirty="0"/>
              <a:t>The HT group showed stronger mean TC intensity north of </a:t>
            </a:r>
            <a:r>
              <a:rPr lang="en-US" altLang="ko-KR" dirty="0" err="1"/>
              <a:t>30°N</a:t>
            </a:r>
            <a:r>
              <a:rPr lang="en-US" altLang="ko-KR" dirty="0"/>
              <a:t> than the LT group. In addition, the HT group also showed a significant increasing trend in mean annual TC intensity.</a:t>
            </a:r>
          </a:p>
          <a:p>
            <a:endParaRPr lang="en-US" altLang="ko-KR" dirty="0"/>
          </a:p>
          <a:p>
            <a:r>
              <a:rPr lang="en-US" altLang="ko-KR" dirty="0"/>
              <a:t>Therefore, if these trends continue, the risk of TC damage in East Asia may become greater when Kuroshio Current transport is high in summer.</a:t>
            </a:r>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10</a:t>
            </a:fld>
            <a:endParaRPr lang="ko-KR" altLang="en-US"/>
          </a:p>
        </p:txBody>
      </p:sp>
    </p:spTree>
    <p:extLst>
      <p:ext uri="{BB962C8B-B14F-4D97-AF65-F5344CB8AC3E}">
        <p14:creationId xmlns:p14="http://schemas.microsoft.com/office/powerpoint/2010/main" val="2264621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In this study, we investigated the effect of Kuroshio Current transport on TC intensity unlike previous studies. </a:t>
            </a:r>
          </a:p>
          <a:p>
            <a:endParaRPr lang="en-US" altLang="ko-KR" dirty="0"/>
          </a:p>
          <a:p>
            <a:r>
              <a:rPr lang="en-US" altLang="ko-KR" dirty="0"/>
              <a:t>We suggest that Kuroshio Current transport is a variable considering in TC intensity research in East Asia.</a:t>
            </a:r>
          </a:p>
          <a:p>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Although not included in the results, we confirmed that the yearly distribution trend of the HT and LT groups was not significant, which means that the influence of climate change on Kuroshio Current transport was limited at least during the study period.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addition, the Pacific Decadal </a:t>
            </a:r>
            <a:r>
              <a:rPr lang="en-US" altLang="ko-KR" dirty="0" err="1"/>
              <a:t>Osilliation</a:t>
            </a:r>
            <a:r>
              <a:rPr lang="en-US" altLang="ko-KR" dirty="0"/>
              <a:t> (</a:t>
            </a:r>
            <a:r>
              <a:rPr lang="en-US" altLang="ko-KR" dirty="0" err="1"/>
              <a:t>PDO</a:t>
            </a:r>
            <a:r>
              <a:rPr lang="en-US" altLang="ko-KR" dirty="0"/>
              <a:t>) and Oceanic Nino Index (ONI) distribution of the HT and LT groups showed no significant difference, and the lag correlation between Kuroshio Current transport and </a:t>
            </a:r>
            <a:r>
              <a:rPr lang="en-US" altLang="ko-KR" dirty="0" err="1"/>
              <a:t>PDO</a:t>
            </a:r>
            <a:r>
              <a:rPr lang="en-US" altLang="ko-KR" dirty="0"/>
              <a:t>/ONI was also not significant. This means that the influence of </a:t>
            </a:r>
            <a:r>
              <a:rPr lang="en-US" altLang="ko-KR" dirty="0" err="1"/>
              <a:t>PDO</a:t>
            </a:r>
            <a:r>
              <a:rPr lang="en-US" altLang="ko-KR" dirty="0"/>
              <a:t>/ONI on Kuroshio Current transport was limited at least during the study period.</a:t>
            </a:r>
          </a:p>
          <a:p>
            <a:endParaRPr lang="en-US" altLang="ko-KR" dirty="0"/>
          </a:p>
          <a:p>
            <a:r>
              <a:rPr lang="en-US" altLang="ko-KR" dirty="0"/>
              <a:t>However, further research with more samples is needed, and we also need to investigate why Kuroshio Current transport is increase in summer, and how these results may change under future climate.</a:t>
            </a:r>
          </a:p>
          <a:p>
            <a:endParaRPr lang="en-US" altLang="ko-KR" dirty="0"/>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11</a:t>
            </a:fld>
            <a:endParaRPr lang="ko-KR" altLang="en-US"/>
          </a:p>
        </p:txBody>
      </p:sp>
    </p:spTree>
    <p:extLst>
      <p:ext uri="{BB962C8B-B14F-4D97-AF65-F5344CB8AC3E}">
        <p14:creationId xmlns:p14="http://schemas.microsoft.com/office/powerpoint/2010/main" val="3630962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&lt;KC </a:t>
            </a:r>
            <a:r>
              <a:rPr lang="ko-KR" altLang="en-US" dirty="0"/>
              <a:t>증가하는데 </a:t>
            </a:r>
            <a:r>
              <a:rPr lang="en-US" altLang="ko-KR" dirty="0"/>
              <a:t>SST</a:t>
            </a:r>
            <a:r>
              <a:rPr lang="ko-KR" altLang="en-US" dirty="0"/>
              <a:t>가 왜 상승하냐</a:t>
            </a:r>
            <a:r>
              <a:rPr lang="en-US" altLang="ko-KR" dirty="0"/>
              <a:t>&gt;</a:t>
            </a:r>
          </a:p>
          <a:p>
            <a:r>
              <a:rPr lang="en-US" altLang="ko-KR" dirty="0"/>
              <a:t>Sasaki and Umeda (2021) said that increased acceleration of the Kuroshio Current and increased ocean thermal advection cause an increase in SST along the Kuroshio path. If the transport volume of the Kuroshio Current increases, thermal advection by the Kuroshio also increases, which can lead to SST warming. And Sasaki and Umeda (2021) said that negative WSCs at low latitudes can cause an increase in Kuroshio speed.</a:t>
            </a:r>
            <a:endParaRPr lang="ko-KR" altLang="en-US" dirty="0"/>
          </a:p>
          <a:p>
            <a:endParaRPr lang="en-US" altLang="ko-KR" dirty="0"/>
          </a:p>
        </p:txBody>
      </p:sp>
      <p:sp>
        <p:nvSpPr>
          <p:cNvPr id="4" name="슬라이드 번호 개체 틀 3"/>
          <p:cNvSpPr>
            <a:spLocks noGrp="1"/>
          </p:cNvSpPr>
          <p:nvPr>
            <p:ph type="sldNum" sz="quarter" idx="5"/>
          </p:nvPr>
        </p:nvSpPr>
        <p:spPr/>
        <p:txBody>
          <a:bodyPr/>
          <a:lstStyle/>
          <a:p>
            <a:fld id="{F3E414AB-0718-42D2-9019-CDEBB5DB8A6B}" type="slidenum">
              <a:rPr lang="ko-KR" altLang="en-US" smtClean="0"/>
              <a:t>12</a:t>
            </a:fld>
            <a:endParaRPr lang="ko-KR" altLang="en-US"/>
          </a:p>
        </p:txBody>
      </p:sp>
    </p:spTree>
    <p:extLst>
      <p:ext uri="{BB962C8B-B14F-4D97-AF65-F5344CB8AC3E}">
        <p14:creationId xmlns:p14="http://schemas.microsoft.com/office/powerpoint/2010/main" val="4139312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4DB9E-69B3-F355-7040-A4F803A72CE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301C772-A337-9A20-520D-64913247DC5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999D36B-B62B-46D8-4FC6-44D55E26FFDF}"/>
              </a:ext>
            </a:extLst>
          </p:cNvPr>
          <p:cNvSpPr>
            <a:spLocks noGrp="1"/>
          </p:cNvSpPr>
          <p:nvPr>
            <p:ph type="body" idx="1"/>
          </p:nvPr>
        </p:nvSpPr>
        <p:spPr/>
        <p:txBody>
          <a:bodyPr/>
          <a:lstStyle/>
          <a:p>
            <a:r>
              <a:rPr lang="en-US" altLang="ko-KR" dirty="0"/>
              <a:t>&lt;</a:t>
            </a:r>
            <a:r>
              <a:rPr lang="ko-KR" altLang="en-US" dirty="0"/>
              <a:t>쿠로시오 수송량이 왜 증가함</a:t>
            </a:r>
            <a:r>
              <a:rPr lang="en-US" altLang="ko-KR" dirty="0"/>
              <a:t>?&gt;</a:t>
            </a:r>
          </a:p>
          <a:p>
            <a:r>
              <a:rPr lang="en-US" altLang="ko-KR" dirty="0"/>
              <a:t>A negative WSC east of Taiwan can strengthen the northward-current flow, potentially increasing Kuroshio Current transport volume.</a:t>
            </a:r>
          </a:p>
          <a:p>
            <a:endParaRPr lang="en-US" altLang="ko-KR" dirty="0"/>
          </a:p>
          <a:p>
            <a:r>
              <a:rPr lang="en-US" altLang="ko-KR" dirty="0"/>
              <a:t>&lt;KC </a:t>
            </a:r>
            <a:r>
              <a:rPr lang="ko-KR" altLang="en-US" dirty="0"/>
              <a:t>증가하는데 </a:t>
            </a:r>
            <a:r>
              <a:rPr lang="en-US" altLang="ko-KR" dirty="0"/>
              <a:t>SST</a:t>
            </a:r>
            <a:r>
              <a:rPr lang="ko-KR" altLang="en-US" dirty="0"/>
              <a:t>가 왜 상승하냐</a:t>
            </a:r>
            <a:r>
              <a:rPr lang="en-US" altLang="ko-KR" dirty="0"/>
              <a:t>&gt;</a:t>
            </a:r>
          </a:p>
          <a:p>
            <a:r>
              <a:rPr lang="en-US" altLang="ko-KR" dirty="0"/>
              <a:t>Sasaki and Umeda (2021) said that increased acceleration of the Kuroshio Current and increased ocean thermal advection cause an increase in SST along the Kuroshio path. If the transport volume of the Kuroshio Current increases, thermal advection by the Kuroshio also increases, which can lead to SST warming. And Sasaki and Umeda (2021) said that negative WSCs at low latitudes can cause an increase in Kuroshio speed.</a:t>
            </a:r>
            <a:endParaRPr lang="ko-KR" altLang="en-US" dirty="0"/>
          </a:p>
          <a:p>
            <a:endParaRPr lang="en-US" altLang="ko-KR" dirty="0"/>
          </a:p>
          <a:p>
            <a:r>
              <a:rPr lang="en-US" altLang="ko-KR" dirty="0"/>
              <a:t>If the warming of SST were caused by heating or convection, the mixed layer depth should increase, but there is little difference between the two groups. And, Sasaki and Umeda (2021) also said that advection caused by the increased speed of the Kuroshio Current led the SST warming. So, in this situation, I think that I can tell the influence of KC on TC intensity in ECS. </a:t>
            </a:r>
          </a:p>
        </p:txBody>
      </p:sp>
      <p:sp>
        <p:nvSpPr>
          <p:cNvPr id="4" name="슬라이드 번호 개체 틀 3">
            <a:extLst>
              <a:ext uri="{FF2B5EF4-FFF2-40B4-BE49-F238E27FC236}">
                <a16:creationId xmlns:a16="http://schemas.microsoft.com/office/drawing/2014/main" id="{A4890829-2911-E889-DD73-78B5F7D14EDA}"/>
              </a:ext>
            </a:extLst>
          </p:cNvPr>
          <p:cNvSpPr>
            <a:spLocks noGrp="1"/>
          </p:cNvSpPr>
          <p:nvPr>
            <p:ph type="sldNum" sz="quarter" idx="5"/>
          </p:nvPr>
        </p:nvSpPr>
        <p:spPr/>
        <p:txBody>
          <a:bodyPr/>
          <a:lstStyle/>
          <a:p>
            <a:fld id="{F3E414AB-0718-42D2-9019-CDEBB5DB8A6B}" type="slidenum">
              <a:rPr lang="ko-KR" altLang="en-US" smtClean="0"/>
              <a:t>13</a:t>
            </a:fld>
            <a:endParaRPr lang="ko-KR" altLang="en-US"/>
          </a:p>
        </p:txBody>
      </p:sp>
    </p:spTree>
    <p:extLst>
      <p:ext uri="{BB962C8B-B14F-4D97-AF65-F5344CB8AC3E}">
        <p14:creationId xmlns:p14="http://schemas.microsoft.com/office/powerpoint/2010/main" val="16636554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2D5A3-4675-A71B-A17B-1D41A8ACFF6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86AEBE4-EC6F-726A-FA03-E2DA978FB3D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35154E-EC9C-BDC1-7A4F-73D6790F0489}"/>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EF18BD66-59A0-1EDE-A4BB-B0E539C2C81D}"/>
              </a:ext>
            </a:extLst>
          </p:cNvPr>
          <p:cNvSpPr>
            <a:spLocks noGrp="1"/>
          </p:cNvSpPr>
          <p:nvPr>
            <p:ph type="sldNum" sz="quarter" idx="5"/>
          </p:nvPr>
        </p:nvSpPr>
        <p:spPr/>
        <p:txBody>
          <a:bodyPr/>
          <a:lstStyle/>
          <a:p>
            <a:fld id="{F3E414AB-0718-42D2-9019-CDEBB5DB8A6B}" type="slidenum">
              <a:rPr lang="ko-KR" altLang="en-US" smtClean="0"/>
              <a:t>14</a:t>
            </a:fld>
            <a:endParaRPr lang="ko-KR" altLang="en-US"/>
          </a:p>
        </p:txBody>
      </p:sp>
    </p:spTree>
    <p:extLst>
      <p:ext uri="{BB962C8B-B14F-4D97-AF65-F5344CB8AC3E}">
        <p14:creationId xmlns:p14="http://schemas.microsoft.com/office/powerpoint/2010/main" val="3566640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EF2B95-37D1-71DB-46B8-0DC3604DDEAA}"/>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6645D830-64FB-696C-BD6D-5986A94E2F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20940847-069D-19F9-9628-29FBD8A60E79}"/>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5" name="바닥글 개체 틀 4">
            <a:extLst>
              <a:ext uri="{FF2B5EF4-FFF2-40B4-BE49-F238E27FC236}">
                <a16:creationId xmlns:a16="http://schemas.microsoft.com/office/drawing/2014/main" id="{580B5755-6858-D275-6A6D-97135CD6BFE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4E4192B-105F-CD74-36AD-53027F7418CF}"/>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4000290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C15B14-8F36-A631-D7E2-2971F3587D3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727858F-9725-ED5A-991C-75C6FC4D1439}"/>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A880A75-94CF-46E1-C3AC-0888691E3483}"/>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5" name="바닥글 개체 틀 4">
            <a:extLst>
              <a:ext uri="{FF2B5EF4-FFF2-40B4-BE49-F238E27FC236}">
                <a16:creationId xmlns:a16="http://schemas.microsoft.com/office/drawing/2014/main" id="{F56CD480-815E-7A20-62BE-0A38AD802BD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9E4960F-AA08-6DC4-9BD4-ABE77F796B77}"/>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2613593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55BBBA-0505-02CB-8CF5-C581B8D43557}"/>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7ED6C2A5-093E-040A-69A1-E8594D076F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38B0331-5CC7-B155-5CBA-FFE323E86E5E}"/>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5" name="바닥글 개체 틀 4">
            <a:extLst>
              <a:ext uri="{FF2B5EF4-FFF2-40B4-BE49-F238E27FC236}">
                <a16:creationId xmlns:a16="http://schemas.microsoft.com/office/drawing/2014/main" id="{C7AF932E-BDAA-35D5-1FC9-4B16B4F0B34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EC7ED7E-18FC-3A28-7AB7-FC5A6D2DE575}"/>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2765632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F03B3B-EB9B-B744-483D-A2DAD54E122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E065FC-6461-1ABA-314E-67FFEB816EE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D10F11A9-50EC-5F7D-E20C-509A9E1C976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1DC4187C-30E5-F6BC-4414-FBE999424C0F}"/>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6" name="바닥글 개체 틀 5">
            <a:extLst>
              <a:ext uri="{FF2B5EF4-FFF2-40B4-BE49-F238E27FC236}">
                <a16:creationId xmlns:a16="http://schemas.microsoft.com/office/drawing/2014/main" id="{D0752F77-BC0F-CB24-3201-2E52A4890F9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1A9E1E-9FBC-4FDD-B247-E55D3628F212}"/>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2386122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2DDE9F-15E9-24B0-ECBF-F602E83C3DD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5A57D20-9E2B-AD6F-61EA-E5CF50296C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4472DB7-1A72-B284-BD4B-FCF8323D1EFA}"/>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F9932824-C4FA-FE08-7A77-6DF2E40936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0B8A131-EDF2-019F-BCBD-310AB3AD2F5D}"/>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FAE4635-B52D-57F2-9EBD-F2808671390B}"/>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8" name="바닥글 개체 틀 7">
            <a:extLst>
              <a:ext uri="{FF2B5EF4-FFF2-40B4-BE49-F238E27FC236}">
                <a16:creationId xmlns:a16="http://schemas.microsoft.com/office/drawing/2014/main" id="{BA751CBD-F7BC-C243-10E5-33C6C18450EF}"/>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9FCC842-9FCB-769F-FFB6-178C7F775B19}"/>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3529471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F36F565-DF4E-7BFD-0894-C85A4341F035}"/>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55E542E2-5941-E996-9BEA-475D80A866F0}"/>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4" name="바닥글 개체 틀 3">
            <a:extLst>
              <a:ext uri="{FF2B5EF4-FFF2-40B4-BE49-F238E27FC236}">
                <a16:creationId xmlns:a16="http://schemas.microsoft.com/office/drawing/2014/main" id="{95C5BA64-5B5A-920A-DD52-C8F3CB900BE3}"/>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2550618C-720D-255D-E0F5-3DE6CE33B9D2}"/>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3963200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FE283562-9118-0E0B-D7C8-B2701A623802}"/>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3" name="바닥글 개체 틀 2">
            <a:extLst>
              <a:ext uri="{FF2B5EF4-FFF2-40B4-BE49-F238E27FC236}">
                <a16:creationId xmlns:a16="http://schemas.microsoft.com/office/drawing/2014/main" id="{3E8D740E-6BE5-4E79-F973-00CB20E6487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9EECB0E9-3ED3-0EB4-763B-C58A833F1624}"/>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3372894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B63E94-7824-C713-8FAE-2617476AAA3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473CE5DF-B9F8-37BE-1C32-73A649C525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4236647-B88B-DA65-AB48-441526E15E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A69FAC93-6A22-F2D2-457E-A7BF334A48BC}"/>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6" name="바닥글 개체 틀 5">
            <a:extLst>
              <a:ext uri="{FF2B5EF4-FFF2-40B4-BE49-F238E27FC236}">
                <a16:creationId xmlns:a16="http://schemas.microsoft.com/office/drawing/2014/main" id="{AF3C5EAC-06FC-87C4-2D7D-270E25286B8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A3F7059-187A-F50A-7737-C9474209F750}"/>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2350160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813685-C12B-DB46-5142-3060A12C550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CD89558-CE3C-42A1-AC53-FDE3CB0B68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09590B1C-C7CE-F851-C76B-9B151499EE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6252C2BC-5F4C-8ED2-5F88-FAC57AD3DFE0}"/>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6" name="바닥글 개체 틀 5">
            <a:extLst>
              <a:ext uri="{FF2B5EF4-FFF2-40B4-BE49-F238E27FC236}">
                <a16:creationId xmlns:a16="http://schemas.microsoft.com/office/drawing/2014/main" id="{7A008707-DD50-49AB-1F8B-B4A5DED647E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52281BB-88C7-218C-563A-271E39A9998C}"/>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4114918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03D341-56B8-608E-EC21-7E742AA37ED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99E73ECF-AE06-0BFF-7FA9-6A9AE4B4043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A243AC4-64E1-505E-5EA4-C698E1ADD4A9}"/>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5" name="바닥글 개체 틀 4">
            <a:extLst>
              <a:ext uri="{FF2B5EF4-FFF2-40B4-BE49-F238E27FC236}">
                <a16:creationId xmlns:a16="http://schemas.microsoft.com/office/drawing/2014/main" id="{5463FF73-DBDC-6929-5230-A57336BBC86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9FA9220-02C5-C61B-DD20-800651113DD9}"/>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3392165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68E01E5D-F10A-273D-EC59-4AE50E6EA723}"/>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93CF1BD-4656-2258-1A11-9D4609A26B71}"/>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754FEA4-592E-533D-653D-E71A209CACB7}"/>
              </a:ext>
            </a:extLst>
          </p:cNvPr>
          <p:cNvSpPr>
            <a:spLocks noGrp="1"/>
          </p:cNvSpPr>
          <p:nvPr>
            <p:ph type="dt" sz="half" idx="10"/>
          </p:nvPr>
        </p:nvSpPr>
        <p:spPr/>
        <p:txBody>
          <a:bodyPr/>
          <a:lstStyle/>
          <a:p>
            <a:fld id="{5BE3A865-3FD1-4785-AA57-478889039552}" type="datetimeFigureOut">
              <a:rPr lang="ko-KR" altLang="en-US" smtClean="0"/>
              <a:t>2026. 6. 18.</a:t>
            </a:fld>
            <a:endParaRPr lang="ko-KR" altLang="en-US"/>
          </a:p>
        </p:txBody>
      </p:sp>
      <p:sp>
        <p:nvSpPr>
          <p:cNvPr id="5" name="바닥글 개체 틀 4">
            <a:extLst>
              <a:ext uri="{FF2B5EF4-FFF2-40B4-BE49-F238E27FC236}">
                <a16:creationId xmlns:a16="http://schemas.microsoft.com/office/drawing/2014/main" id="{DDBD860E-21AC-2AC1-5F5C-D706F18D3CD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E0A922B-04DE-EF78-C8D5-40D11103C4AC}"/>
              </a:ext>
            </a:extLst>
          </p:cNvPr>
          <p:cNvSpPr>
            <a:spLocks noGrp="1"/>
          </p:cNvSpPr>
          <p:nvPr>
            <p:ph type="sldNum" sz="quarter" idx="12"/>
          </p:nvPr>
        </p:nvSpPr>
        <p:spPr/>
        <p:txBody>
          <a:body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2881380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468FBC18-ED60-56C4-E818-87EAED0C6F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EE1CA3BB-2F60-34F0-4887-27F4B2AFE2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A86C7D0-1F2E-7389-B6B4-D1203C66DA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E3A865-3FD1-4785-AA57-478889039552}" type="datetimeFigureOut">
              <a:rPr lang="ko-KR" altLang="en-US" smtClean="0"/>
              <a:t>2026. 6. 18.</a:t>
            </a:fld>
            <a:endParaRPr lang="ko-KR" altLang="en-US"/>
          </a:p>
        </p:txBody>
      </p:sp>
      <p:sp>
        <p:nvSpPr>
          <p:cNvPr id="5" name="바닥글 개체 틀 4">
            <a:extLst>
              <a:ext uri="{FF2B5EF4-FFF2-40B4-BE49-F238E27FC236}">
                <a16:creationId xmlns:a16="http://schemas.microsoft.com/office/drawing/2014/main" id="{38FFF467-A92D-109C-E542-E9779456CB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FFDF9B8E-C5D4-76A5-7C8C-FD01CE8E1A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53BCC0-A704-4743-9AE4-33F6D9E2EBDF}" type="slidenum">
              <a:rPr lang="ko-KR" altLang="en-US" smtClean="0"/>
              <a:t>‹#›</a:t>
            </a:fld>
            <a:endParaRPr lang="ko-KR" altLang="en-US"/>
          </a:p>
        </p:txBody>
      </p:sp>
    </p:spTree>
    <p:extLst>
      <p:ext uri="{BB962C8B-B14F-4D97-AF65-F5344CB8AC3E}">
        <p14:creationId xmlns:p14="http://schemas.microsoft.com/office/powerpoint/2010/main" val="4155280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6.png"/><Relationship Id="rId7" Type="http://schemas.openxmlformats.org/officeDocument/2006/relationships/image" Target="../media/image31.pn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9.png"/><Relationship Id="rId5" Type="http://schemas.openxmlformats.org/officeDocument/2006/relationships/image" Target="../media/image29.png"/><Relationship Id="rId10" Type="http://schemas.openxmlformats.org/officeDocument/2006/relationships/image" Target="../media/image8.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CE0A15-0580-BACF-A241-549D4662B251}"/>
              </a:ext>
            </a:extLst>
          </p:cNvPr>
          <p:cNvSpPr>
            <a:spLocks noGrp="1"/>
          </p:cNvSpPr>
          <p:nvPr>
            <p:ph type="ctrTitle"/>
          </p:nvPr>
        </p:nvSpPr>
        <p:spPr/>
        <p:txBody>
          <a:bodyPr/>
          <a:lstStyle/>
          <a:p>
            <a:endParaRPr lang="ko-KR" altLang="en-US" dirty="0"/>
          </a:p>
        </p:txBody>
      </p:sp>
      <p:pic>
        <p:nvPicPr>
          <p:cNvPr id="5" name="그림 4">
            <a:extLst>
              <a:ext uri="{FF2B5EF4-FFF2-40B4-BE49-F238E27FC236}">
                <a16:creationId xmlns:a16="http://schemas.microsoft.com/office/drawing/2014/main" id="{8D11359A-9E4E-28DD-6A2B-C93070AAC5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1935" y="5606429"/>
            <a:ext cx="958082" cy="962425"/>
          </a:xfrm>
          <a:prstGeom prst="rect">
            <a:avLst/>
          </a:prstGeom>
        </p:spPr>
      </p:pic>
      <p:sp>
        <p:nvSpPr>
          <p:cNvPr id="6" name="직사각형 5">
            <a:extLst>
              <a:ext uri="{FF2B5EF4-FFF2-40B4-BE49-F238E27FC236}">
                <a16:creationId xmlns:a16="http://schemas.microsoft.com/office/drawing/2014/main" id="{53A501BB-8BD6-B158-4CC8-51F28F1D7CBF}"/>
              </a:ext>
            </a:extLst>
          </p:cNvPr>
          <p:cNvSpPr>
            <a:spLocks noGrp="1" noRot="1" noMove="1" noResize="1" noEditPoints="1" noAdjustHandles="1" noChangeArrowheads="1" noChangeShapeType="1"/>
          </p:cNvSpPr>
          <p:nvPr/>
        </p:nvSpPr>
        <p:spPr>
          <a:xfrm>
            <a:off x="-10048" y="-10048"/>
            <a:ext cx="12202048" cy="43408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0" name="그룹 9">
            <a:extLst>
              <a:ext uri="{FF2B5EF4-FFF2-40B4-BE49-F238E27FC236}">
                <a16:creationId xmlns:a16="http://schemas.microsoft.com/office/drawing/2014/main" id="{246EDB16-1973-85BE-038E-E30F184BD9F1}"/>
              </a:ext>
            </a:extLst>
          </p:cNvPr>
          <p:cNvGrpSpPr/>
          <p:nvPr/>
        </p:nvGrpSpPr>
        <p:grpSpPr>
          <a:xfrm>
            <a:off x="1967652" y="4597153"/>
            <a:ext cx="8246648" cy="742962"/>
            <a:chOff x="4069583" y="4904712"/>
            <a:chExt cx="4401177" cy="742962"/>
          </a:xfrm>
        </p:grpSpPr>
        <p:sp>
          <p:nvSpPr>
            <p:cNvPr id="8" name="TextBox 7">
              <a:extLst>
                <a:ext uri="{FF2B5EF4-FFF2-40B4-BE49-F238E27FC236}">
                  <a16:creationId xmlns:a16="http://schemas.microsoft.com/office/drawing/2014/main" id="{1F5B4D3D-3721-9813-31AC-86D93B76B465}"/>
                </a:ext>
              </a:extLst>
            </p:cNvPr>
            <p:cNvSpPr txBox="1"/>
            <p:nvPr/>
          </p:nvSpPr>
          <p:spPr>
            <a:xfrm>
              <a:off x="4069583" y="4904712"/>
              <a:ext cx="4401177" cy="369332"/>
            </a:xfrm>
            <a:prstGeom prst="rect">
              <a:avLst/>
            </a:prstGeom>
            <a:noFill/>
          </p:spPr>
          <p:txBody>
            <a:bodyPr wrap="square" rtlCol="0">
              <a:spAutoFit/>
            </a:bodyPr>
            <a:lstStyle/>
            <a:p>
              <a:pPr algn="ctr"/>
              <a:r>
                <a:rPr lang="en-US" altLang="ko-KR" dirty="0">
                  <a:latin typeface="Arial" panose="020B0604020202020204" pitchFamily="34" charset="0"/>
                  <a:ea typeface="나눔명조 ExtraBold" panose="02020603020101020101" pitchFamily="18" charset="-127"/>
                  <a:cs typeface="Arial" panose="020B0604020202020204" pitchFamily="34" charset="0"/>
                </a:rPr>
                <a:t>Dept. of Convergence Study on the Ocean Science and Technology</a:t>
              </a:r>
              <a:endParaRPr lang="ko-KR" altLang="en-US" dirty="0">
                <a:latin typeface="Arial" panose="020B0604020202020204" pitchFamily="34" charset="0"/>
                <a:ea typeface="나눔명조 ExtraBold" panose="02020603020101020101" pitchFamily="18" charset="-127"/>
                <a:cs typeface="Arial" panose="020B0604020202020204" pitchFamily="34" charset="0"/>
              </a:endParaRPr>
            </a:p>
          </p:txBody>
        </p:sp>
        <p:sp>
          <p:nvSpPr>
            <p:cNvPr id="9" name="TextBox 8">
              <a:extLst>
                <a:ext uri="{FF2B5EF4-FFF2-40B4-BE49-F238E27FC236}">
                  <a16:creationId xmlns:a16="http://schemas.microsoft.com/office/drawing/2014/main" id="{AE3D7762-B273-4C72-F839-CBC50EF23969}"/>
                </a:ext>
              </a:extLst>
            </p:cNvPr>
            <p:cNvSpPr txBox="1"/>
            <p:nvPr/>
          </p:nvSpPr>
          <p:spPr>
            <a:xfrm>
              <a:off x="5295480" y="5278342"/>
              <a:ext cx="1974505" cy="369332"/>
            </a:xfrm>
            <a:prstGeom prst="rect">
              <a:avLst/>
            </a:prstGeom>
            <a:noFill/>
          </p:spPr>
          <p:txBody>
            <a:bodyPr wrap="square" rtlCol="0">
              <a:spAutoFit/>
            </a:bodyPr>
            <a:lstStyle/>
            <a:p>
              <a:pPr algn="ctr"/>
              <a:r>
                <a:rPr lang="en-US" altLang="ko-KR" dirty="0" err="1">
                  <a:latin typeface="Arial" panose="020B0604020202020204" pitchFamily="34" charset="0"/>
                  <a:ea typeface="나눔명조 ExtraBold" panose="02020603020101020101" pitchFamily="18" charset="-127"/>
                  <a:cs typeface="Arial" panose="020B0604020202020204" pitchFamily="34" charset="0"/>
                </a:rPr>
                <a:t>Gunwoo</a:t>
              </a:r>
              <a:r>
                <a:rPr lang="en-US" altLang="ko-KR" dirty="0">
                  <a:latin typeface="Arial" panose="020B0604020202020204" pitchFamily="34" charset="0"/>
                  <a:ea typeface="나눔명조 ExtraBold" panose="02020603020101020101" pitchFamily="18" charset="-127"/>
                  <a:cs typeface="Arial" panose="020B0604020202020204" pitchFamily="34" charset="0"/>
                </a:rPr>
                <a:t> Do, Hyeong-</a:t>
              </a:r>
              <a:r>
                <a:rPr lang="en-US" altLang="ko-KR" dirty="0" err="1">
                  <a:latin typeface="Arial" panose="020B0604020202020204" pitchFamily="34" charset="0"/>
                  <a:ea typeface="나눔명조 ExtraBold" panose="02020603020101020101" pitchFamily="18" charset="-127"/>
                  <a:cs typeface="Arial" panose="020B0604020202020204" pitchFamily="34" charset="0"/>
                </a:rPr>
                <a:t>Seog</a:t>
              </a:r>
              <a:r>
                <a:rPr lang="ko-KR" altLang="en-US" dirty="0">
                  <a:latin typeface="Arial" panose="020B0604020202020204" pitchFamily="34" charset="0"/>
                  <a:ea typeface="나눔명조 ExtraBold" panose="02020603020101020101" pitchFamily="18" charset="-127"/>
                  <a:cs typeface="Arial" panose="020B0604020202020204" pitchFamily="34" charset="0"/>
                </a:rPr>
                <a:t> </a:t>
              </a:r>
              <a:r>
                <a:rPr lang="en-US" altLang="ko-KR" dirty="0">
                  <a:latin typeface="Arial" panose="020B0604020202020204" pitchFamily="34" charset="0"/>
                  <a:ea typeface="나눔명조 ExtraBold" panose="02020603020101020101" pitchFamily="18" charset="-127"/>
                  <a:cs typeface="Arial" panose="020B0604020202020204" pitchFamily="34" charset="0"/>
                </a:rPr>
                <a:t>Kim</a:t>
              </a:r>
              <a:endParaRPr lang="ko-KR" altLang="en-US" dirty="0">
                <a:latin typeface="Arial" panose="020B0604020202020204" pitchFamily="34" charset="0"/>
                <a:ea typeface="나눔명조 ExtraBold" panose="02020603020101020101" pitchFamily="18" charset="-127"/>
                <a:cs typeface="Arial" panose="020B0604020202020204" pitchFamily="34" charset="0"/>
              </a:endParaRPr>
            </a:p>
          </p:txBody>
        </p:sp>
      </p:grpSp>
      <p:sp>
        <p:nvSpPr>
          <p:cNvPr id="11" name="TextBox 10">
            <a:extLst>
              <a:ext uri="{FF2B5EF4-FFF2-40B4-BE49-F238E27FC236}">
                <a16:creationId xmlns:a16="http://schemas.microsoft.com/office/drawing/2014/main" id="{1BA142F8-E617-540E-FFBC-40103A260C34}"/>
              </a:ext>
            </a:extLst>
          </p:cNvPr>
          <p:cNvSpPr txBox="1"/>
          <p:nvPr/>
        </p:nvSpPr>
        <p:spPr>
          <a:xfrm>
            <a:off x="1524000" y="509606"/>
            <a:ext cx="9776029" cy="1846659"/>
          </a:xfrm>
          <a:prstGeom prst="rect">
            <a:avLst/>
          </a:prstGeom>
          <a:noFill/>
        </p:spPr>
        <p:txBody>
          <a:bodyPr wrap="square" rtlCol="0">
            <a:spAutoFit/>
          </a:bodyPr>
          <a:lstStyle/>
          <a:p>
            <a:r>
              <a:rPr lang="en-US" altLang="ko-KR" sz="3800" b="1" spc="300" dirty="0">
                <a:solidFill>
                  <a:schemeClr val="bg1"/>
                </a:solidFill>
                <a:latin typeface="Helvetica" pitchFamily="2" charset="0"/>
                <a:ea typeface="Calibri" panose="020F0502020204030204" pitchFamily="34" charset="0"/>
                <a:cs typeface="Calibri" panose="020F0502020204030204" pitchFamily="34" charset="0"/>
              </a:rPr>
              <a:t>Influence of Kuroshio Current Transport on Tropical Cyclone Intensity in the East China Sea </a:t>
            </a:r>
            <a:endParaRPr lang="ko-KR" altLang="en-US" sz="3800" b="1" spc="300" dirty="0">
              <a:solidFill>
                <a:schemeClr val="bg1"/>
              </a:solidFill>
              <a:latin typeface="Helvetica" pitchFamily="2" charset="0"/>
              <a:cs typeface="Calibri" panose="020F0502020204030204" pitchFamily="34" charset="0"/>
            </a:endParaRPr>
          </a:p>
        </p:txBody>
      </p:sp>
      <p:sp>
        <p:nvSpPr>
          <p:cNvPr id="3" name="직사각형 2">
            <a:extLst>
              <a:ext uri="{FF2B5EF4-FFF2-40B4-BE49-F238E27FC236}">
                <a16:creationId xmlns:a16="http://schemas.microsoft.com/office/drawing/2014/main" id="{03865681-59C1-81E0-8E43-1E22E8DCBE0B}"/>
              </a:ext>
            </a:extLst>
          </p:cNvPr>
          <p:cNvSpPr/>
          <p:nvPr/>
        </p:nvSpPr>
        <p:spPr>
          <a:xfrm>
            <a:off x="1311965" y="0"/>
            <a:ext cx="109331" cy="27531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20508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EFBBD254-5D58-5CF7-A573-3D612E4F621B}"/>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C9A2BE08-FDA1-5E1F-6585-00ED47A49734}"/>
              </a:ext>
            </a:extLst>
          </p:cNvPr>
          <p:cNvSpPr txBox="1"/>
          <p:nvPr/>
        </p:nvSpPr>
        <p:spPr>
          <a:xfrm>
            <a:off x="-1" y="43106"/>
            <a:ext cx="4592098"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1. Motivation</a:t>
            </a:r>
            <a:endParaRPr lang="ko-KR" altLang="en-US" sz="3200" b="1" dirty="0">
              <a:solidFill>
                <a:schemeClr val="bg1"/>
              </a:solidFill>
              <a:latin typeface="Arial" panose="020B0604020202020204" pitchFamily="34" charset="0"/>
              <a:cs typeface="Arial" panose="020B0604020202020204" pitchFamily="34" charset="0"/>
            </a:endParaRPr>
          </a:p>
        </p:txBody>
      </p:sp>
      <p:grpSp>
        <p:nvGrpSpPr>
          <p:cNvPr id="2" name="그룹 1">
            <a:extLst>
              <a:ext uri="{FF2B5EF4-FFF2-40B4-BE49-F238E27FC236}">
                <a16:creationId xmlns:a16="http://schemas.microsoft.com/office/drawing/2014/main" id="{FFD475E0-413C-13FF-EFD4-87780B555E50}"/>
              </a:ext>
            </a:extLst>
          </p:cNvPr>
          <p:cNvGrpSpPr/>
          <p:nvPr/>
        </p:nvGrpSpPr>
        <p:grpSpPr>
          <a:xfrm>
            <a:off x="377688" y="1058950"/>
            <a:ext cx="5262406" cy="5352529"/>
            <a:chOff x="4776154" y="651494"/>
            <a:chExt cx="3229421" cy="3870264"/>
          </a:xfrm>
        </p:grpSpPr>
        <p:pic>
          <p:nvPicPr>
            <p:cNvPr id="3" name="그림 2">
              <a:extLst>
                <a:ext uri="{FF2B5EF4-FFF2-40B4-BE49-F238E27FC236}">
                  <a16:creationId xmlns:a16="http://schemas.microsoft.com/office/drawing/2014/main" id="{0C29C1AD-02F8-FB89-6B5F-BD4795573C71}"/>
                </a:ext>
              </a:extLst>
            </p:cNvPr>
            <p:cNvPicPr>
              <a:picLocks noChangeAspect="1"/>
            </p:cNvPicPr>
            <p:nvPr/>
          </p:nvPicPr>
          <p:blipFill>
            <a:blip r:embed="rId3"/>
            <a:stretch>
              <a:fillRect/>
            </a:stretch>
          </p:blipFill>
          <p:spPr>
            <a:xfrm>
              <a:off x="4776154" y="1142999"/>
              <a:ext cx="3229421" cy="3378759"/>
            </a:xfrm>
            <a:prstGeom prst="rect">
              <a:avLst/>
            </a:prstGeom>
          </p:spPr>
        </p:pic>
        <p:pic>
          <p:nvPicPr>
            <p:cNvPr id="10" name="그림 9">
              <a:extLst>
                <a:ext uri="{FF2B5EF4-FFF2-40B4-BE49-F238E27FC236}">
                  <a16:creationId xmlns:a16="http://schemas.microsoft.com/office/drawing/2014/main" id="{F9A637E9-7FE1-7CCE-184E-781A932A459C}"/>
                </a:ext>
              </a:extLst>
            </p:cNvPr>
            <p:cNvPicPr>
              <a:picLocks noChangeAspect="1"/>
            </p:cNvPicPr>
            <p:nvPr/>
          </p:nvPicPr>
          <p:blipFill>
            <a:blip r:embed="rId4"/>
            <a:stretch>
              <a:fillRect/>
            </a:stretch>
          </p:blipFill>
          <p:spPr>
            <a:xfrm>
              <a:off x="4776154" y="651494"/>
              <a:ext cx="3229421" cy="491505"/>
            </a:xfrm>
            <a:prstGeom prst="rect">
              <a:avLst/>
            </a:prstGeom>
          </p:spPr>
        </p:pic>
      </p:grpSp>
      <p:grpSp>
        <p:nvGrpSpPr>
          <p:cNvPr id="52" name="그룹 51">
            <a:extLst>
              <a:ext uri="{FF2B5EF4-FFF2-40B4-BE49-F238E27FC236}">
                <a16:creationId xmlns:a16="http://schemas.microsoft.com/office/drawing/2014/main" id="{0FF2AB0D-EBF1-541A-4480-EA3D26FDBFF0}"/>
              </a:ext>
            </a:extLst>
          </p:cNvPr>
          <p:cNvGrpSpPr/>
          <p:nvPr/>
        </p:nvGrpSpPr>
        <p:grpSpPr>
          <a:xfrm>
            <a:off x="6126581" y="1058950"/>
            <a:ext cx="5588835" cy="5352529"/>
            <a:chOff x="5927570" y="1109750"/>
            <a:chExt cx="5588835" cy="5352529"/>
          </a:xfrm>
        </p:grpSpPr>
        <p:grpSp>
          <p:nvGrpSpPr>
            <p:cNvPr id="48" name="그룹 47">
              <a:extLst>
                <a:ext uri="{FF2B5EF4-FFF2-40B4-BE49-F238E27FC236}">
                  <a16:creationId xmlns:a16="http://schemas.microsoft.com/office/drawing/2014/main" id="{C195CB40-A8B6-1C89-D29A-7CD754831583}"/>
                </a:ext>
              </a:extLst>
            </p:cNvPr>
            <p:cNvGrpSpPr/>
            <p:nvPr/>
          </p:nvGrpSpPr>
          <p:grpSpPr>
            <a:xfrm>
              <a:off x="5927570" y="1109750"/>
              <a:ext cx="5567624" cy="1158543"/>
              <a:chOff x="5927570" y="1109750"/>
              <a:chExt cx="5567624" cy="1158543"/>
            </a:xfrm>
          </p:grpSpPr>
          <p:sp>
            <p:nvSpPr>
              <p:cNvPr id="24" name="Shape 4">
                <a:extLst>
                  <a:ext uri="{FF2B5EF4-FFF2-40B4-BE49-F238E27FC236}">
                    <a16:creationId xmlns:a16="http://schemas.microsoft.com/office/drawing/2014/main" id="{91B6FCE5-2779-FFA1-B1D3-65A0F43DCC8E}"/>
                  </a:ext>
                </a:extLst>
              </p:cNvPr>
              <p:cNvSpPr/>
              <p:nvPr/>
            </p:nvSpPr>
            <p:spPr>
              <a:xfrm>
                <a:off x="5927570" y="1109750"/>
                <a:ext cx="5567624" cy="1158543"/>
              </a:xfrm>
              <a:prstGeom prst="rect">
                <a:avLst/>
              </a:prstGeom>
              <a:solidFill>
                <a:srgbClr val="0077B6"/>
              </a:solidFill>
              <a:ln/>
              <a:effectLst>
                <a:outerShdw blurRad="50800" dist="12700" dir="8100000" algn="bl" rotWithShape="0">
                  <a:srgbClr val="000000">
                    <a:alpha val="6000"/>
                  </a:srgbClr>
                </a:outerShdw>
              </a:effectLst>
            </p:spPr>
            <p:txBody>
              <a:bodyPr/>
              <a:lstStyle/>
              <a:p>
                <a:endParaRPr lang="ko-KR" altLang="en-US"/>
              </a:p>
            </p:txBody>
          </p:sp>
          <p:sp>
            <p:nvSpPr>
              <p:cNvPr id="25" name="Text 5">
                <a:extLst>
                  <a:ext uri="{FF2B5EF4-FFF2-40B4-BE49-F238E27FC236}">
                    <a16:creationId xmlns:a16="http://schemas.microsoft.com/office/drawing/2014/main" id="{CB8A01AA-FB32-FC99-6A7F-7EEFB6B9332E}"/>
                  </a:ext>
                </a:extLst>
              </p:cNvPr>
              <p:cNvSpPr/>
              <p:nvPr/>
            </p:nvSpPr>
            <p:spPr>
              <a:xfrm>
                <a:off x="6136684" y="1204605"/>
                <a:ext cx="2569673" cy="683240"/>
              </a:xfrm>
              <a:prstGeom prst="rect">
                <a:avLst/>
              </a:prstGeom>
              <a:noFill/>
              <a:ln/>
            </p:spPr>
            <p:txBody>
              <a:bodyPr wrap="square" lIns="0" tIns="0" rIns="0" bIns="0" rtlCol="0" anchor="ctr"/>
              <a:lstStyle/>
              <a:p>
                <a:pPr marL="0" indent="0">
                  <a:buNone/>
                </a:pPr>
                <a:r>
                  <a:rPr lang="en-US" sz="3500" b="1" dirty="0">
                    <a:solidFill>
                      <a:srgbClr val="FFFFFF"/>
                    </a:solidFill>
                    <a:latin typeface="Arial" panose="020B0604020202020204" pitchFamily="34" charset="0"/>
                    <a:cs typeface="Arial" panose="020B0604020202020204" pitchFamily="34" charset="0"/>
                  </a:rPr>
                  <a:t>83</a:t>
                </a:r>
                <a:endParaRPr lang="en-US" sz="3500" dirty="0">
                  <a:latin typeface="Arial" panose="020B0604020202020204" pitchFamily="34" charset="0"/>
                  <a:cs typeface="Arial" panose="020B0604020202020204" pitchFamily="34" charset="0"/>
                </a:endParaRPr>
              </a:p>
            </p:txBody>
          </p:sp>
          <p:sp>
            <p:nvSpPr>
              <p:cNvPr id="26" name="Text 6">
                <a:extLst>
                  <a:ext uri="{FF2B5EF4-FFF2-40B4-BE49-F238E27FC236}">
                    <a16:creationId xmlns:a16="http://schemas.microsoft.com/office/drawing/2014/main" id="{4068FC03-39BE-5A35-AB1E-D2A9E37E485E}"/>
                  </a:ext>
                </a:extLst>
              </p:cNvPr>
              <p:cNvSpPr/>
              <p:nvPr/>
            </p:nvSpPr>
            <p:spPr>
              <a:xfrm>
                <a:off x="6136684" y="1849927"/>
                <a:ext cx="2569673" cy="341620"/>
              </a:xfrm>
              <a:prstGeom prst="rect">
                <a:avLst/>
              </a:prstGeom>
              <a:noFill/>
              <a:ln/>
            </p:spPr>
            <p:txBody>
              <a:bodyPr wrap="square" lIns="0" tIns="0" rIns="0" bIns="0" rtlCol="0" anchor="ctr"/>
              <a:lstStyle/>
              <a:p>
                <a:pPr marL="0" indent="0">
                  <a:buNone/>
                </a:pPr>
                <a:r>
                  <a:rPr lang="en-US" sz="1500" dirty="0">
                    <a:solidFill>
                      <a:srgbClr val="FFFFFF"/>
                    </a:solidFill>
                    <a:latin typeface="Arial" panose="020B0604020202020204" pitchFamily="34" charset="0"/>
                    <a:ea typeface="Calibri Light" pitchFamily="34" charset="-122"/>
                    <a:cs typeface="Arial" panose="020B0604020202020204" pitchFamily="34" charset="0"/>
                  </a:rPr>
                  <a:t>km/decade</a:t>
                </a:r>
              </a:p>
            </p:txBody>
          </p:sp>
          <p:sp>
            <p:nvSpPr>
              <p:cNvPr id="27" name="Text 7">
                <a:extLst>
                  <a:ext uri="{FF2B5EF4-FFF2-40B4-BE49-F238E27FC236}">
                    <a16:creationId xmlns:a16="http://schemas.microsoft.com/office/drawing/2014/main" id="{685FBBE0-41F8-C312-98D2-CA8C156D52A7}"/>
                  </a:ext>
                </a:extLst>
              </p:cNvPr>
              <p:cNvSpPr/>
              <p:nvPr/>
            </p:nvSpPr>
            <p:spPr>
              <a:xfrm>
                <a:off x="8453121" y="1205059"/>
                <a:ext cx="2732494" cy="967924"/>
              </a:xfrm>
              <a:prstGeom prst="rect">
                <a:avLst/>
              </a:prstGeom>
              <a:noFill/>
              <a:ln/>
            </p:spPr>
            <p:txBody>
              <a:bodyPr wrap="square" lIns="0" tIns="0" rIns="0" bIns="0" rtlCol="0" anchor="ctr"/>
              <a:lstStyle/>
              <a:p>
                <a:pPr marL="0" indent="0" algn="r">
                  <a:buNone/>
                </a:pPr>
                <a:r>
                  <a:rPr lang="en-US" sz="1400" dirty="0">
                    <a:solidFill>
                      <a:srgbClr val="FFFFFF"/>
                    </a:solidFill>
                    <a:latin typeface="Arial" panose="020B0604020202020204" pitchFamily="34" charset="0"/>
                    <a:ea typeface="Calibri Light" pitchFamily="34" charset="-122"/>
                    <a:cs typeface="Arial" panose="020B0604020202020204" pitchFamily="34" charset="0"/>
                  </a:rPr>
                  <a:t>LMI poleward migration rate</a:t>
                </a:r>
              </a:p>
              <a:p>
                <a:pPr marL="0" indent="0" algn="r">
                  <a:buNone/>
                </a:pPr>
                <a:r>
                  <a:rPr lang="en-US" sz="1400" dirty="0">
                    <a:solidFill>
                      <a:srgbClr val="FFFFFF"/>
                    </a:solidFill>
                    <a:latin typeface="Arial" panose="020B0604020202020204" pitchFamily="34" charset="0"/>
                    <a:ea typeface="Calibri Light" pitchFamily="34" charset="-122"/>
                    <a:cs typeface="Arial" panose="020B0604020202020204" pitchFamily="34" charset="0"/>
                  </a:rPr>
                  <a:t>(NHEM)</a:t>
                </a:r>
                <a:endParaRPr lang="en-US" sz="1400" dirty="0">
                  <a:latin typeface="Arial" panose="020B0604020202020204" pitchFamily="34" charset="0"/>
                  <a:cs typeface="Arial" panose="020B0604020202020204" pitchFamily="34" charset="0"/>
                </a:endParaRPr>
              </a:p>
              <a:p>
                <a:pPr marL="0" indent="0" algn="r">
                  <a:buNone/>
                </a:pPr>
                <a:r>
                  <a:rPr lang="en-US" sz="1400" dirty="0">
                    <a:solidFill>
                      <a:srgbClr val="FFFFFF"/>
                    </a:solidFill>
                    <a:latin typeface="Arial" panose="020B0604020202020204" pitchFamily="34" charset="0"/>
                    <a:ea typeface="Calibri Light" pitchFamily="34" charset="-122"/>
                    <a:cs typeface="Arial" panose="020B0604020202020204" pitchFamily="34" charset="0"/>
                  </a:rPr>
                  <a:t>(Kossin et al., 2014)</a:t>
                </a:r>
                <a:endParaRPr lang="en-US" sz="1400" dirty="0">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B5B2006A-39CB-6EFA-9D68-2BE5ABA3E7DF}"/>
                </a:ext>
              </a:extLst>
            </p:cNvPr>
            <p:cNvGrpSpPr/>
            <p:nvPr/>
          </p:nvGrpSpPr>
          <p:grpSpPr>
            <a:xfrm>
              <a:off x="5927570" y="2553769"/>
              <a:ext cx="5567624" cy="1112519"/>
              <a:chOff x="5927570" y="2507767"/>
              <a:chExt cx="5567624" cy="1112519"/>
            </a:xfrm>
          </p:grpSpPr>
          <p:sp>
            <p:nvSpPr>
              <p:cNvPr id="36" name="Shape 4">
                <a:extLst>
                  <a:ext uri="{FF2B5EF4-FFF2-40B4-BE49-F238E27FC236}">
                    <a16:creationId xmlns:a16="http://schemas.microsoft.com/office/drawing/2014/main" id="{ACACE404-534A-D4AD-D72A-314BD632EBA1}"/>
                  </a:ext>
                </a:extLst>
              </p:cNvPr>
              <p:cNvSpPr/>
              <p:nvPr/>
            </p:nvSpPr>
            <p:spPr>
              <a:xfrm>
                <a:off x="5927570" y="2507767"/>
                <a:ext cx="5567624" cy="1112519"/>
              </a:xfrm>
              <a:prstGeom prst="rect">
                <a:avLst/>
              </a:prstGeom>
              <a:solidFill>
                <a:srgbClr val="0077B6"/>
              </a:solidFill>
              <a:ln/>
              <a:effectLst>
                <a:outerShdw blurRad="50800" dist="12700" dir="8100000" algn="bl" rotWithShape="0">
                  <a:srgbClr val="000000">
                    <a:alpha val="6000"/>
                  </a:srgbClr>
                </a:outerShdw>
              </a:effectLst>
            </p:spPr>
            <p:txBody>
              <a:bodyPr/>
              <a:lstStyle/>
              <a:p>
                <a:endParaRPr lang="ko-KR" altLang="en-US"/>
              </a:p>
            </p:txBody>
          </p:sp>
          <p:sp>
            <p:nvSpPr>
              <p:cNvPr id="38" name="Text 9">
                <a:extLst>
                  <a:ext uri="{FF2B5EF4-FFF2-40B4-BE49-F238E27FC236}">
                    <a16:creationId xmlns:a16="http://schemas.microsoft.com/office/drawing/2014/main" id="{47D202FC-4BFF-319C-0148-7E391846B2C5}"/>
                  </a:ext>
                </a:extLst>
              </p:cNvPr>
              <p:cNvSpPr/>
              <p:nvPr/>
            </p:nvSpPr>
            <p:spPr>
              <a:xfrm>
                <a:off x="6136684" y="2653104"/>
                <a:ext cx="1287780" cy="548640"/>
              </a:xfrm>
              <a:prstGeom prst="rect">
                <a:avLst/>
              </a:prstGeom>
              <a:noFill/>
              <a:ln/>
            </p:spPr>
            <p:txBody>
              <a:bodyPr wrap="square" lIns="0" tIns="0" rIns="0" bIns="0" rtlCol="0" anchor="ctr"/>
              <a:lstStyle/>
              <a:p>
                <a:pPr marL="0" indent="0">
                  <a:buNone/>
                </a:pPr>
                <a:r>
                  <a:rPr lang="en-US" sz="3500" b="1" dirty="0">
                    <a:solidFill>
                      <a:srgbClr val="FFFFFF"/>
                    </a:solidFill>
                    <a:latin typeface="Arial" panose="020B0604020202020204" pitchFamily="34" charset="0"/>
                    <a:cs typeface="Arial" panose="020B0604020202020204" pitchFamily="34" charset="0"/>
                  </a:rPr>
                  <a:t>$1.5B</a:t>
                </a:r>
              </a:p>
            </p:txBody>
          </p:sp>
          <p:sp>
            <p:nvSpPr>
              <p:cNvPr id="39" name="Text 10">
                <a:extLst>
                  <a:ext uri="{FF2B5EF4-FFF2-40B4-BE49-F238E27FC236}">
                    <a16:creationId xmlns:a16="http://schemas.microsoft.com/office/drawing/2014/main" id="{B66AAB29-24FF-0D4C-7390-ADFEE703BE75}"/>
                  </a:ext>
                </a:extLst>
              </p:cNvPr>
              <p:cNvSpPr/>
              <p:nvPr/>
            </p:nvSpPr>
            <p:spPr>
              <a:xfrm>
                <a:off x="6136684" y="3249507"/>
                <a:ext cx="1645920" cy="274320"/>
              </a:xfrm>
              <a:prstGeom prst="rect">
                <a:avLst/>
              </a:prstGeom>
              <a:noFill/>
              <a:ln/>
            </p:spPr>
            <p:txBody>
              <a:bodyPr wrap="square" lIns="0" tIns="0" rIns="0" bIns="0" rtlCol="0" anchor="ctr"/>
              <a:lstStyle/>
              <a:p>
                <a:r>
                  <a:rPr lang="en-US" sz="1500" dirty="0">
                    <a:solidFill>
                      <a:srgbClr val="FFFFFF"/>
                    </a:solidFill>
                    <a:latin typeface="Arial" panose="020B0604020202020204" pitchFamily="34" charset="0"/>
                    <a:ea typeface="Calibri Light" pitchFamily="34" charset="-122"/>
                    <a:cs typeface="Arial" panose="020B0604020202020204" pitchFamily="34" charset="0"/>
                  </a:rPr>
                  <a:t>USD loss</a:t>
                </a:r>
              </a:p>
            </p:txBody>
          </p:sp>
          <p:sp>
            <p:nvSpPr>
              <p:cNvPr id="40" name="Text 11">
                <a:extLst>
                  <a:ext uri="{FF2B5EF4-FFF2-40B4-BE49-F238E27FC236}">
                    <a16:creationId xmlns:a16="http://schemas.microsoft.com/office/drawing/2014/main" id="{B1B77357-517F-9C3D-F604-47B22EA29C37}"/>
                  </a:ext>
                </a:extLst>
              </p:cNvPr>
              <p:cNvSpPr/>
              <p:nvPr/>
            </p:nvSpPr>
            <p:spPr>
              <a:xfrm>
                <a:off x="8373835" y="2675406"/>
                <a:ext cx="2811780" cy="777240"/>
              </a:xfrm>
              <a:prstGeom prst="rect">
                <a:avLst/>
              </a:prstGeom>
              <a:noFill/>
              <a:ln/>
            </p:spPr>
            <p:txBody>
              <a:bodyPr wrap="square" lIns="0" tIns="0" rIns="0" bIns="0" rtlCol="0" anchor="ctr"/>
              <a:lstStyle/>
              <a:p>
                <a:pPr marL="0" indent="0" algn="r">
                  <a:buNone/>
                </a:pPr>
                <a:r>
                  <a:rPr lang="en-US" sz="1400" dirty="0">
                    <a:solidFill>
                      <a:srgbClr val="FFFFFF"/>
                    </a:solidFill>
                    <a:latin typeface="Arial" panose="020B0604020202020204" pitchFamily="34" charset="0"/>
                    <a:ea typeface="Calibri Light" pitchFamily="34" charset="-122"/>
                    <a:cs typeface="Arial" panose="020B0604020202020204" pitchFamily="34" charset="0"/>
                  </a:rPr>
                  <a:t>Typhoon Hinnamnor (2022)</a:t>
                </a:r>
              </a:p>
              <a:p>
                <a:pPr marL="0" indent="0" algn="r">
                  <a:buNone/>
                </a:pPr>
                <a:r>
                  <a:rPr lang="en-US" sz="1400" dirty="0">
                    <a:solidFill>
                      <a:srgbClr val="FFFFFF"/>
                    </a:solidFill>
                    <a:latin typeface="Arial" panose="020B0604020202020204" pitchFamily="34" charset="0"/>
                    <a:ea typeface="Calibri Light" pitchFamily="34" charset="-122"/>
                    <a:cs typeface="Arial" panose="020B0604020202020204" pitchFamily="34" charset="0"/>
                  </a:rPr>
                  <a:t>POSCO Pohang steel mill flooded</a:t>
                </a:r>
              </a:p>
            </p:txBody>
          </p:sp>
        </p:grpSp>
        <p:grpSp>
          <p:nvGrpSpPr>
            <p:cNvPr id="50" name="그룹 49">
              <a:extLst>
                <a:ext uri="{FF2B5EF4-FFF2-40B4-BE49-F238E27FC236}">
                  <a16:creationId xmlns:a16="http://schemas.microsoft.com/office/drawing/2014/main" id="{C059CD75-5E28-04A2-1CBB-657EC09269D3}"/>
                </a:ext>
              </a:extLst>
            </p:cNvPr>
            <p:cNvGrpSpPr/>
            <p:nvPr/>
          </p:nvGrpSpPr>
          <p:grpSpPr>
            <a:xfrm>
              <a:off x="5927570" y="3951764"/>
              <a:ext cx="5567624" cy="1112520"/>
              <a:chOff x="5927570" y="3980144"/>
              <a:chExt cx="5567624" cy="1112520"/>
            </a:xfrm>
          </p:grpSpPr>
          <p:sp>
            <p:nvSpPr>
              <p:cNvPr id="37" name="Shape 4">
                <a:extLst>
                  <a:ext uri="{FF2B5EF4-FFF2-40B4-BE49-F238E27FC236}">
                    <a16:creationId xmlns:a16="http://schemas.microsoft.com/office/drawing/2014/main" id="{81629134-E00A-62BD-B95E-198256C67A0A}"/>
                  </a:ext>
                </a:extLst>
              </p:cNvPr>
              <p:cNvSpPr/>
              <p:nvPr/>
            </p:nvSpPr>
            <p:spPr>
              <a:xfrm>
                <a:off x="5927570" y="3980144"/>
                <a:ext cx="5567624" cy="1112520"/>
              </a:xfrm>
              <a:prstGeom prst="rect">
                <a:avLst/>
              </a:prstGeom>
              <a:solidFill>
                <a:srgbClr val="0077B6"/>
              </a:solidFill>
              <a:ln/>
              <a:effectLst>
                <a:outerShdw blurRad="50800" dist="12700" dir="8100000" algn="bl" rotWithShape="0">
                  <a:srgbClr val="000000">
                    <a:alpha val="6000"/>
                  </a:srgbClr>
                </a:outerShdw>
              </a:effectLst>
            </p:spPr>
            <p:txBody>
              <a:bodyPr/>
              <a:lstStyle/>
              <a:p>
                <a:endParaRPr lang="ko-KR" altLang="en-US"/>
              </a:p>
            </p:txBody>
          </p:sp>
          <p:sp>
            <p:nvSpPr>
              <p:cNvPr id="41" name="Text 13">
                <a:extLst>
                  <a:ext uri="{FF2B5EF4-FFF2-40B4-BE49-F238E27FC236}">
                    <a16:creationId xmlns:a16="http://schemas.microsoft.com/office/drawing/2014/main" id="{E87C7D78-EEE4-34E1-580A-B81215C173DC}"/>
                  </a:ext>
                </a:extLst>
              </p:cNvPr>
              <p:cNvSpPr/>
              <p:nvPr/>
            </p:nvSpPr>
            <p:spPr>
              <a:xfrm>
                <a:off x="6136684" y="4087707"/>
                <a:ext cx="1645920" cy="548640"/>
              </a:xfrm>
              <a:prstGeom prst="rect">
                <a:avLst/>
              </a:prstGeom>
              <a:noFill/>
              <a:ln/>
            </p:spPr>
            <p:txBody>
              <a:bodyPr wrap="square" lIns="0" tIns="0" rIns="0" bIns="0" rtlCol="0" anchor="ctr"/>
              <a:lstStyle/>
              <a:p>
                <a:pPr marL="0" indent="0">
                  <a:buNone/>
                </a:pPr>
                <a:r>
                  <a:rPr lang="en-US" sz="3500" b="1" dirty="0">
                    <a:solidFill>
                      <a:srgbClr val="FFFFFF"/>
                    </a:solidFill>
                    <a:latin typeface="Arial" panose="020B0604020202020204" pitchFamily="34" charset="0"/>
                    <a:cs typeface="Arial" panose="020B0604020202020204" pitchFamily="34" charset="0"/>
                  </a:rPr>
                  <a:t>19.7</a:t>
                </a:r>
              </a:p>
            </p:txBody>
          </p:sp>
          <p:sp>
            <p:nvSpPr>
              <p:cNvPr id="42" name="Text 14">
                <a:extLst>
                  <a:ext uri="{FF2B5EF4-FFF2-40B4-BE49-F238E27FC236}">
                    <a16:creationId xmlns:a16="http://schemas.microsoft.com/office/drawing/2014/main" id="{23F0981A-FF78-C613-6FCA-AE51A532784C}"/>
                  </a:ext>
                </a:extLst>
              </p:cNvPr>
              <p:cNvSpPr/>
              <p:nvPr/>
            </p:nvSpPr>
            <p:spPr>
              <a:xfrm>
                <a:off x="6136684" y="4693556"/>
                <a:ext cx="1645920" cy="274320"/>
              </a:xfrm>
              <a:prstGeom prst="rect">
                <a:avLst/>
              </a:prstGeom>
              <a:noFill/>
              <a:ln/>
            </p:spPr>
            <p:txBody>
              <a:bodyPr wrap="square" lIns="0" tIns="0" rIns="0" bIns="0" rtlCol="0" anchor="ctr"/>
              <a:lstStyle/>
              <a:p>
                <a:r>
                  <a:rPr lang="en-US" sz="1500" dirty="0">
                    <a:solidFill>
                      <a:srgbClr val="FFFFFF"/>
                    </a:solidFill>
                    <a:latin typeface="Arial" panose="020B0604020202020204" pitchFamily="34" charset="0"/>
                    <a:ea typeface="Calibri Light" pitchFamily="34" charset="-122"/>
                    <a:cs typeface="Arial" panose="020B0604020202020204" pitchFamily="34" charset="0"/>
                  </a:rPr>
                  <a:t>km/yr</a:t>
                </a:r>
              </a:p>
            </p:txBody>
          </p:sp>
          <p:sp>
            <p:nvSpPr>
              <p:cNvPr id="43" name="Text 15">
                <a:extLst>
                  <a:ext uri="{FF2B5EF4-FFF2-40B4-BE49-F238E27FC236}">
                    <a16:creationId xmlns:a16="http://schemas.microsoft.com/office/drawing/2014/main" id="{6DA3814F-6F23-CD15-43D3-153ECFABA613}"/>
                  </a:ext>
                </a:extLst>
              </p:cNvPr>
              <p:cNvSpPr/>
              <p:nvPr/>
            </p:nvSpPr>
            <p:spPr>
              <a:xfrm>
                <a:off x="8290303" y="4147784"/>
                <a:ext cx="2895312" cy="777240"/>
              </a:xfrm>
              <a:prstGeom prst="rect">
                <a:avLst/>
              </a:prstGeom>
              <a:noFill/>
              <a:ln/>
            </p:spPr>
            <p:txBody>
              <a:bodyPr wrap="square" lIns="0" tIns="0" rIns="0" bIns="0" rtlCol="0" anchor="ctr"/>
              <a:lstStyle/>
              <a:p>
                <a:pPr marL="0" indent="0" algn="r">
                  <a:buNone/>
                </a:pPr>
                <a:r>
                  <a:rPr lang="en-US" sz="1400" dirty="0">
                    <a:solidFill>
                      <a:srgbClr val="FFFFFF"/>
                    </a:solidFill>
                    <a:latin typeface="Arial" panose="020B0604020202020204" pitchFamily="34" charset="0"/>
                    <a:ea typeface="Calibri Light" pitchFamily="34" charset="-122"/>
                    <a:cs typeface="Arial" panose="020B0604020202020204" pitchFamily="34" charset="0"/>
                  </a:rPr>
                  <a:t>Tropical Cyclone (TC) exposure shift northward in China (2006-2020)</a:t>
                </a:r>
              </a:p>
              <a:p>
                <a:pPr marL="0" indent="0" algn="r">
                  <a:buNone/>
                </a:pPr>
                <a:r>
                  <a:rPr lang="en-US" sz="1400" dirty="0">
                    <a:solidFill>
                      <a:srgbClr val="FFFFFF"/>
                    </a:solidFill>
                    <a:latin typeface="Arial" panose="020B0604020202020204" pitchFamily="34" charset="0"/>
                    <a:ea typeface="Calibri Light" pitchFamily="34" charset="-122"/>
                    <a:cs typeface="Arial" panose="020B0604020202020204" pitchFamily="34" charset="0"/>
                  </a:rPr>
                  <a:t>(Qin et al., 2024)</a:t>
                </a:r>
              </a:p>
            </p:txBody>
          </p:sp>
        </p:grpSp>
        <p:grpSp>
          <p:nvGrpSpPr>
            <p:cNvPr id="51" name="그룹 50">
              <a:extLst>
                <a:ext uri="{FF2B5EF4-FFF2-40B4-BE49-F238E27FC236}">
                  <a16:creationId xmlns:a16="http://schemas.microsoft.com/office/drawing/2014/main" id="{04B51107-1AE2-6AF0-311E-0239D914A8E9}"/>
                </a:ext>
              </a:extLst>
            </p:cNvPr>
            <p:cNvGrpSpPr/>
            <p:nvPr/>
          </p:nvGrpSpPr>
          <p:grpSpPr>
            <a:xfrm>
              <a:off x="5948781" y="5349760"/>
              <a:ext cx="5567624" cy="1112519"/>
              <a:chOff x="5948781" y="5349760"/>
              <a:chExt cx="5567624" cy="1112519"/>
            </a:xfrm>
          </p:grpSpPr>
          <p:sp>
            <p:nvSpPr>
              <p:cNvPr id="44" name="Shape 4">
                <a:extLst>
                  <a:ext uri="{FF2B5EF4-FFF2-40B4-BE49-F238E27FC236}">
                    <a16:creationId xmlns:a16="http://schemas.microsoft.com/office/drawing/2014/main" id="{F3BB8066-1425-4078-97E3-28F74D43AB48}"/>
                  </a:ext>
                </a:extLst>
              </p:cNvPr>
              <p:cNvSpPr/>
              <p:nvPr/>
            </p:nvSpPr>
            <p:spPr>
              <a:xfrm>
                <a:off x="5948781" y="5349760"/>
                <a:ext cx="5567624" cy="1112519"/>
              </a:xfrm>
              <a:prstGeom prst="rect">
                <a:avLst/>
              </a:prstGeom>
              <a:solidFill>
                <a:srgbClr val="0077B6"/>
              </a:solidFill>
              <a:ln/>
              <a:effectLst>
                <a:outerShdw blurRad="50800" dist="12700" dir="8100000" algn="bl" rotWithShape="0">
                  <a:srgbClr val="000000">
                    <a:alpha val="6000"/>
                  </a:srgbClr>
                </a:outerShdw>
              </a:effectLst>
            </p:spPr>
            <p:txBody>
              <a:bodyPr/>
              <a:lstStyle/>
              <a:p>
                <a:endParaRPr lang="ko-KR" altLang="en-US" dirty="0"/>
              </a:p>
            </p:txBody>
          </p:sp>
          <p:sp>
            <p:nvSpPr>
              <p:cNvPr id="45" name="Text 13">
                <a:extLst>
                  <a:ext uri="{FF2B5EF4-FFF2-40B4-BE49-F238E27FC236}">
                    <a16:creationId xmlns:a16="http://schemas.microsoft.com/office/drawing/2014/main" id="{3131E772-ECB3-ADE3-9F23-3AF6C2E30A4D}"/>
                  </a:ext>
                </a:extLst>
              </p:cNvPr>
              <p:cNvSpPr/>
              <p:nvPr/>
            </p:nvSpPr>
            <p:spPr>
              <a:xfrm>
                <a:off x="6136684" y="5611706"/>
                <a:ext cx="1822829"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anose="020B0604020202020204" pitchFamily="34" charset="0"/>
                    <a:cs typeface="Arial" panose="020B0604020202020204" pitchFamily="34" charset="0"/>
                  </a:rPr>
                  <a:t>IPCC </a:t>
                </a:r>
                <a:r>
                  <a:rPr lang="en-US" sz="2800" b="1" dirty="0" err="1">
                    <a:solidFill>
                      <a:srgbClr val="FFFFFF"/>
                    </a:solidFill>
                    <a:latin typeface="Arial" panose="020B0604020202020204" pitchFamily="34" charset="0"/>
                    <a:cs typeface="Arial" panose="020B0604020202020204" pitchFamily="34" charset="0"/>
                  </a:rPr>
                  <a:t>AR6</a:t>
                </a:r>
                <a:endParaRPr lang="en-US" sz="2800" b="1" dirty="0">
                  <a:solidFill>
                    <a:srgbClr val="FFFFFF"/>
                  </a:solidFill>
                  <a:latin typeface="Arial" panose="020B0604020202020204" pitchFamily="34" charset="0"/>
                  <a:cs typeface="Arial" panose="020B0604020202020204" pitchFamily="34" charset="0"/>
                </a:endParaRPr>
              </a:p>
            </p:txBody>
          </p:sp>
          <p:sp>
            <p:nvSpPr>
              <p:cNvPr id="46" name="Text 15">
                <a:extLst>
                  <a:ext uri="{FF2B5EF4-FFF2-40B4-BE49-F238E27FC236}">
                    <a16:creationId xmlns:a16="http://schemas.microsoft.com/office/drawing/2014/main" id="{396C4E04-F07E-5942-A850-A647E03D84E6}"/>
                  </a:ext>
                </a:extLst>
              </p:cNvPr>
              <p:cNvSpPr/>
              <p:nvPr/>
            </p:nvSpPr>
            <p:spPr>
              <a:xfrm>
                <a:off x="8146944" y="5517399"/>
                <a:ext cx="3038671" cy="777240"/>
              </a:xfrm>
              <a:prstGeom prst="rect">
                <a:avLst/>
              </a:prstGeom>
              <a:noFill/>
              <a:ln/>
            </p:spPr>
            <p:txBody>
              <a:bodyPr wrap="square" lIns="0" tIns="0" rIns="0" bIns="0" rtlCol="0" anchor="ctr"/>
              <a:lstStyle/>
              <a:p>
                <a:pPr algn="r"/>
                <a:r>
                  <a:rPr lang="en-US" altLang="ko-KR" sz="1400" dirty="0">
                    <a:solidFill>
                      <a:srgbClr val="FFFFFF"/>
                    </a:solidFill>
                    <a:latin typeface="Arial" panose="020B0604020202020204" pitchFamily="34" charset="0"/>
                    <a:ea typeface="Calibri Light" pitchFamily="34" charset="-122"/>
                    <a:cs typeface="Arial" panose="020B0604020202020204" pitchFamily="34" charset="0"/>
                  </a:rPr>
                  <a:t>~ their peak intensity has shifted northward. these changes cannot be explained by internal variability alone</a:t>
                </a:r>
              </a:p>
            </p:txBody>
          </p:sp>
        </p:grpSp>
      </p:grpSp>
    </p:spTree>
    <p:extLst>
      <p:ext uri="{BB962C8B-B14F-4D97-AF65-F5344CB8AC3E}">
        <p14:creationId xmlns:p14="http://schemas.microsoft.com/office/powerpoint/2010/main" val="3781357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EFBBD254-5D58-5CF7-A573-3D612E4F621B}"/>
              </a:ext>
            </a:extLst>
          </p:cNvPr>
          <p:cNvSpPr>
            <a:spLocks noGrp="1" noRot="1" noMove="1" noResize="1" noEditPoints="1" noAdjustHandles="1" noChangeArrowheads="1" noChangeShapeType="1"/>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C9A2BE08-FDA1-5E1F-6585-00ED47A49734}"/>
              </a:ext>
            </a:extLst>
          </p:cNvPr>
          <p:cNvSpPr txBox="1">
            <a:spLocks noGrp="1" noRot="1" noMove="1" noResize="1" noEditPoints="1" noAdjustHandles="1" noChangeArrowheads="1" noChangeShapeType="1"/>
          </p:cNvSpPr>
          <p:nvPr/>
        </p:nvSpPr>
        <p:spPr>
          <a:xfrm>
            <a:off x="0" y="43106"/>
            <a:ext cx="4983982"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2. Literature Review</a:t>
            </a:r>
            <a:endParaRPr lang="ko-KR" altLang="en-US" sz="3200" b="1" dirty="0">
              <a:solidFill>
                <a:schemeClr val="bg1"/>
              </a:solidFill>
              <a:latin typeface="Arial" panose="020B0604020202020204" pitchFamily="34" charset="0"/>
              <a:ea typeface="맑은 고딕" panose="020B0503020000020004" pitchFamily="50" charset="-127"/>
              <a:cs typeface="Arial" panose="020B0604020202020204" pitchFamily="34" charset="0"/>
            </a:endParaRPr>
          </a:p>
        </p:txBody>
      </p:sp>
      <p:sp>
        <p:nvSpPr>
          <p:cNvPr id="2" name="Rectangle 12">
            <a:extLst>
              <a:ext uri="{FF2B5EF4-FFF2-40B4-BE49-F238E27FC236}">
                <a16:creationId xmlns:a16="http://schemas.microsoft.com/office/drawing/2014/main" id="{7B86C23E-9C47-E8B8-0CE7-4F3B72DE3B67}"/>
              </a:ext>
            </a:extLst>
          </p:cNvPr>
          <p:cNvSpPr/>
          <p:nvPr/>
        </p:nvSpPr>
        <p:spPr>
          <a:xfrm>
            <a:off x="204998" y="911832"/>
            <a:ext cx="3307822" cy="5649112"/>
          </a:xfrm>
          <a:prstGeom prst="rect">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6C082B0-F0E0-6F0C-38BF-31FD120DB736}"/>
              </a:ext>
            </a:extLst>
          </p:cNvPr>
          <p:cNvSpPr txBox="1"/>
          <p:nvPr/>
        </p:nvSpPr>
        <p:spPr>
          <a:xfrm>
            <a:off x="353306" y="1723196"/>
            <a:ext cx="3022354" cy="3512052"/>
          </a:xfrm>
          <a:prstGeom prst="rect">
            <a:avLst/>
          </a:prstGeom>
          <a:noFill/>
        </p:spPr>
        <p:txBody>
          <a:bodyPr wrap="square" rtlCol="0">
            <a:spAutoFit/>
          </a:bodyPr>
          <a:lstStyle/>
          <a:p>
            <a:pPr>
              <a:lnSpc>
                <a:spcPct val="150000"/>
              </a:lnSpc>
            </a:pPr>
            <a:r>
              <a:rPr lang="en-US" altLang="ko-KR" sz="1500" dirty="0">
                <a:latin typeface="Arial" panose="020B0604020202020204" pitchFamily="34" charset="0"/>
                <a:cs typeface="Arial" panose="020B0604020202020204" pitchFamily="34" charset="0"/>
              </a:rPr>
              <a:t>Zhang et al., (2020): As the western boundary current of the North Pacific Ocean, the Kuroshio serves as a conduit for transporting warm water northward from its equatorial source region, thus playing a crucial role in modulating the ocean and climate in mid to high latitudes [1,2].</a:t>
            </a:r>
            <a:endParaRPr lang="ko-KR" altLang="en-US" sz="15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7D9A0B3B-C0F0-8655-C8DD-DFCFE37E981F}"/>
              </a:ext>
            </a:extLst>
          </p:cNvPr>
          <p:cNvSpPr txBox="1"/>
          <p:nvPr/>
        </p:nvSpPr>
        <p:spPr>
          <a:xfrm>
            <a:off x="204998" y="5428736"/>
            <a:ext cx="3117322" cy="938719"/>
          </a:xfrm>
          <a:prstGeom prst="rect">
            <a:avLst/>
          </a:prstGeom>
          <a:noFill/>
        </p:spPr>
        <p:txBody>
          <a:bodyPr wrap="square" rtlCol="0">
            <a:spAutoFit/>
          </a:bodyPr>
          <a:lstStyle/>
          <a:p>
            <a:pPr marL="228600" indent="-228600">
              <a:buAutoNum type="arabicPeriod"/>
            </a:pPr>
            <a:r>
              <a:rPr lang="en-US" altLang="ko-KR" sz="1100" dirty="0" err="1">
                <a:latin typeface="Arial" panose="020B0604020202020204" pitchFamily="34" charset="0"/>
                <a:cs typeface="Arial" panose="020B0604020202020204" pitchFamily="34" charset="0"/>
              </a:rPr>
              <a:t>H.Bryden</a:t>
            </a:r>
            <a:r>
              <a:rPr lang="en-US" altLang="ko-KR" sz="1100" dirty="0">
                <a:latin typeface="Arial" panose="020B0604020202020204" pitchFamily="34" charset="0"/>
                <a:cs typeface="Arial" panose="020B0604020202020204" pitchFamily="34" charset="0"/>
              </a:rPr>
              <a:t>, S. Imawaki, Ocean Circulation and Climate, G. Siedler, J. Church, J. Gould, Eds. (Academic Press, 2001), </a:t>
            </a:r>
            <a:r>
              <a:rPr lang="en-US" altLang="ko-KR" sz="1100" dirty="0" err="1">
                <a:latin typeface="Arial" panose="020B0604020202020204" pitchFamily="34" charset="0"/>
                <a:cs typeface="Arial" panose="020B0604020202020204" pitchFamily="34" charset="0"/>
              </a:rPr>
              <a:t>pp.455</a:t>
            </a:r>
            <a:r>
              <a:rPr lang="en-US" altLang="ko-KR" sz="1100" dirty="0">
                <a:latin typeface="Arial" panose="020B0604020202020204" pitchFamily="34" charset="0"/>
                <a:ea typeface="맑은 고딕" panose="020B0503020000020004" pitchFamily="50" charset="-127"/>
                <a:cs typeface="Arial" panose="020B0604020202020204" pitchFamily="34" charset="0"/>
              </a:rPr>
              <a:t>–474.</a:t>
            </a:r>
          </a:p>
          <a:p>
            <a:pPr marL="228600" indent="-228600">
              <a:buAutoNum type="arabicPeriod"/>
            </a:pPr>
            <a:r>
              <a:rPr lang="en-US" altLang="ko-KR" sz="1100" dirty="0">
                <a:latin typeface="Arial" panose="020B0604020202020204" pitchFamily="34" charset="0"/>
                <a:ea typeface="맑은 고딕" panose="020B0503020000020004" pitchFamily="50" charset="-127"/>
                <a:cs typeface="Arial" panose="020B0604020202020204" pitchFamily="34" charset="0"/>
              </a:rPr>
              <a:t>Y.-O. Kwon et al., </a:t>
            </a:r>
            <a:r>
              <a:rPr lang="en-US" altLang="ko-KR" sz="1100" dirty="0" err="1">
                <a:latin typeface="Arial" panose="020B0604020202020204" pitchFamily="34" charset="0"/>
                <a:ea typeface="맑은 고딕" panose="020B0503020000020004" pitchFamily="50" charset="-127"/>
                <a:cs typeface="Arial" panose="020B0604020202020204" pitchFamily="34" charset="0"/>
              </a:rPr>
              <a:t>J.Clim</a:t>
            </a:r>
            <a:r>
              <a:rPr lang="en-US" altLang="ko-KR" sz="1100" dirty="0">
                <a:latin typeface="Arial" panose="020B0604020202020204" pitchFamily="34" charset="0"/>
                <a:ea typeface="맑은 고딕" panose="020B0503020000020004" pitchFamily="50" charset="-127"/>
                <a:cs typeface="Arial" panose="020B0604020202020204" pitchFamily="34" charset="0"/>
              </a:rPr>
              <a:t>. 23, 3249–3281</a:t>
            </a:r>
            <a:endParaRPr lang="ko-KR" altLang="en-US" sz="1100" dirty="0">
              <a:latin typeface="Arial" panose="020B0604020202020204" pitchFamily="34" charset="0"/>
              <a:cs typeface="Arial" panose="020B0604020202020204" pitchFamily="34" charset="0"/>
            </a:endParaRPr>
          </a:p>
        </p:txBody>
      </p:sp>
      <p:sp>
        <p:nvSpPr>
          <p:cNvPr id="12" name="Shape 4">
            <a:extLst>
              <a:ext uri="{FF2B5EF4-FFF2-40B4-BE49-F238E27FC236}">
                <a16:creationId xmlns:a16="http://schemas.microsoft.com/office/drawing/2014/main" id="{014A10CB-235D-5AD1-9530-783F43C6329D}"/>
              </a:ext>
            </a:extLst>
          </p:cNvPr>
          <p:cNvSpPr/>
          <p:nvPr/>
        </p:nvSpPr>
        <p:spPr>
          <a:xfrm>
            <a:off x="204998" y="911830"/>
            <a:ext cx="3307822" cy="606377"/>
          </a:xfrm>
          <a:prstGeom prst="rect">
            <a:avLst/>
          </a:prstGeom>
          <a:solidFill>
            <a:srgbClr val="0077B6"/>
          </a:solidFill>
          <a:ln/>
          <a:effectLst>
            <a:outerShdw blurRad="50800" dist="12700" dir="8100000" algn="bl" rotWithShape="0">
              <a:srgbClr val="000000">
                <a:alpha val="6000"/>
              </a:srgbClr>
            </a:outerShdw>
          </a:effectLst>
        </p:spPr>
        <p:txBody>
          <a:bodyPr/>
          <a:lstStyle/>
          <a:p>
            <a:endParaRPr lang="ko-KR" altLang="en-US"/>
          </a:p>
        </p:txBody>
      </p:sp>
      <p:sp>
        <p:nvSpPr>
          <p:cNvPr id="3" name="TextBox 2">
            <a:extLst>
              <a:ext uri="{FF2B5EF4-FFF2-40B4-BE49-F238E27FC236}">
                <a16:creationId xmlns:a16="http://schemas.microsoft.com/office/drawing/2014/main" id="{885AE523-7F30-D4F7-807C-EC994696B58F}"/>
              </a:ext>
            </a:extLst>
          </p:cNvPr>
          <p:cNvSpPr txBox="1"/>
          <p:nvPr/>
        </p:nvSpPr>
        <p:spPr>
          <a:xfrm>
            <a:off x="204998" y="1005338"/>
            <a:ext cx="3307822" cy="419362"/>
          </a:xfrm>
          <a:prstGeom prst="rect">
            <a:avLst/>
          </a:prstGeom>
          <a:noFill/>
        </p:spPr>
        <p:txBody>
          <a:bodyPr wrap="square" anchor="ctr"/>
          <a:lstStyle/>
          <a:p>
            <a:pPr algn="ctr">
              <a:defRPr sz="1100" b="1">
                <a:solidFill>
                  <a:srgbClr val="FFFFFF"/>
                </a:solidFill>
                <a:latin typeface="Trebuchet MS"/>
              </a:defRPr>
            </a:pPr>
            <a:r>
              <a:rPr lang="en-US" sz="1600" dirty="0">
                <a:latin typeface="Arial" panose="020B0604020202020204" pitchFamily="34" charset="0"/>
              </a:rPr>
              <a:t>Role of </a:t>
            </a:r>
            <a:r>
              <a:rPr sz="1600" dirty="0">
                <a:latin typeface="Arial" panose="020B0604020202020204" pitchFamily="34" charset="0"/>
              </a:rPr>
              <a:t>Kuroshio Current</a:t>
            </a:r>
            <a:r>
              <a:rPr lang="en-US" sz="1600" dirty="0">
                <a:latin typeface="Arial" panose="020B0604020202020204" pitchFamily="34" charset="0"/>
              </a:rPr>
              <a:t> &amp; TC</a:t>
            </a:r>
            <a:endParaRPr sz="1600" dirty="0">
              <a:latin typeface="Arial" panose="020B0604020202020204" pitchFamily="34" charset="0"/>
            </a:endParaRPr>
          </a:p>
        </p:txBody>
      </p:sp>
      <p:grpSp>
        <p:nvGrpSpPr>
          <p:cNvPr id="22" name="그룹 21">
            <a:extLst>
              <a:ext uri="{FF2B5EF4-FFF2-40B4-BE49-F238E27FC236}">
                <a16:creationId xmlns:a16="http://schemas.microsoft.com/office/drawing/2014/main" id="{6F0069C4-0959-19FD-C760-1991229ACDFE}"/>
              </a:ext>
            </a:extLst>
          </p:cNvPr>
          <p:cNvGrpSpPr/>
          <p:nvPr/>
        </p:nvGrpSpPr>
        <p:grpSpPr>
          <a:xfrm>
            <a:off x="3661128" y="1005338"/>
            <a:ext cx="8439432" cy="4423398"/>
            <a:chOff x="3661128" y="1802229"/>
            <a:chExt cx="8439432" cy="3740652"/>
          </a:xfrm>
        </p:grpSpPr>
        <p:pic>
          <p:nvPicPr>
            <p:cNvPr id="21" name="그림 20">
              <a:extLst>
                <a:ext uri="{FF2B5EF4-FFF2-40B4-BE49-F238E27FC236}">
                  <a16:creationId xmlns:a16="http://schemas.microsoft.com/office/drawing/2014/main" id="{EFB14086-7039-C935-81BC-6A05691A08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1128" y="1802229"/>
              <a:ext cx="6366224" cy="3740652"/>
            </a:xfrm>
            <a:prstGeom prst="rect">
              <a:avLst/>
            </a:prstGeom>
          </p:spPr>
        </p:pic>
        <p:pic>
          <p:nvPicPr>
            <p:cNvPr id="19" name="그림 18">
              <a:extLst>
                <a:ext uri="{FF2B5EF4-FFF2-40B4-BE49-F238E27FC236}">
                  <a16:creationId xmlns:a16="http://schemas.microsoft.com/office/drawing/2014/main" id="{FD0B1A44-700C-00D7-183E-5398BA261D4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844240" y="1802229"/>
              <a:ext cx="5256320" cy="3740652"/>
            </a:xfrm>
            <a:prstGeom prst="rect">
              <a:avLst/>
            </a:prstGeom>
          </p:spPr>
        </p:pic>
      </p:grpSp>
      <p:sp>
        <p:nvSpPr>
          <p:cNvPr id="23" name="Rectangle 20">
            <a:extLst>
              <a:ext uri="{FF2B5EF4-FFF2-40B4-BE49-F238E27FC236}">
                <a16:creationId xmlns:a16="http://schemas.microsoft.com/office/drawing/2014/main" id="{96244EAB-87E3-63CA-6924-7589A85AA17C}"/>
              </a:ext>
            </a:extLst>
          </p:cNvPr>
          <p:cNvSpPr/>
          <p:nvPr/>
        </p:nvSpPr>
        <p:spPr>
          <a:xfrm>
            <a:off x="3797177" y="5670934"/>
            <a:ext cx="8189825" cy="890010"/>
          </a:xfrm>
          <a:prstGeom prst="rect">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Eddy potential vorticity generated by TCs can increase Kuroshio Current (KC) transport</a:t>
            </a:r>
            <a:endParaRPr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4719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EFBBD254-5D58-5CF7-A573-3D612E4F621B}"/>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C9A2BE08-FDA1-5E1F-6585-00ED47A49734}"/>
              </a:ext>
            </a:extLst>
          </p:cNvPr>
          <p:cNvSpPr txBox="1"/>
          <p:nvPr/>
        </p:nvSpPr>
        <p:spPr>
          <a:xfrm>
            <a:off x="0" y="43106"/>
            <a:ext cx="4320540"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3. Data &amp; Method</a:t>
            </a:r>
            <a:endParaRPr lang="ko-KR" altLang="en-US" sz="3200" b="1" dirty="0">
              <a:solidFill>
                <a:schemeClr val="bg1"/>
              </a:solidFill>
              <a:latin typeface="Arial" panose="020B0604020202020204" pitchFamily="34" charset="0"/>
              <a:cs typeface="Arial" panose="020B0604020202020204" pitchFamily="34" charset="0"/>
            </a:endParaRPr>
          </a:p>
        </p:txBody>
      </p:sp>
      <p:sp>
        <p:nvSpPr>
          <p:cNvPr id="21" name="직사각형 20">
            <a:extLst>
              <a:ext uri="{FF2B5EF4-FFF2-40B4-BE49-F238E27FC236}">
                <a16:creationId xmlns:a16="http://schemas.microsoft.com/office/drawing/2014/main" id="{F6FCD3E3-9220-7EFA-B7D7-77A66450C7DB}"/>
              </a:ext>
            </a:extLst>
          </p:cNvPr>
          <p:cNvSpPr/>
          <p:nvPr/>
        </p:nvSpPr>
        <p:spPr>
          <a:xfrm>
            <a:off x="6041195" y="788276"/>
            <a:ext cx="117869" cy="5911119"/>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6">
            <a:extLst>
              <a:ext uri="{FF2B5EF4-FFF2-40B4-BE49-F238E27FC236}">
                <a16:creationId xmlns:a16="http://schemas.microsoft.com/office/drawing/2014/main" id="{9EEEEBBE-DEEB-1D76-1E29-30AACABCA1E4}"/>
              </a:ext>
            </a:extLst>
          </p:cNvPr>
          <p:cNvGrpSpPr/>
          <p:nvPr/>
        </p:nvGrpSpPr>
        <p:grpSpPr>
          <a:xfrm>
            <a:off x="3206008" y="4124244"/>
            <a:ext cx="2698014" cy="2715975"/>
            <a:chOff x="750905" y="1217589"/>
            <a:chExt cx="3241878" cy="3011852"/>
          </a:xfrm>
        </p:grpSpPr>
        <p:pic>
          <p:nvPicPr>
            <p:cNvPr id="11" name="그림 10">
              <a:extLst>
                <a:ext uri="{FF2B5EF4-FFF2-40B4-BE49-F238E27FC236}">
                  <a16:creationId xmlns:a16="http://schemas.microsoft.com/office/drawing/2014/main" id="{09C9CCD6-43F2-8292-576E-28C470350C56}"/>
                </a:ext>
              </a:extLst>
            </p:cNvPr>
            <p:cNvPicPr>
              <a:picLocks noChangeAspect="1"/>
            </p:cNvPicPr>
            <p:nvPr/>
          </p:nvPicPr>
          <p:blipFill>
            <a:blip r:embed="rId3"/>
            <a:srcRect r="64546"/>
            <a:stretch>
              <a:fillRect/>
            </a:stretch>
          </p:blipFill>
          <p:spPr>
            <a:xfrm>
              <a:off x="750905" y="1217589"/>
              <a:ext cx="3241878" cy="3011852"/>
            </a:xfrm>
            <a:prstGeom prst="rect">
              <a:avLst/>
            </a:prstGeom>
          </p:spPr>
        </p:pic>
        <p:sp>
          <p:nvSpPr>
            <p:cNvPr id="13" name="직사각형 12">
              <a:extLst>
                <a:ext uri="{FF2B5EF4-FFF2-40B4-BE49-F238E27FC236}">
                  <a16:creationId xmlns:a16="http://schemas.microsoft.com/office/drawing/2014/main" id="{9DEF7DFD-686D-57ED-5EC5-F192D96D9B43}"/>
                </a:ext>
              </a:extLst>
            </p:cNvPr>
            <p:cNvSpPr/>
            <p:nvPr/>
          </p:nvSpPr>
          <p:spPr>
            <a:xfrm>
              <a:off x="1089660" y="1244385"/>
              <a:ext cx="167640" cy="1957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6" name="그룹 15">
            <a:extLst>
              <a:ext uri="{FF2B5EF4-FFF2-40B4-BE49-F238E27FC236}">
                <a16:creationId xmlns:a16="http://schemas.microsoft.com/office/drawing/2014/main" id="{779C6BF4-004B-D238-C011-5024D75E4870}"/>
              </a:ext>
            </a:extLst>
          </p:cNvPr>
          <p:cNvGrpSpPr/>
          <p:nvPr/>
        </p:nvGrpSpPr>
        <p:grpSpPr>
          <a:xfrm>
            <a:off x="205739" y="947288"/>
            <a:ext cx="5403459" cy="3017520"/>
            <a:chOff x="4663440" y="1005840"/>
            <a:chExt cx="4114800" cy="3017520"/>
          </a:xfrm>
        </p:grpSpPr>
        <p:sp>
          <p:nvSpPr>
            <p:cNvPr id="19" name="Shape 4">
              <a:extLst>
                <a:ext uri="{FF2B5EF4-FFF2-40B4-BE49-F238E27FC236}">
                  <a16:creationId xmlns:a16="http://schemas.microsoft.com/office/drawing/2014/main" id="{E7B805E9-A47F-8243-D1F5-D26494EB8023}"/>
                </a:ext>
              </a:extLst>
            </p:cNvPr>
            <p:cNvSpPr/>
            <p:nvPr/>
          </p:nvSpPr>
          <p:spPr>
            <a:xfrm>
              <a:off x="4663440" y="1005840"/>
              <a:ext cx="4114800" cy="914400"/>
            </a:xfrm>
            <a:prstGeom prst="rect">
              <a:avLst/>
            </a:prstGeom>
            <a:solidFill>
              <a:srgbClr val="EDF2F4"/>
            </a:solidFill>
            <a:ln/>
            <a:effectLst>
              <a:outerShdw blurRad="50800" dist="12700" dir="8100000" algn="bl" rotWithShape="0">
                <a:srgbClr val="000000">
                  <a:alpha val="6000"/>
                </a:srgbClr>
              </a:outerShdw>
            </a:effectLst>
          </p:spPr>
          <p:txBody>
            <a:bodyPr/>
            <a:lstStyle/>
            <a:p>
              <a:endParaRPr lang="ko-KR" altLang="en-US"/>
            </a:p>
          </p:txBody>
        </p:sp>
        <p:sp>
          <p:nvSpPr>
            <p:cNvPr id="20" name="Shape 5">
              <a:extLst>
                <a:ext uri="{FF2B5EF4-FFF2-40B4-BE49-F238E27FC236}">
                  <a16:creationId xmlns:a16="http://schemas.microsoft.com/office/drawing/2014/main" id="{46069ECD-9434-A9F3-E5C1-C15002F45DE1}"/>
                </a:ext>
              </a:extLst>
            </p:cNvPr>
            <p:cNvSpPr/>
            <p:nvPr/>
          </p:nvSpPr>
          <p:spPr>
            <a:xfrm>
              <a:off x="4663440" y="1005840"/>
              <a:ext cx="54864" cy="914400"/>
            </a:xfrm>
            <a:prstGeom prst="rect">
              <a:avLst/>
            </a:prstGeom>
            <a:solidFill>
              <a:srgbClr val="2B2D42"/>
            </a:solidFill>
            <a:ln/>
          </p:spPr>
          <p:txBody>
            <a:bodyPr/>
            <a:lstStyle/>
            <a:p>
              <a:endParaRPr lang="ko-KR" altLang="en-US"/>
            </a:p>
          </p:txBody>
        </p:sp>
        <p:sp>
          <p:nvSpPr>
            <p:cNvPr id="22" name="Text 6">
              <a:extLst>
                <a:ext uri="{FF2B5EF4-FFF2-40B4-BE49-F238E27FC236}">
                  <a16:creationId xmlns:a16="http://schemas.microsoft.com/office/drawing/2014/main" id="{8E833965-01E7-B5B9-12B0-BC2F11726518}"/>
                </a:ext>
              </a:extLst>
            </p:cNvPr>
            <p:cNvSpPr/>
            <p:nvPr/>
          </p:nvSpPr>
          <p:spPr>
            <a:xfrm>
              <a:off x="4846320" y="1078992"/>
              <a:ext cx="3749040" cy="228600"/>
            </a:xfrm>
            <a:prstGeom prst="rect">
              <a:avLst/>
            </a:prstGeom>
            <a:noFill/>
            <a:ln/>
          </p:spPr>
          <p:txBody>
            <a:bodyPr wrap="square" lIns="0" tIns="0" rIns="0" bIns="0" rtlCol="0" anchor="ctr"/>
            <a:lstStyle/>
            <a:p>
              <a:pPr marL="0" indent="0">
                <a:buNone/>
              </a:pPr>
              <a:r>
                <a:rPr lang="en-US" sz="1200" b="1" dirty="0">
                  <a:solidFill>
                    <a:srgbClr val="2B2D42"/>
                  </a:solidFill>
                  <a:latin typeface="Arial" panose="020B0604020202020204" pitchFamily="34" charset="0"/>
                  <a:ea typeface="Trebuchet MS" pitchFamily="34" charset="-122"/>
                  <a:cs typeface="Arial" panose="020B0604020202020204" pitchFamily="34" charset="0"/>
                </a:rPr>
                <a:t>TC Best-Track</a:t>
              </a:r>
              <a:endParaRPr lang="en-US" sz="1200" dirty="0"/>
            </a:p>
          </p:txBody>
        </p:sp>
        <p:sp>
          <p:nvSpPr>
            <p:cNvPr id="23" name="Text 7">
              <a:extLst>
                <a:ext uri="{FF2B5EF4-FFF2-40B4-BE49-F238E27FC236}">
                  <a16:creationId xmlns:a16="http://schemas.microsoft.com/office/drawing/2014/main" id="{2A506E2C-0D41-C87B-7FCE-272A49C38D30}"/>
                </a:ext>
              </a:extLst>
            </p:cNvPr>
            <p:cNvSpPr/>
            <p:nvPr/>
          </p:nvSpPr>
          <p:spPr>
            <a:xfrm>
              <a:off x="4846320" y="1330452"/>
              <a:ext cx="3749040" cy="201168"/>
            </a:xfrm>
            <a:prstGeom prst="rect">
              <a:avLst/>
            </a:prstGeom>
            <a:noFill/>
            <a:ln/>
          </p:spPr>
          <p:txBody>
            <a:bodyPr wrap="square" lIns="0" tIns="0" rIns="0" bIns="0" rtlCol="0" anchor="ctr"/>
            <a:lstStyle/>
            <a:p>
              <a:pPr marL="0" indent="0">
                <a:buNone/>
              </a:pPr>
              <a:r>
                <a:rPr lang="en-US" sz="1000" dirty="0">
                  <a:solidFill>
                    <a:srgbClr val="0077B6"/>
                  </a:solidFill>
                  <a:latin typeface="Arial" panose="020B0604020202020204" pitchFamily="34" charset="0"/>
                  <a:ea typeface="Calibri Light" pitchFamily="34" charset="-122"/>
                  <a:cs typeface="Arial" panose="020B0604020202020204" pitchFamily="34" charset="0"/>
                </a:rPr>
                <a:t>RSMC Tokyo (JMA)</a:t>
              </a:r>
              <a:endParaRPr lang="en-US" sz="1000" dirty="0"/>
            </a:p>
          </p:txBody>
        </p:sp>
        <p:sp>
          <p:nvSpPr>
            <p:cNvPr id="24" name="Text 8">
              <a:extLst>
                <a:ext uri="{FF2B5EF4-FFF2-40B4-BE49-F238E27FC236}">
                  <a16:creationId xmlns:a16="http://schemas.microsoft.com/office/drawing/2014/main" id="{806D14E4-7ED4-CDC6-39F8-ACA08D725EBD}"/>
                </a:ext>
              </a:extLst>
            </p:cNvPr>
            <p:cNvSpPr/>
            <p:nvPr/>
          </p:nvSpPr>
          <p:spPr>
            <a:xfrm>
              <a:off x="4846320" y="1554480"/>
              <a:ext cx="3749040" cy="201168"/>
            </a:xfrm>
            <a:prstGeom prst="rect">
              <a:avLst/>
            </a:prstGeom>
            <a:noFill/>
            <a:ln/>
          </p:spPr>
          <p:txBody>
            <a:bodyPr wrap="square" lIns="0" tIns="0" rIns="0" bIns="0" rtlCol="0" anchor="ctr"/>
            <a:lstStyle/>
            <a:p>
              <a:r>
                <a:rPr lang="en-US" altLang="ko-KR" sz="1300" dirty="0">
                  <a:latin typeface="Arial" panose="020B0604020202020204" pitchFamily="34" charset="0"/>
                  <a:ea typeface="Calibri Light" pitchFamily="34" charset="-122"/>
                  <a:cs typeface="Arial" panose="020B0604020202020204" pitchFamily="34" charset="0"/>
                </a:rPr>
                <a:t>6-hourly data during June-October 1993-2020</a:t>
              </a:r>
            </a:p>
          </p:txBody>
        </p:sp>
        <p:sp>
          <p:nvSpPr>
            <p:cNvPr id="25" name="Shape 9">
              <a:extLst>
                <a:ext uri="{FF2B5EF4-FFF2-40B4-BE49-F238E27FC236}">
                  <a16:creationId xmlns:a16="http://schemas.microsoft.com/office/drawing/2014/main" id="{384221DF-8DC3-00D2-97FF-FC49B69F1676}"/>
                </a:ext>
              </a:extLst>
            </p:cNvPr>
            <p:cNvSpPr/>
            <p:nvPr/>
          </p:nvSpPr>
          <p:spPr>
            <a:xfrm>
              <a:off x="4663440" y="2057400"/>
              <a:ext cx="4114800" cy="914400"/>
            </a:xfrm>
            <a:prstGeom prst="rect">
              <a:avLst/>
            </a:prstGeom>
            <a:solidFill>
              <a:srgbClr val="EDF2F4"/>
            </a:solidFill>
            <a:ln/>
            <a:effectLst>
              <a:outerShdw blurRad="50800" dist="12700" dir="8100000" algn="bl" rotWithShape="0">
                <a:srgbClr val="000000">
                  <a:alpha val="6000"/>
                </a:srgbClr>
              </a:outerShdw>
            </a:effectLst>
          </p:spPr>
          <p:txBody>
            <a:bodyPr/>
            <a:lstStyle/>
            <a:p>
              <a:endParaRPr lang="ko-KR" altLang="en-US"/>
            </a:p>
          </p:txBody>
        </p:sp>
        <p:sp>
          <p:nvSpPr>
            <p:cNvPr id="26" name="Shape 10">
              <a:extLst>
                <a:ext uri="{FF2B5EF4-FFF2-40B4-BE49-F238E27FC236}">
                  <a16:creationId xmlns:a16="http://schemas.microsoft.com/office/drawing/2014/main" id="{0E5E518E-9A52-7454-631B-56EFABCF3EE4}"/>
                </a:ext>
              </a:extLst>
            </p:cNvPr>
            <p:cNvSpPr/>
            <p:nvPr/>
          </p:nvSpPr>
          <p:spPr>
            <a:xfrm>
              <a:off x="4663440" y="2057400"/>
              <a:ext cx="54864" cy="914400"/>
            </a:xfrm>
            <a:prstGeom prst="rect">
              <a:avLst/>
            </a:prstGeom>
            <a:solidFill>
              <a:srgbClr val="0077B6"/>
            </a:solidFill>
            <a:ln/>
          </p:spPr>
          <p:txBody>
            <a:bodyPr/>
            <a:lstStyle/>
            <a:p>
              <a:endParaRPr lang="ko-KR" altLang="en-US"/>
            </a:p>
          </p:txBody>
        </p:sp>
        <p:sp>
          <p:nvSpPr>
            <p:cNvPr id="27" name="Text 11">
              <a:extLst>
                <a:ext uri="{FF2B5EF4-FFF2-40B4-BE49-F238E27FC236}">
                  <a16:creationId xmlns:a16="http://schemas.microsoft.com/office/drawing/2014/main" id="{F3B76E90-5732-C4D4-BA9E-CDE9FF9E87AC}"/>
                </a:ext>
              </a:extLst>
            </p:cNvPr>
            <p:cNvSpPr/>
            <p:nvPr/>
          </p:nvSpPr>
          <p:spPr>
            <a:xfrm>
              <a:off x="4846320" y="2130552"/>
              <a:ext cx="3749040" cy="228600"/>
            </a:xfrm>
            <a:prstGeom prst="rect">
              <a:avLst/>
            </a:prstGeom>
            <a:noFill/>
            <a:ln/>
          </p:spPr>
          <p:txBody>
            <a:bodyPr wrap="square" lIns="0" tIns="0" rIns="0" bIns="0" rtlCol="0" anchor="ctr"/>
            <a:lstStyle/>
            <a:p>
              <a:pPr marL="0" indent="0">
                <a:buNone/>
              </a:pPr>
              <a:r>
                <a:rPr lang="en-US" sz="1200" b="1" dirty="0">
                  <a:solidFill>
                    <a:srgbClr val="2B2D42"/>
                  </a:solidFill>
                  <a:latin typeface="Arial" panose="020B0604020202020204" pitchFamily="34" charset="0"/>
                  <a:ea typeface="Trebuchet MS" pitchFamily="34" charset="-122"/>
                  <a:cs typeface="Arial" panose="020B0604020202020204" pitchFamily="34" charset="0"/>
                </a:rPr>
                <a:t>Ocean Reanalysis</a:t>
              </a:r>
              <a:endParaRPr lang="en-US" sz="1200" dirty="0"/>
            </a:p>
          </p:txBody>
        </p:sp>
        <p:sp>
          <p:nvSpPr>
            <p:cNvPr id="28" name="Text 12">
              <a:extLst>
                <a:ext uri="{FF2B5EF4-FFF2-40B4-BE49-F238E27FC236}">
                  <a16:creationId xmlns:a16="http://schemas.microsoft.com/office/drawing/2014/main" id="{C98F9207-6D38-B2F7-C0FC-7F493E34DDB3}"/>
                </a:ext>
              </a:extLst>
            </p:cNvPr>
            <p:cNvSpPr/>
            <p:nvPr/>
          </p:nvSpPr>
          <p:spPr>
            <a:xfrm>
              <a:off x="4846320" y="2382012"/>
              <a:ext cx="3749040" cy="201168"/>
            </a:xfrm>
            <a:prstGeom prst="rect">
              <a:avLst/>
            </a:prstGeom>
            <a:noFill/>
            <a:ln/>
          </p:spPr>
          <p:txBody>
            <a:bodyPr wrap="square" lIns="0" tIns="0" rIns="0" bIns="0" rtlCol="0" anchor="ctr"/>
            <a:lstStyle/>
            <a:p>
              <a:pPr marL="0" indent="0">
                <a:buNone/>
              </a:pPr>
              <a:r>
                <a:rPr lang="en-US" sz="1000" dirty="0">
                  <a:solidFill>
                    <a:srgbClr val="0077B6"/>
                  </a:solidFill>
                  <a:latin typeface="Arial" panose="020B0604020202020204" pitchFamily="34" charset="0"/>
                  <a:ea typeface="Calibri Light" pitchFamily="34" charset="-122"/>
                  <a:cs typeface="Arial" panose="020B0604020202020204" pitchFamily="34" charset="0"/>
                </a:rPr>
                <a:t>GLORYS12V1 (Copernicus)</a:t>
              </a:r>
              <a:endParaRPr lang="en-US" sz="1000" dirty="0"/>
            </a:p>
          </p:txBody>
        </p:sp>
        <p:sp>
          <p:nvSpPr>
            <p:cNvPr id="29" name="Text 13">
              <a:extLst>
                <a:ext uri="{FF2B5EF4-FFF2-40B4-BE49-F238E27FC236}">
                  <a16:creationId xmlns:a16="http://schemas.microsoft.com/office/drawing/2014/main" id="{2CE4EBD3-0F0A-248C-3B63-3A79B6239A32}"/>
                </a:ext>
              </a:extLst>
            </p:cNvPr>
            <p:cNvSpPr/>
            <p:nvPr/>
          </p:nvSpPr>
          <p:spPr>
            <a:xfrm>
              <a:off x="4846320" y="2606040"/>
              <a:ext cx="3749040" cy="201168"/>
            </a:xfrm>
            <a:prstGeom prst="rect">
              <a:avLst/>
            </a:prstGeom>
            <a:noFill/>
            <a:ln/>
          </p:spPr>
          <p:txBody>
            <a:bodyPr wrap="square" lIns="0" tIns="0" rIns="0" bIns="0" rtlCol="0" anchor="ctr"/>
            <a:lstStyle/>
            <a:p>
              <a:r>
                <a:rPr lang="en-US" altLang="ko-KR" sz="1300" dirty="0">
                  <a:latin typeface="Arial" panose="020B0604020202020204" pitchFamily="34" charset="0"/>
                  <a:ea typeface="Calibri Light" pitchFamily="34" charset="-122"/>
                  <a:cs typeface="Arial" panose="020B0604020202020204" pitchFamily="34" charset="0"/>
                </a:rPr>
                <a:t>Monthly, 1/12° grid, 50 levels, June-October, 1993-2020</a:t>
              </a:r>
            </a:p>
          </p:txBody>
        </p:sp>
        <p:sp>
          <p:nvSpPr>
            <p:cNvPr id="30" name="Shape 14">
              <a:extLst>
                <a:ext uri="{FF2B5EF4-FFF2-40B4-BE49-F238E27FC236}">
                  <a16:creationId xmlns:a16="http://schemas.microsoft.com/office/drawing/2014/main" id="{9DE0D75D-F152-5C81-40A3-D52301DA023C}"/>
                </a:ext>
              </a:extLst>
            </p:cNvPr>
            <p:cNvSpPr/>
            <p:nvPr/>
          </p:nvSpPr>
          <p:spPr>
            <a:xfrm>
              <a:off x="4663440" y="3108960"/>
              <a:ext cx="4114800" cy="914400"/>
            </a:xfrm>
            <a:prstGeom prst="rect">
              <a:avLst/>
            </a:prstGeom>
            <a:solidFill>
              <a:srgbClr val="EDF2F4"/>
            </a:solidFill>
            <a:ln/>
            <a:effectLst>
              <a:outerShdw blurRad="50800" dist="12700" dir="8100000" algn="bl" rotWithShape="0">
                <a:srgbClr val="000000">
                  <a:alpha val="6000"/>
                </a:srgbClr>
              </a:outerShdw>
            </a:effectLst>
          </p:spPr>
          <p:txBody>
            <a:bodyPr/>
            <a:lstStyle/>
            <a:p>
              <a:endParaRPr lang="ko-KR" altLang="en-US"/>
            </a:p>
          </p:txBody>
        </p:sp>
        <p:sp>
          <p:nvSpPr>
            <p:cNvPr id="31" name="Shape 15">
              <a:extLst>
                <a:ext uri="{FF2B5EF4-FFF2-40B4-BE49-F238E27FC236}">
                  <a16:creationId xmlns:a16="http://schemas.microsoft.com/office/drawing/2014/main" id="{43285E5E-C033-A350-5E2E-A6F401E9622D}"/>
                </a:ext>
              </a:extLst>
            </p:cNvPr>
            <p:cNvSpPr/>
            <p:nvPr/>
          </p:nvSpPr>
          <p:spPr>
            <a:xfrm>
              <a:off x="4663440" y="3108960"/>
              <a:ext cx="54864" cy="914400"/>
            </a:xfrm>
            <a:prstGeom prst="rect">
              <a:avLst/>
            </a:prstGeom>
            <a:solidFill>
              <a:srgbClr val="3D405B"/>
            </a:solidFill>
            <a:ln/>
          </p:spPr>
          <p:txBody>
            <a:bodyPr/>
            <a:lstStyle/>
            <a:p>
              <a:endParaRPr lang="ko-KR" altLang="en-US"/>
            </a:p>
          </p:txBody>
        </p:sp>
        <p:sp>
          <p:nvSpPr>
            <p:cNvPr id="32" name="Text 16">
              <a:extLst>
                <a:ext uri="{FF2B5EF4-FFF2-40B4-BE49-F238E27FC236}">
                  <a16:creationId xmlns:a16="http://schemas.microsoft.com/office/drawing/2014/main" id="{56D78842-98FB-A016-E5B2-AF7112867173}"/>
                </a:ext>
              </a:extLst>
            </p:cNvPr>
            <p:cNvSpPr/>
            <p:nvPr/>
          </p:nvSpPr>
          <p:spPr>
            <a:xfrm>
              <a:off x="4846320" y="3182112"/>
              <a:ext cx="3749040" cy="228600"/>
            </a:xfrm>
            <a:prstGeom prst="rect">
              <a:avLst/>
            </a:prstGeom>
            <a:noFill/>
            <a:ln/>
          </p:spPr>
          <p:txBody>
            <a:bodyPr wrap="square" lIns="0" tIns="0" rIns="0" bIns="0" rtlCol="0" anchor="ctr"/>
            <a:lstStyle/>
            <a:p>
              <a:pPr marL="0" indent="0">
                <a:buNone/>
              </a:pPr>
              <a:r>
                <a:rPr lang="en-US" sz="1200" b="1" dirty="0">
                  <a:solidFill>
                    <a:srgbClr val="2B2D42"/>
                  </a:solidFill>
                  <a:latin typeface="Arial" panose="020B0604020202020204" pitchFamily="34" charset="0"/>
                  <a:ea typeface="Trebuchet MS" pitchFamily="34" charset="-122"/>
                  <a:cs typeface="Arial" panose="020B0604020202020204" pitchFamily="34" charset="0"/>
                </a:rPr>
                <a:t>Atmospheric Reanalysis</a:t>
              </a:r>
              <a:endParaRPr lang="en-US" sz="1200" dirty="0"/>
            </a:p>
          </p:txBody>
        </p:sp>
        <p:sp>
          <p:nvSpPr>
            <p:cNvPr id="33" name="Text 17">
              <a:extLst>
                <a:ext uri="{FF2B5EF4-FFF2-40B4-BE49-F238E27FC236}">
                  <a16:creationId xmlns:a16="http://schemas.microsoft.com/office/drawing/2014/main" id="{AB06CBD7-EAAE-0AFF-AF71-C60B405E81C0}"/>
                </a:ext>
              </a:extLst>
            </p:cNvPr>
            <p:cNvSpPr/>
            <p:nvPr/>
          </p:nvSpPr>
          <p:spPr>
            <a:xfrm>
              <a:off x="4846320" y="3433572"/>
              <a:ext cx="3749040" cy="201168"/>
            </a:xfrm>
            <a:prstGeom prst="rect">
              <a:avLst/>
            </a:prstGeom>
            <a:noFill/>
            <a:ln/>
          </p:spPr>
          <p:txBody>
            <a:bodyPr wrap="square" lIns="0" tIns="0" rIns="0" bIns="0" rtlCol="0" anchor="ctr"/>
            <a:lstStyle/>
            <a:p>
              <a:pPr marL="0" indent="0">
                <a:buNone/>
              </a:pPr>
              <a:r>
                <a:rPr lang="en-US" sz="1000" dirty="0">
                  <a:solidFill>
                    <a:srgbClr val="0077B6"/>
                  </a:solidFill>
                  <a:latin typeface="Arial" panose="020B0604020202020204" pitchFamily="34" charset="0"/>
                  <a:ea typeface="Calibri Light" pitchFamily="34" charset="-122"/>
                  <a:cs typeface="Arial" panose="020B0604020202020204" pitchFamily="34" charset="0"/>
                </a:rPr>
                <a:t>ERA5 (ECMWF)</a:t>
              </a:r>
              <a:endParaRPr lang="en-US" sz="1000" dirty="0"/>
            </a:p>
          </p:txBody>
        </p:sp>
        <p:sp>
          <p:nvSpPr>
            <p:cNvPr id="34" name="Text 18">
              <a:extLst>
                <a:ext uri="{FF2B5EF4-FFF2-40B4-BE49-F238E27FC236}">
                  <a16:creationId xmlns:a16="http://schemas.microsoft.com/office/drawing/2014/main" id="{CF729C71-0C7C-9AE7-F41A-9BB2A53B385C}"/>
                </a:ext>
              </a:extLst>
            </p:cNvPr>
            <p:cNvSpPr/>
            <p:nvPr/>
          </p:nvSpPr>
          <p:spPr>
            <a:xfrm>
              <a:off x="4846320" y="3657599"/>
              <a:ext cx="3749040" cy="226379"/>
            </a:xfrm>
            <a:prstGeom prst="rect">
              <a:avLst/>
            </a:prstGeom>
            <a:noFill/>
            <a:ln/>
          </p:spPr>
          <p:txBody>
            <a:bodyPr wrap="square" lIns="0" tIns="0" rIns="0" bIns="0" rtlCol="0" anchor="ctr"/>
            <a:lstStyle/>
            <a:p>
              <a:r>
                <a:rPr lang="en-US" altLang="ko-KR" sz="1300" dirty="0">
                  <a:latin typeface="Arial" panose="020B0604020202020204" pitchFamily="34" charset="0"/>
                  <a:ea typeface="Calibri Light" pitchFamily="34" charset="-122"/>
                  <a:cs typeface="Arial" panose="020B0604020202020204" pitchFamily="34" charset="0"/>
                </a:rPr>
                <a:t>June-October 1993-2020, 0.25° grid</a:t>
              </a:r>
            </a:p>
          </p:txBody>
        </p:sp>
      </p:grpSp>
      <p:grpSp>
        <p:nvGrpSpPr>
          <p:cNvPr id="35" name="그룹 34">
            <a:extLst>
              <a:ext uri="{FF2B5EF4-FFF2-40B4-BE49-F238E27FC236}">
                <a16:creationId xmlns:a16="http://schemas.microsoft.com/office/drawing/2014/main" id="{C10ADCF7-DD4D-F379-FE60-A9D44D2992B9}"/>
              </a:ext>
            </a:extLst>
          </p:cNvPr>
          <p:cNvGrpSpPr/>
          <p:nvPr/>
        </p:nvGrpSpPr>
        <p:grpSpPr>
          <a:xfrm>
            <a:off x="205739" y="4098920"/>
            <a:ext cx="2865121" cy="2600475"/>
            <a:chOff x="365760" y="1362169"/>
            <a:chExt cx="2792730" cy="3278411"/>
          </a:xfrm>
        </p:grpSpPr>
        <p:sp>
          <p:nvSpPr>
            <p:cNvPr id="36" name="Rectangle 20">
              <a:extLst>
                <a:ext uri="{FF2B5EF4-FFF2-40B4-BE49-F238E27FC236}">
                  <a16:creationId xmlns:a16="http://schemas.microsoft.com/office/drawing/2014/main" id="{2236F6A4-2373-C235-4150-7CE925AFC742}"/>
                </a:ext>
              </a:extLst>
            </p:cNvPr>
            <p:cNvSpPr/>
            <p:nvPr/>
          </p:nvSpPr>
          <p:spPr>
            <a:xfrm>
              <a:off x="377190" y="1362170"/>
              <a:ext cx="2781300" cy="3278410"/>
            </a:xfrm>
            <a:prstGeom prst="rect">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AB5E951-060F-27E5-92AB-5F432C2E1119}"/>
                    </a:ext>
                  </a:extLst>
                </p:cNvPr>
                <p:cNvSpPr txBox="1"/>
                <p:nvPr/>
              </p:nvSpPr>
              <p:spPr>
                <a:xfrm>
                  <a:off x="365760" y="2116919"/>
                  <a:ext cx="2781300" cy="3436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ko-KR" sz="1000" i="1">
                                <a:latin typeface="Cambria Math" panose="02040503050406030204" pitchFamily="18" charset="0"/>
                              </a:rPr>
                            </m:ctrlPr>
                          </m:sSubPr>
                          <m:e>
                            <m:r>
                              <a:rPr lang="en-US" altLang="ko-KR" sz="1000" i="1">
                                <a:latin typeface="Cambria Math" panose="02040503050406030204" pitchFamily="18" charset="0"/>
                              </a:rPr>
                              <m:t>𝑉</m:t>
                            </m:r>
                          </m:e>
                          <m:sub>
                            <m:r>
                              <m:rPr>
                                <m:nor/>
                              </m:rPr>
                              <a:rPr lang="en-US" altLang="ko-KR" sz="1000"/>
                              <m:t>dir</m:t>
                            </m:r>
                          </m:sub>
                        </m:sSub>
                        <m:d>
                          <m:dPr>
                            <m:ctrlPr>
                              <a:rPr lang="ko-KR" altLang="ko-KR" sz="1000" i="1">
                                <a:latin typeface="Cambria Math" panose="02040503050406030204" pitchFamily="18" charset="0"/>
                              </a:rPr>
                            </m:ctrlPr>
                          </m:dPr>
                          <m:e>
                            <m:r>
                              <a:rPr lang="en-US" altLang="ko-KR" sz="1000" i="1">
                                <a:latin typeface="Cambria Math" panose="02040503050406030204" pitchFamily="18" charset="0"/>
                              </a:rPr>
                              <m:t>𝑖</m:t>
                            </m:r>
                            <m:r>
                              <a:rPr lang="en-US" altLang="ko-KR" sz="1000" i="1">
                                <a:latin typeface="Cambria Math" panose="02040503050406030204" pitchFamily="18" charset="0"/>
                              </a:rPr>
                              <m:t>,</m:t>
                            </m:r>
                            <m:r>
                              <a:rPr lang="en-US" altLang="ko-KR" sz="1000" i="1">
                                <a:latin typeface="Cambria Math" panose="02040503050406030204" pitchFamily="18" charset="0"/>
                              </a:rPr>
                              <m:t>𝑗</m:t>
                            </m:r>
                            <m:r>
                              <a:rPr lang="en-US" altLang="ko-KR" sz="1000" i="1">
                                <a:latin typeface="Cambria Math" panose="02040503050406030204" pitchFamily="18" charset="0"/>
                              </a:rPr>
                              <m:t>,</m:t>
                            </m:r>
                            <m:r>
                              <a:rPr lang="en-US" altLang="ko-KR" sz="1000" i="1">
                                <a:latin typeface="Cambria Math" panose="02040503050406030204" pitchFamily="18" charset="0"/>
                              </a:rPr>
                              <m:t>𝑘</m:t>
                            </m:r>
                          </m:e>
                        </m:d>
                        <m:r>
                          <a:rPr lang="en-US" altLang="ko-KR" sz="1000">
                            <a:latin typeface="Cambria Math" panose="02040503050406030204" pitchFamily="18" charset="0"/>
                          </a:rPr>
                          <m:t>=</m:t>
                        </m:r>
                        <m:acc>
                          <m:accPr>
                            <m:chr m:val="̅"/>
                            <m:ctrlPr>
                              <a:rPr lang="ko-KR" altLang="ko-KR" sz="1000" i="1">
                                <a:latin typeface="Cambria Math" panose="02040503050406030204" pitchFamily="18" charset="0"/>
                              </a:rPr>
                            </m:ctrlPr>
                          </m:accPr>
                          <m:e>
                            <m:r>
                              <a:rPr lang="en-US" altLang="ko-KR" sz="1000" i="1">
                                <a:latin typeface="Cambria Math" panose="02040503050406030204" pitchFamily="18" charset="0"/>
                              </a:rPr>
                              <m:t>𝑢</m:t>
                            </m:r>
                          </m:e>
                        </m:acc>
                        <m:d>
                          <m:dPr>
                            <m:ctrlPr>
                              <a:rPr lang="ko-KR" altLang="ko-KR" sz="1000" i="1">
                                <a:latin typeface="Cambria Math" panose="02040503050406030204" pitchFamily="18" charset="0"/>
                              </a:rPr>
                            </m:ctrlPr>
                          </m:dPr>
                          <m:e>
                            <m:r>
                              <a:rPr lang="en-US" altLang="ko-KR" sz="1000" i="1">
                                <a:latin typeface="Cambria Math" panose="02040503050406030204" pitchFamily="18" charset="0"/>
                              </a:rPr>
                              <m:t>𝑖</m:t>
                            </m:r>
                            <m:r>
                              <a:rPr lang="en-US" altLang="ko-KR" sz="1000" i="1">
                                <a:latin typeface="Cambria Math" panose="02040503050406030204" pitchFamily="18" charset="0"/>
                              </a:rPr>
                              <m:t>,</m:t>
                            </m:r>
                            <m:r>
                              <a:rPr lang="en-US" altLang="ko-KR" sz="1000" i="1">
                                <a:latin typeface="Cambria Math" panose="02040503050406030204" pitchFamily="18" charset="0"/>
                              </a:rPr>
                              <m:t>𝑗</m:t>
                            </m:r>
                            <m:r>
                              <a:rPr lang="en-US" altLang="ko-KR" sz="1000" i="1">
                                <a:latin typeface="Cambria Math" panose="02040503050406030204" pitchFamily="18" charset="0"/>
                              </a:rPr>
                              <m:t>,</m:t>
                            </m:r>
                            <m:r>
                              <a:rPr lang="en-US" altLang="ko-KR" sz="1000" i="1">
                                <a:latin typeface="Cambria Math" panose="02040503050406030204" pitchFamily="18" charset="0"/>
                              </a:rPr>
                              <m:t>𝑘</m:t>
                            </m:r>
                          </m:e>
                        </m:d>
                        <m:r>
                          <m:rPr>
                            <m:sty m:val="p"/>
                          </m:rPr>
                          <a:rPr lang="en-US" altLang="ko-KR" sz="1000">
                            <a:latin typeface="Cambria Math" panose="02040503050406030204" pitchFamily="18" charset="0"/>
                          </a:rPr>
                          <m:t>co</m:t>
                        </m:r>
                        <m:func>
                          <m:funcPr>
                            <m:ctrlPr>
                              <a:rPr lang="ko-KR" altLang="ko-KR" sz="1000" i="1">
                                <a:latin typeface="Cambria Math" panose="02040503050406030204" pitchFamily="18" charset="0"/>
                              </a:rPr>
                            </m:ctrlPr>
                          </m:funcPr>
                          <m:fName>
                            <m:r>
                              <a:rPr lang="en-US" altLang="ko-KR" sz="1000" i="1">
                                <a:latin typeface="Cambria Math" panose="02040503050406030204" pitchFamily="18" charset="0"/>
                              </a:rPr>
                              <m:t>𝑠</m:t>
                            </m:r>
                          </m:fName>
                          <m:e>
                            <m:r>
                              <a:rPr lang="en-US" altLang="ko-KR" sz="1000" i="1">
                                <a:latin typeface="Cambria Math" panose="02040503050406030204" pitchFamily="18" charset="0"/>
                              </a:rPr>
                              <m:t>𝜃</m:t>
                            </m:r>
                          </m:e>
                        </m:func>
                        <m:r>
                          <a:rPr lang="en-US" altLang="ko-KR" sz="1000">
                            <a:latin typeface="Cambria Math" panose="02040503050406030204" pitchFamily="18" charset="0"/>
                          </a:rPr>
                          <m:t>+</m:t>
                        </m:r>
                        <m:acc>
                          <m:accPr>
                            <m:chr m:val="̅"/>
                            <m:ctrlPr>
                              <a:rPr lang="ko-KR" altLang="ko-KR" sz="1000" i="1">
                                <a:latin typeface="Cambria Math" panose="02040503050406030204" pitchFamily="18" charset="0"/>
                              </a:rPr>
                            </m:ctrlPr>
                          </m:accPr>
                          <m:e>
                            <m:r>
                              <a:rPr lang="en-US" altLang="ko-KR" sz="1000" i="1">
                                <a:latin typeface="Cambria Math" panose="02040503050406030204" pitchFamily="18" charset="0"/>
                              </a:rPr>
                              <m:t>𝑣</m:t>
                            </m:r>
                          </m:e>
                        </m:acc>
                        <m:d>
                          <m:dPr>
                            <m:ctrlPr>
                              <a:rPr lang="ko-KR" altLang="ko-KR" sz="1000" i="1">
                                <a:latin typeface="Cambria Math" panose="02040503050406030204" pitchFamily="18" charset="0"/>
                              </a:rPr>
                            </m:ctrlPr>
                          </m:dPr>
                          <m:e>
                            <m:r>
                              <a:rPr lang="en-US" altLang="ko-KR" sz="1000" i="1">
                                <a:latin typeface="Cambria Math" panose="02040503050406030204" pitchFamily="18" charset="0"/>
                              </a:rPr>
                              <m:t>𝑖</m:t>
                            </m:r>
                            <m:r>
                              <a:rPr lang="en-US" altLang="ko-KR" sz="1000" i="1">
                                <a:latin typeface="Cambria Math" panose="02040503050406030204" pitchFamily="18" charset="0"/>
                              </a:rPr>
                              <m:t>,</m:t>
                            </m:r>
                            <m:r>
                              <a:rPr lang="en-US" altLang="ko-KR" sz="1000" i="1">
                                <a:latin typeface="Cambria Math" panose="02040503050406030204" pitchFamily="18" charset="0"/>
                              </a:rPr>
                              <m:t>𝑗</m:t>
                            </m:r>
                            <m:r>
                              <a:rPr lang="en-US" altLang="ko-KR" sz="1000" i="1">
                                <a:latin typeface="Cambria Math" panose="02040503050406030204" pitchFamily="18" charset="0"/>
                              </a:rPr>
                              <m:t>,</m:t>
                            </m:r>
                            <m:r>
                              <a:rPr lang="en-US" altLang="ko-KR" sz="1000" i="1">
                                <a:latin typeface="Cambria Math" panose="02040503050406030204" pitchFamily="18" charset="0"/>
                              </a:rPr>
                              <m:t>𝑘</m:t>
                            </m:r>
                          </m:e>
                        </m:d>
                        <m:r>
                          <m:rPr>
                            <m:sty m:val="p"/>
                          </m:rPr>
                          <a:rPr lang="en-US" altLang="ko-KR" sz="1000">
                            <a:latin typeface="Cambria Math" panose="02040503050406030204" pitchFamily="18" charset="0"/>
                          </a:rPr>
                          <m:t>si</m:t>
                        </m:r>
                        <m:func>
                          <m:funcPr>
                            <m:ctrlPr>
                              <a:rPr lang="ko-KR" altLang="ko-KR" sz="1000" i="1" smtClean="0">
                                <a:latin typeface="Cambria Math" panose="02040503050406030204" pitchFamily="18" charset="0"/>
                              </a:rPr>
                            </m:ctrlPr>
                          </m:funcPr>
                          <m:fName>
                            <m:r>
                              <a:rPr lang="en-US" altLang="ko-KR" sz="1000" i="1">
                                <a:latin typeface="Cambria Math" panose="02040503050406030204" pitchFamily="18" charset="0"/>
                              </a:rPr>
                              <m:t>𝑛</m:t>
                            </m:r>
                          </m:fName>
                          <m:e>
                            <m:r>
                              <a:rPr lang="en-US" altLang="ko-KR" sz="1000" i="1">
                                <a:latin typeface="Cambria Math" panose="02040503050406030204" pitchFamily="18" charset="0"/>
                              </a:rPr>
                              <m:t>𝜃</m:t>
                            </m:r>
                            <m:r>
                              <a:rPr lang="en-US" altLang="ko-KR" sz="1000" i="1">
                                <a:latin typeface="Cambria Math" panose="02040503050406030204" pitchFamily="18" charset="0"/>
                              </a:rPr>
                              <m:t>,</m:t>
                            </m:r>
                          </m:e>
                        </m:func>
                      </m:oMath>
                    </m:oMathPara>
                  </a14:m>
                  <a:endParaRPr lang="ko-KR" altLang="en-US" sz="1000" dirty="0"/>
                </a:p>
              </p:txBody>
            </p:sp>
          </mc:Choice>
          <mc:Fallback xmlns="">
            <p:sp>
              <p:nvSpPr>
                <p:cNvPr id="30" name="TextBox 29">
                  <a:extLst>
                    <a:ext uri="{FF2B5EF4-FFF2-40B4-BE49-F238E27FC236}">
                      <a16:creationId xmlns:a16="http://schemas.microsoft.com/office/drawing/2014/main" id="{D709CD6F-F682-2717-9604-D891A9F04829}"/>
                    </a:ext>
                  </a:extLst>
                </p:cNvPr>
                <p:cNvSpPr txBox="1">
                  <a:spLocks noRot="1" noChangeAspect="1" noMove="1" noResize="1" noEditPoints="1" noAdjustHandles="1" noChangeArrowheads="1" noChangeShapeType="1" noTextEdit="1"/>
                </p:cNvSpPr>
                <p:nvPr/>
              </p:nvSpPr>
              <p:spPr>
                <a:xfrm>
                  <a:off x="365760" y="2116919"/>
                  <a:ext cx="2781300" cy="343668"/>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022A323-4009-2A84-7986-0C65E2C0FE53}"/>
                    </a:ext>
                  </a:extLst>
                </p:cNvPr>
                <p:cNvSpPr txBox="1"/>
                <p:nvPr/>
              </p:nvSpPr>
              <p:spPr>
                <a:xfrm>
                  <a:off x="495300" y="2571750"/>
                  <a:ext cx="2522220" cy="5343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ko-KR" altLang="en-US" sz="1000" i="1" smtClean="0">
                            <a:latin typeface="Cambria Math" panose="02040503050406030204" pitchFamily="18" charset="0"/>
                          </a:rPr>
                          <m:t>𝑄</m:t>
                        </m:r>
                        <m:d>
                          <m:dPr>
                            <m:ctrlPr>
                              <a:rPr lang="ko-KR" altLang="en-US" sz="1000" i="1">
                                <a:latin typeface="Cambria Math" panose="02040503050406030204" pitchFamily="18" charset="0"/>
                              </a:rPr>
                            </m:ctrlPr>
                          </m:dPr>
                          <m:e>
                            <m:r>
                              <a:rPr lang="ko-KR" altLang="en-US" sz="1000" i="1">
                                <a:latin typeface="Cambria Math" panose="02040503050406030204" pitchFamily="18" charset="0"/>
                              </a:rPr>
                              <m:t>𝑖</m:t>
                            </m:r>
                            <m:r>
                              <a:rPr lang="ko-KR" altLang="en-US" sz="1000" i="0">
                                <a:latin typeface="Cambria Math" panose="02040503050406030204" pitchFamily="18" charset="0"/>
                              </a:rPr>
                              <m:t>,</m:t>
                            </m:r>
                            <m:r>
                              <a:rPr lang="ko-KR" altLang="en-US" sz="1000" i="1">
                                <a:latin typeface="Cambria Math" panose="02040503050406030204" pitchFamily="18" charset="0"/>
                              </a:rPr>
                              <m:t>𝑗</m:t>
                            </m:r>
                          </m:e>
                        </m:d>
                        <m:r>
                          <a:rPr lang="ko-KR" altLang="en-US" sz="1000" i="0">
                            <a:latin typeface="Cambria Math" panose="02040503050406030204" pitchFamily="18" charset="0"/>
                          </a:rPr>
                          <m:t>=</m:t>
                        </m:r>
                        <m:nary>
                          <m:naryPr>
                            <m:chr m:val="∑"/>
                            <m:limLoc m:val="subSup"/>
                            <m:supHide m:val="on"/>
                            <m:ctrlPr>
                              <a:rPr lang="ko-KR" altLang="en-US" sz="1000" i="1">
                                <a:latin typeface="Cambria Math" panose="02040503050406030204" pitchFamily="18" charset="0"/>
                              </a:rPr>
                            </m:ctrlPr>
                          </m:naryPr>
                          <m:sub>
                            <m:r>
                              <m:rPr>
                                <m:sty m:val="p"/>
                              </m:rPr>
                              <a:rPr lang="ko-KR" altLang="en-US" sz="1000" i="0">
                                <a:latin typeface="Cambria Math" panose="02040503050406030204" pitchFamily="18" charset="0"/>
                              </a:rPr>
                              <m:t>k</m:t>
                            </m:r>
                            <m:r>
                              <a:rPr lang="ko-KR" altLang="en-US" sz="1000" i="0">
                                <a:latin typeface="Cambria Math" panose="02040503050406030204" pitchFamily="18" charset="0"/>
                              </a:rPr>
                              <m:t> : </m:t>
                            </m:r>
                            <m:sSub>
                              <m:sSubPr>
                                <m:ctrlPr>
                                  <a:rPr lang="ko-KR" altLang="en-US" sz="1000" i="1">
                                    <a:latin typeface="Cambria Math" panose="02040503050406030204" pitchFamily="18" charset="0"/>
                                  </a:rPr>
                                </m:ctrlPr>
                              </m:sSubPr>
                              <m:e>
                                <m:r>
                                  <a:rPr lang="ko-KR" altLang="en-US" sz="1000" i="1">
                                    <a:latin typeface="Cambria Math" panose="02040503050406030204" pitchFamily="18" charset="0"/>
                                  </a:rPr>
                                  <m:t>𝑧</m:t>
                                </m:r>
                              </m:e>
                              <m:sub>
                                <m:r>
                                  <a:rPr lang="ko-KR" altLang="en-US" sz="1000" i="1">
                                    <a:latin typeface="Cambria Math" panose="02040503050406030204" pitchFamily="18" charset="0"/>
                                  </a:rPr>
                                  <m:t>𝑘</m:t>
                                </m:r>
                              </m:sub>
                            </m:sSub>
                            <m:r>
                              <a:rPr lang="ko-KR" altLang="en-US" sz="1000" i="0">
                                <a:latin typeface="Cambria Math" panose="02040503050406030204" pitchFamily="18" charset="0"/>
                              </a:rPr>
                              <m:t>∈</m:t>
                            </m:r>
                            <m:d>
                              <m:dPr>
                                <m:begChr m:val="["/>
                                <m:endChr m:val="]"/>
                                <m:ctrlPr>
                                  <a:rPr lang="ko-KR" altLang="en-US" sz="1000" i="1">
                                    <a:latin typeface="Cambria Math" panose="02040503050406030204" pitchFamily="18" charset="0"/>
                                  </a:rPr>
                                </m:ctrlPr>
                              </m:dPr>
                              <m:e>
                                <m:r>
                                  <a:rPr lang="ko-KR" altLang="en-US" sz="1000" i="0">
                                    <a:latin typeface="Cambria Math" panose="02040503050406030204" pitchFamily="18" charset="0"/>
                                  </a:rPr>
                                  <m:t>−100,0</m:t>
                                </m:r>
                              </m:e>
                            </m:d>
                          </m:sub>
                          <m:sup/>
                          <m:e>
                            <m:sSub>
                              <m:sSubPr>
                                <m:ctrlPr>
                                  <a:rPr lang="ko-KR" altLang="en-US" sz="1000" i="1">
                                    <a:latin typeface="Cambria Math" panose="02040503050406030204" pitchFamily="18" charset="0"/>
                                  </a:rPr>
                                </m:ctrlPr>
                              </m:sSubPr>
                              <m:e>
                                <m:r>
                                  <a:rPr lang="ko-KR" altLang="en-US" sz="1000" i="1">
                                    <a:latin typeface="Cambria Math" panose="02040503050406030204" pitchFamily="18" charset="0"/>
                                  </a:rPr>
                                  <m:t>𝑉</m:t>
                                </m:r>
                              </m:e>
                              <m:sub>
                                <m:r>
                                  <m:rPr>
                                    <m:sty m:val="p"/>
                                  </m:rPr>
                                  <a:rPr lang="ko-KR" altLang="en-US" sz="1000" i="0">
                                    <a:latin typeface="Cambria Math" panose="02040503050406030204" pitchFamily="18" charset="0"/>
                                  </a:rPr>
                                  <m:t>dir</m:t>
                                </m:r>
                              </m:sub>
                            </m:sSub>
                            <m:d>
                              <m:dPr>
                                <m:ctrlPr>
                                  <a:rPr lang="ko-KR" altLang="en-US" sz="1000" i="1">
                                    <a:latin typeface="Cambria Math" panose="02040503050406030204" pitchFamily="18" charset="0"/>
                                  </a:rPr>
                                </m:ctrlPr>
                              </m:dPr>
                              <m:e>
                                <m:r>
                                  <a:rPr lang="ko-KR" altLang="en-US" sz="1000" i="1">
                                    <a:latin typeface="Cambria Math" panose="02040503050406030204" pitchFamily="18" charset="0"/>
                                  </a:rPr>
                                  <m:t>𝑖</m:t>
                                </m:r>
                                <m:r>
                                  <a:rPr lang="ko-KR" altLang="en-US" sz="1000" i="0">
                                    <a:latin typeface="Cambria Math" panose="02040503050406030204" pitchFamily="18" charset="0"/>
                                  </a:rPr>
                                  <m:t>,</m:t>
                                </m:r>
                                <m:r>
                                  <a:rPr lang="ko-KR" altLang="en-US" sz="1000" i="1">
                                    <a:latin typeface="Cambria Math" panose="02040503050406030204" pitchFamily="18" charset="0"/>
                                  </a:rPr>
                                  <m:t>𝑗</m:t>
                                </m:r>
                                <m:r>
                                  <a:rPr lang="ko-KR" altLang="en-US" sz="1000" i="0">
                                    <a:latin typeface="Cambria Math" panose="02040503050406030204" pitchFamily="18" charset="0"/>
                                  </a:rPr>
                                  <m:t>,</m:t>
                                </m:r>
                                <m:r>
                                  <a:rPr lang="ko-KR" altLang="en-US" sz="1000" i="1">
                                    <a:latin typeface="Cambria Math" panose="02040503050406030204" pitchFamily="18" charset="0"/>
                                  </a:rPr>
                                  <m:t>𝑘</m:t>
                                </m:r>
                              </m:e>
                            </m:d>
                          </m:e>
                        </m:nary>
                        <m:r>
                          <a:rPr lang="ko-KR" altLang="en-US" sz="1000" i="0">
                            <a:latin typeface="Cambria Math" panose="02040503050406030204" pitchFamily="18" charset="0"/>
                          </a:rPr>
                          <m:t> </m:t>
                        </m:r>
                        <m:r>
                          <m:rPr>
                            <m:sty m:val="p"/>
                          </m:rPr>
                          <a:rPr lang="ko-KR" altLang="en-US" sz="1000" i="0">
                            <a:latin typeface="Cambria Math" panose="02040503050406030204" pitchFamily="18" charset="0"/>
                          </a:rPr>
                          <m:t>Δz</m:t>
                        </m:r>
                        <m:d>
                          <m:dPr>
                            <m:ctrlPr>
                              <a:rPr lang="ko-KR" altLang="en-US" sz="1000" i="1">
                                <a:latin typeface="Cambria Math" panose="02040503050406030204" pitchFamily="18" charset="0"/>
                              </a:rPr>
                            </m:ctrlPr>
                          </m:dPr>
                          <m:e>
                            <m:r>
                              <a:rPr lang="ko-KR" altLang="en-US" sz="1000" i="1">
                                <a:latin typeface="Cambria Math" panose="02040503050406030204" pitchFamily="18" charset="0"/>
                              </a:rPr>
                              <m:t>𝑘</m:t>
                            </m:r>
                          </m:e>
                        </m:d>
                        <m:r>
                          <a:rPr lang="ko-KR" altLang="en-US" sz="1000" i="0">
                            <a:latin typeface="Cambria Math" panose="02040503050406030204" pitchFamily="18" charset="0"/>
                          </a:rPr>
                          <m:t>,</m:t>
                        </m:r>
                        <m:r>
                          <a:rPr lang="en-US" altLang="ko-KR" sz="1000" b="0" i="0" smtClean="0">
                            <a:latin typeface="Cambria Math" panose="02040503050406030204" pitchFamily="18" charset="0"/>
                          </a:rPr>
                          <m:t>  </m:t>
                        </m:r>
                      </m:oMath>
                    </m:oMathPara>
                  </a14:m>
                  <a:endParaRPr lang="ko-KR" altLang="en-US" sz="1000" dirty="0"/>
                </a:p>
              </p:txBody>
            </p:sp>
          </mc:Choice>
          <mc:Fallback xmlns="">
            <p:sp>
              <p:nvSpPr>
                <p:cNvPr id="34" name="TextBox 33">
                  <a:extLst>
                    <a:ext uri="{FF2B5EF4-FFF2-40B4-BE49-F238E27FC236}">
                      <a16:creationId xmlns:a16="http://schemas.microsoft.com/office/drawing/2014/main" id="{4C8351B0-BF35-D358-F56F-271173E9AC9B}"/>
                    </a:ext>
                  </a:extLst>
                </p:cNvPr>
                <p:cNvSpPr txBox="1">
                  <a:spLocks noRot="1" noChangeAspect="1" noMove="1" noResize="1" noEditPoints="1" noAdjustHandles="1" noChangeArrowheads="1" noChangeShapeType="1" noTextEdit="1"/>
                </p:cNvSpPr>
                <p:nvPr/>
              </p:nvSpPr>
              <p:spPr>
                <a:xfrm>
                  <a:off x="495300" y="2571750"/>
                  <a:ext cx="2522220" cy="534356"/>
                </a:xfrm>
                <a:prstGeom prst="rect">
                  <a:avLst/>
                </a:prstGeom>
                <a:blipFill>
                  <a:blip r:embed="rId6"/>
                  <a:stretch>
                    <a:fillRect t="-103448" b="-11954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30DC7A1-F4BB-57AF-4234-B095A4B657DD}"/>
                    </a:ext>
                  </a:extLst>
                </p:cNvPr>
                <p:cNvSpPr txBox="1"/>
                <p:nvPr/>
              </p:nvSpPr>
              <p:spPr>
                <a:xfrm>
                  <a:off x="369570" y="3167227"/>
                  <a:ext cx="2773680" cy="5468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ko-KR" altLang="en-US" sz="1000" i="1" smtClean="0">
                            <a:latin typeface="Cambria Math" panose="02040503050406030204" pitchFamily="18" charset="0"/>
                          </a:rPr>
                          <m:t>𝑊</m:t>
                        </m:r>
                        <m:d>
                          <m:dPr>
                            <m:ctrlPr>
                              <a:rPr lang="ko-KR" altLang="en-US" sz="1000" i="1">
                                <a:latin typeface="Cambria Math" panose="02040503050406030204" pitchFamily="18" charset="0"/>
                              </a:rPr>
                            </m:ctrlPr>
                          </m:dPr>
                          <m:e>
                            <m:r>
                              <a:rPr lang="ko-KR" altLang="en-US" sz="1000" i="1">
                                <a:latin typeface="Cambria Math" panose="02040503050406030204" pitchFamily="18" charset="0"/>
                              </a:rPr>
                              <m:t>𝑖</m:t>
                            </m:r>
                            <m:r>
                              <a:rPr lang="ko-KR" altLang="en-US" sz="1000" i="0">
                                <a:latin typeface="Cambria Math" panose="02040503050406030204" pitchFamily="18" charset="0"/>
                              </a:rPr>
                              <m:t>,</m:t>
                            </m:r>
                            <m:r>
                              <a:rPr lang="ko-KR" altLang="en-US" sz="1000" i="1">
                                <a:latin typeface="Cambria Math" panose="02040503050406030204" pitchFamily="18" charset="0"/>
                              </a:rPr>
                              <m:t>𝑗</m:t>
                            </m:r>
                          </m:e>
                        </m:d>
                        <m:r>
                          <a:rPr lang="ko-KR" altLang="en-US" sz="1000" i="0">
                            <a:latin typeface="Cambria Math" panose="02040503050406030204" pitchFamily="18" charset="0"/>
                          </a:rPr>
                          <m:t>=</m:t>
                        </m:r>
                        <m:rad>
                          <m:radPr>
                            <m:degHide m:val="on"/>
                            <m:ctrlPr>
                              <a:rPr lang="ko-KR" altLang="en-US" sz="1000" i="1">
                                <a:latin typeface="Cambria Math" panose="02040503050406030204" pitchFamily="18" charset="0"/>
                              </a:rPr>
                            </m:ctrlPr>
                          </m:radPr>
                          <m:deg/>
                          <m:e>
                            <m:sSup>
                              <m:sSupPr>
                                <m:ctrlPr>
                                  <a:rPr lang="ko-KR" altLang="en-US" sz="1000" i="1">
                                    <a:latin typeface="Cambria Math" panose="02040503050406030204" pitchFamily="18" charset="0"/>
                                  </a:rPr>
                                </m:ctrlPr>
                              </m:sSupPr>
                              <m:e>
                                <m:d>
                                  <m:dPr>
                                    <m:ctrlPr>
                                      <a:rPr lang="ko-KR" altLang="en-US" sz="1000" i="1">
                                        <a:latin typeface="Cambria Math" panose="02040503050406030204" pitchFamily="18" charset="0"/>
                                      </a:rPr>
                                    </m:ctrlPr>
                                  </m:dPr>
                                  <m:e>
                                    <m:r>
                                      <m:rPr>
                                        <m:sty m:val="p"/>
                                      </m:rPr>
                                      <a:rPr lang="ko-KR" altLang="en-US" sz="1000" i="0">
                                        <a:latin typeface="Cambria Math" panose="02040503050406030204" pitchFamily="18" charset="0"/>
                                      </a:rPr>
                                      <m:t>Δ</m:t>
                                    </m:r>
                                    <m:sSub>
                                      <m:sSubPr>
                                        <m:ctrlPr>
                                          <a:rPr lang="ko-KR" altLang="en-US" sz="1000" i="1">
                                            <a:latin typeface="Cambria Math" panose="02040503050406030204" pitchFamily="18" charset="0"/>
                                          </a:rPr>
                                        </m:ctrlPr>
                                      </m:sSubPr>
                                      <m:e>
                                        <m:r>
                                          <a:rPr lang="ko-KR" altLang="en-US" sz="1000" i="1">
                                            <a:latin typeface="Cambria Math" panose="02040503050406030204" pitchFamily="18" charset="0"/>
                                          </a:rPr>
                                          <m:t>𝑥</m:t>
                                        </m:r>
                                      </m:e>
                                      <m:sub>
                                        <m:r>
                                          <m:rPr>
                                            <m:sty m:val="p"/>
                                          </m:rPr>
                                          <a:rPr lang="ko-KR" altLang="en-US" sz="1000" i="0">
                                            <a:latin typeface="Cambria Math" panose="02040503050406030204" pitchFamily="18" charset="0"/>
                                          </a:rPr>
                                          <m:t>grid</m:t>
                                        </m:r>
                                      </m:sub>
                                    </m:sSub>
                                    <m:d>
                                      <m:dPr>
                                        <m:ctrlPr>
                                          <a:rPr lang="ko-KR" altLang="en-US" sz="1000" i="1">
                                            <a:latin typeface="Cambria Math" panose="02040503050406030204" pitchFamily="18" charset="0"/>
                                          </a:rPr>
                                        </m:ctrlPr>
                                      </m:dPr>
                                      <m:e>
                                        <m:r>
                                          <a:rPr lang="ko-KR" altLang="en-US" sz="1000" i="1">
                                            <a:latin typeface="Cambria Math" panose="02040503050406030204" pitchFamily="18" charset="0"/>
                                          </a:rPr>
                                          <m:t>𝑖</m:t>
                                        </m:r>
                                        <m:r>
                                          <a:rPr lang="ko-KR" altLang="en-US" sz="1000" i="0">
                                            <a:latin typeface="Cambria Math" panose="02040503050406030204" pitchFamily="18" charset="0"/>
                                          </a:rPr>
                                          <m:t>,</m:t>
                                        </m:r>
                                        <m:r>
                                          <a:rPr lang="ko-KR" altLang="en-US" sz="1000" i="1">
                                            <a:latin typeface="Cambria Math" panose="02040503050406030204" pitchFamily="18" charset="0"/>
                                          </a:rPr>
                                          <m:t>𝑗</m:t>
                                        </m:r>
                                      </m:e>
                                    </m:d>
                                  </m:e>
                                </m:d>
                              </m:e>
                              <m:sup>
                                <m:r>
                                  <a:rPr lang="ko-KR" altLang="en-US" sz="1000" i="0">
                                    <a:latin typeface="Cambria Math" panose="02040503050406030204" pitchFamily="18" charset="0"/>
                                  </a:rPr>
                                  <m:t>2</m:t>
                                </m:r>
                              </m:sup>
                            </m:sSup>
                            <m:r>
                              <a:rPr lang="ko-KR" altLang="en-US" sz="1000" i="0">
                                <a:latin typeface="Cambria Math" panose="02040503050406030204" pitchFamily="18" charset="0"/>
                              </a:rPr>
                              <m:t>+</m:t>
                            </m:r>
                            <m:sSup>
                              <m:sSupPr>
                                <m:ctrlPr>
                                  <a:rPr lang="ko-KR" altLang="en-US" sz="1000" i="1">
                                    <a:latin typeface="Cambria Math" panose="02040503050406030204" pitchFamily="18" charset="0"/>
                                  </a:rPr>
                                </m:ctrlPr>
                              </m:sSupPr>
                              <m:e>
                                <m:d>
                                  <m:dPr>
                                    <m:ctrlPr>
                                      <a:rPr lang="ko-KR" altLang="en-US" sz="1000" i="1">
                                        <a:latin typeface="Cambria Math" panose="02040503050406030204" pitchFamily="18" charset="0"/>
                                      </a:rPr>
                                    </m:ctrlPr>
                                  </m:dPr>
                                  <m:e>
                                    <m:r>
                                      <m:rPr>
                                        <m:sty m:val="p"/>
                                      </m:rPr>
                                      <a:rPr lang="ko-KR" altLang="en-US" sz="1000" i="0">
                                        <a:latin typeface="Cambria Math" panose="02040503050406030204" pitchFamily="18" charset="0"/>
                                      </a:rPr>
                                      <m:t>Δ</m:t>
                                    </m:r>
                                    <m:sSub>
                                      <m:sSubPr>
                                        <m:ctrlPr>
                                          <a:rPr lang="ko-KR" altLang="en-US" sz="1000" i="1">
                                            <a:latin typeface="Cambria Math" panose="02040503050406030204" pitchFamily="18" charset="0"/>
                                          </a:rPr>
                                        </m:ctrlPr>
                                      </m:sSubPr>
                                      <m:e>
                                        <m:r>
                                          <a:rPr lang="ko-KR" altLang="en-US" sz="1000" i="1">
                                            <a:latin typeface="Cambria Math" panose="02040503050406030204" pitchFamily="18" charset="0"/>
                                          </a:rPr>
                                          <m:t>𝑦</m:t>
                                        </m:r>
                                      </m:e>
                                      <m:sub>
                                        <m:r>
                                          <m:rPr>
                                            <m:sty m:val="p"/>
                                          </m:rPr>
                                          <a:rPr lang="ko-KR" altLang="en-US" sz="1000" i="0">
                                            <a:latin typeface="Cambria Math" panose="02040503050406030204" pitchFamily="18" charset="0"/>
                                          </a:rPr>
                                          <m:t>grid</m:t>
                                        </m:r>
                                      </m:sub>
                                    </m:sSub>
                                    <m:d>
                                      <m:dPr>
                                        <m:ctrlPr>
                                          <a:rPr lang="ko-KR" altLang="en-US" sz="1000" i="1">
                                            <a:latin typeface="Cambria Math" panose="02040503050406030204" pitchFamily="18" charset="0"/>
                                          </a:rPr>
                                        </m:ctrlPr>
                                      </m:dPr>
                                      <m:e>
                                        <m:r>
                                          <a:rPr lang="ko-KR" altLang="en-US" sz="1000" i="1">
                                            <a:latin typeface="Cambria Math" panose="02040503050406030204" pitchFamily="18" charset="0"/>
                                          </a:rPr>
                                          <m:t>𝑖</m:t>
                                        </m:r>
                                        <m:r>
                                          <a:rPr lang="ko-KR" altLang="en-US" sz="1000" i="0">
                                            <a:latin typeface="Cambria Math" panose="02040503050406030204" pitchFamily="18" charset="0"/>
                                          </a:rPr>
                                          <m:t>,</m:t>
                                        </m:r>
                                        <m:r>
                                          <a:rPr lang="ko-KR" altLang="en-US" sz="1000" i="1">
                                            <a:latin typeface="Cambria Math" panose="02040503050406030204" pitchFamily="18" charset="0"/>
                                          </a:rPr>
                                          <m:t>𝑗</m:t>
                                        </m:r>
                                      </m:e>
                                    </m:d>
                                  </m:e>
                                </m:d>
                              </m:e>
                              <m:sup>
                                <m:r>
                                  <a:rPr lang="ko-KR" altLang="en-US" sz="1000" i="0">
                                    <a:latin typeface="Cambria Math" panose="02040503050406030204" pitchFamily="18" charset="0"/>
                                  </a:rPr>
                                  <m:t>2</m:t>
                                </m:r>
                              </m:sup>
                            </m:sSup>
                          </m:e>
                        </m:rad>
                        <m:r>
                          <a:rPr lang="ko-KR" altLang="en-US" sz="1000" i="0">
                            <a:latin typeface="Cambria Math" panose="02040503050406030204" pitchFamily="18" charset="0"/>
                          </a:rPr>
                          <m:t>,</m:t>
                        </m:r>
                      </m:oMath>
                    </m:oMathPara>
                  </a14:m>
                  <a:endParaRPr lang="ko-KR" altLang="en-US" sz="1000" dirty="0"/>
                </a:p>
              </p:txBody>
            </p:sp>
          </mc:Choice>
          <mc:Fallback xmlns="">
            <p:sp>
              <p:nvSpPr>
                <p:cNvPr id="36" name="TextBox 35">
                  <a:extLst>
                    <a:ext uri="{FF2B5EF4-FFF2-40B4-BE49-F238E27FC236}">
                      <a16:creationId xmlns:a16="http://schemas.microsoft.com/office/drawing/2014/main" id="{ADF6330B-117D-93F8-7C4F-B233306C32BA}"/>
                    </a:ext>
                  </a:extLst>
                </p:cNvPr>
                <p:cNvSpPr txBox="1">
                  <a:spLocks noRot="1" noChangeAspect="1" noMove="1" noResize="1" noEditPoints="1" noAdjustHandles="1" noChangeArrowheads="1" noChangeShapeType="1" noTextEdit="1"/>
                </p:cNvSpPr>
                <p:nvPr/>
              </p:nvSpPr>
              <p:spPr>
                <a:xfrm>
                  <a:off x="369570" y="3167227"/>
                  <a:ext cx="2773680" cy="546895"/>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31EE47C-1222-C580-01D7-9FE39C398073}"/>
                    </a:ext>
                  </a:extLst>
                </p:cNvPr>
                <p:cNvSpPr txBox="1"/>
                <p:nvPr/>
              </p:nvSpPr>
              <p:spPr>
                <a:xfrm>
                  <a:off x="815340" y="3800265"/>
                  <a:ext cx="1882140" cy="3320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ko-KR" altLang="en-US" sz="1000" i="1" smtClean="0">
                            <a:latin typeface="Cambria Math" panose="02040503050406030204" pitchFamily="18" charset="0"/>
                          </a:rPr>
                          <m:t>𝑇</m:t>
                        </m:r>
                        <m:d>
                          <m:dPr>
                            <m:ctrlPr>
                              <a:rPr lang="ko-KR" altLang="en-US" sz="1000" i="1">
                                <a:latin typeface="Cambria Math" panose="02040503050406030204" pitchFamily="18" charset="0"/>
                              </a:rPr>
                            </m:ctrlPr>
                          </m:dPr>
                          <m:e>
                            <m:r>
                              <a:rPr lang="ko-KR" altLang="en-US" sz="1000" i="1">
                                <a:latin typeface="Cambria Math" panose="02040503050406030204" pitchFamily="18" charset="0"/>
                              </a:rPr>
                              <m:t>𝑖</m:t>
                            </m:r>
                            <m:r>
                              <a:rPr lang="ko-KR" altLang="en-US" sz="1000" i="0">
                                <a:latin typeface="Cambria Math" panose="02040503050406030204" pitchFamily="18" charset="0"/>
                              </a:rPr>
                              <m:t>,</m:t>
                            </m:r>
                            <m:r>
                              <a:rPr lang="ko-KR" altLang="en-US" sz="1000" i="1">
                                <a:latin typeface="Cambria Math" panose="02040503050406030204" pitchFamily="18" charset="0"/>
                              </a:rPr>
                              <m:t>𝑗</m:t>
                            </m:r>
                          </m:e>
                        </m:d>
                        <m:r>
                          <a:rPr lang="ko-KR" altLang="en-US" sz="1000" i="0">
                            <a:latin typeface="Cambria Math" panose="02040503050406030204" pitchFamily="18" charset="0"/>
                          </a:rPr>
                          <m:t>=</m:t>
                        </m:r>
                        <m:r>
                          <m:rPr>
                            <m:sty m:val="p"/>
                          </m:rPr>
                          <a:rPr lang="ko-KR" altLang="en-US" sz="1000" i="0">
                            <a:latin typeface="Cambria Math" panose="02040503050406030204" pitchFamily="18" charset="0"/>
                          </a:rPr>
                          <m:t>Q</m:t>
                        </m:r>
                        <m:d>
                          <m:dPr>
                            <m:ctrlPr>
                              <a:rPr lang="ko-KR" altLang="en-US" sz="1000" i="1">
                                <a:latin typeface="Cambria Math" panose="02040503050406030204" pitchFamily="18" charset="0"/>
                              </a:rPr>
                            </m:ctrlPr>
                          </m:dPr>
                          <m:e>
                            <m:r>
                              <a:rPr lang="ko-KR" altLang="en-US" sz="1000" i="1">
                                <a:latin typeface="Cambria Math" panose="02040503050406030204" pitchFamily="18" charset="0"/>
                              </a:rPr>
                              <m:t>𝑖</m:t>
                            </m:r>
                            <m:r>
                              <a:rPr lang="ko-KR" altLang="en-US" sz="1000" i="0">
                                <a:latin typeface="Cambria Math" panose="02040503050406030204" pitchFamily="18" charset="0"/>
                              </a:rPr>
                              <m:t>,</m:t>
                            </m:r>
                            <m:r>
                              <a:rPr lang="ko-KR" altLang="en-US" sz="1000" i="1">
                                <a:latin typeface="Cambria Math" panose="02040503050406030204" pitchFamily="18" charset="0"/>
                              </a:rPr>
                              <m:t>𝑗</m:t>
                            </m:r>
                          </m:e>
                        </m:d>
                        <m:r>
                          <a:rPr lang="ko-KR" altLang="en-US" sz="1000" i="0">
                            <a:latin typeface="Cambria Math" panose="02040503050406030204" pitchFamily="18" charset="0"/>
                          </a:rPr>
                          <m:t>×</m:t>
                        </m:r>
                        <m:r>
                          <m:rPr>
                            <m:sty m:val="p"/>
                          </m:rPr>
                          <a:rPr lang="ko-KR" altLang="en-US" sz="1000" i="0">
                            <a:latin typeface="Cambria Math" panose="02040503050406030204" pitchFamily="18" charset="0"/>
                          </a:rPr>
                          <m:t>W</m:t>
                        </m:r>
                        <m:d>
                          <m:dPr>
                            <m:ctrlPr>
                              <a:rPr lang="ko-KR" altLang="en-US" sz="1000" i="1">
                                <a:latin typeface="Cambria Math" panose="02040503050406030204" pitchFamily="18" charset="0"/>
                              </a:rPr>
                            </m:ctrlPr>
                          </m:dPr>
                          <m:e>
                            <m:r>
                              <a:rPr lang="ko-KR" altLang="en-US" sz="1000" i="1">
                                <a:latin typeface="Cambria Math" panose="02040503050406030204" pitchFamily="18" charset="0"/>
                              </a:rPr>
                              <m:t>𝑖</m:t>
                            </m:r>
                            <m:r>
                              <a:rPr lang="ko-KR" altLang="en-US" sz="1000" i="0">
                                <a:latin typeface="Cambria Math" panose="02040503050406030204" pitchFamily="18" charset="0"/>
                              </a:rPr>
                              <m:t>,</m:t>
                            </m:r>
                            <m:r>
                              <a:rPr lang="ko-KR" altLang="en-US" sz="1000" i="1">
                                <a:latin typeface="Cambria Math" panose="02040503050406030204" pitchFamily="18" charset="0"/>
                              </a:rPr>
                              <m:t>𝑗</m:t>
                            </m:r>
                          </m:e>
                        </m:d>
                        <m:r>
                          <a:rPr lang="en-US" altLang="ko-KR" sz="1000" b="0" i="0" smtClean="0">
                            <a:latin typeface="Cambria Math" panose="02040503050406030204" pitchFamily="18" charset="0"/>
                          </a:rPr>
                          <m:t>.</m:t>
                        </m:r>
                      </m:oMath>
                    </m:oMathPara>
                  </a14:m>
                  <a:endParaRPr lang="ko-KR" altLang="en-US" sz="1000" dirty="0"/>
                </a:p>
              </p:txBody>
            </p:sp>
          </mc:Choice>
          <mc:Fallback xmlns="">
            <p:sp>
              <p:nvSpPr>
                <p:cNvPr id="38" name="TextBox 37">
                  <a:extLst>
                    <a:ext uri="{FF2B5EF4-FFF2-40B4-BE49-F238E27FC236}">
                      <a16:creationId xmlns:a16="http://schemas.microsoft.com/office/drawing/2014/main" id="{41186790-9DB6-EB03-862F-C6E517018F60}"/>
                    </a:ext>
                  </a:extLst>
                </p:cNvPr>
                <p:cNvSpPr txBox="1">
                  <a:spLocks noRot="1" noChangeAspect="1" noMove="1" noResize="1" noEditPoints="1" noAdjustHandles="1" noChangeArrowheads="1" noChangeShapeType="1" noTextEdit="1"/>
                </p:cNvSpPr>
                <p:nvPr/>
              </p:nvSpPr>
              <p:spPr>
                <a:xfrm>
                  <a:off x="815340" y="3800265"/>
                  <a:ext cx="1882140" cy="332080"/>
                </a:xfrm>
                <a:prstGeom prst="rect">
                  <a:avLst/>
                </a:prstGeom>
                <a:blipFill>
                  <a:blip r:embed="rId8"/>
                  <a:stretch>
                    <a:fillRect/>
                  </a:stretch>
                </a:blipFill>
              </p:spPr>
              <p:txBody>
                <a:bodyPr/>
                <a:lstStyle/>
                <a:p>
                  <a:r>
                    <a:rPr lang="ko-KR" altLang="en-US">
                      <a:noFill/>
                    </a:rPr>
                    <a:t> </a:t>
                  </a:r>
                </a:p>
              </p:txBody>
            </p:sp>
          </mc:Fallback>
        </mc:AlternateContent>
        <p:grpSp>
          <p:nvGrpSpPr>
            <p:cNvPr id="41" name="그룹 40">
              <a:extLst>
                <a:ext uri="{FF2B5EF4-FFF2-40B4-BE49-F238E27FC236}">
                  <a16:creationId xmlns:a16="http://schemas.microsoft.com/office/drawing/2014/main" id="{58FC1B5C-CA32-1C61-BE13-54C28BB3BF64}"/>
                </a:ext>
              </a:extLst>
            </p:cNvPr>
            <p:cNvGrpSpPr/>
            <p:nvPr/>
          </p:nvGrpSpPr>
          <p:grpSpPr>
            <a:xfrm>
              <a:off x="369570" y="1362169"/>
              <a:ext cx="2773680" cy="517968"/>
              <a:chOff x="369570" y="1362169"/>
              <a:chExt cx="2773680" cy="517968"/>
            </a:xfrm>
          </p:grpSpPr>
          <p:sp>
            <p:nvSpPr>
              <p:cNvPr id="44" name="Rectangle 27">
                <a:extLst>
                  <a:ext uri="{FF2B5EF4-FFF2-40B4-BE49-F238E27FC236}">
                    <a16:creationId xmlns:a16="http://schemas.microsoft.com/office/drawing/2014/main" id="{322C9120-597D-E0CA-2417-95C75838EFDE}"/>
                  </a:ext>
                </a:extLst>
              </p:cNvPr>
              <p:cNvSpPr/>
              <p:nvPr/>
            </p:nvSpPr>
            <p:spPr>
              <a:xfrm>
                <a:off x="369570" y="1362169"/>
                <a:ext cx="2773680" cy="517968"/>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39FB492D-1275-903F-0A74-A798FD8D049E}"/>
                  </a:ext>
                </a:extLst>
              </p:cNvPr>
              <p:cNvSpPr txBox="1"/>
              <p:nvPr/>
            </p:nvSpPr>
            <p:spPr>
              <a:xfrm>
                <a:off x="567690" y="1436846"/>
                <a:ext cx="2377440" cy="368613"/>
              </a:xfrm>
              <a:prstGeom prst="rect">
                <a:avLst/>
              </a:prstGeom>
              <a:noFill/>
            </p:spPr>
            <p:txBody>
              <a:bodyPr wrap="square">
                <a:spAutoFit/>
              </a:bodyPr>
              <a:lstStyle/>
              <a:p>
                <a:pPr algn="ctr">
                  <a:defRPr sz="1100" b="1">
                    <a:solidFill>
                      <a:srgbClr val="FFFFFF"/>
                    </a:solidFill>
                    <a:latin typeface="Trebuchet MS"/>
                  </a:defRPr>
                </a:pPr>
                <a:r>
                  <a:rPr lang="en-US" altLang="ko-KR" sz="1300" dirty="0">
                    <a:latin typeface="Arial" panose="020B0604020202020204" pitchFamily="34" charset="0"/>
                  </a:rPr>
                  <a:t>Transport Calculation</a:t>
                </a:r>
              </a:p>
            </p:txBody>
          </p:sp>
        </p:grpSp>
        <p:sp>
          <p:nvSpPr>
            <p:cNvPr id="42" name="TextBox 41">
              <a:extLst>
                <a:ext uri="{FF2B5EF4-FFF2-40B4-BE49-F238E27FC236}">
                  <a16:creationId xmlns:a16="http://schemas.microsoft.com/office/drawing/2014/main" id="{9453F8FC-3683-0954-F074-3C4EA26157D4}"/>
                </a:ext>
              </a:extLst>
            </p:cNvPr>
            <p:cNvSpPr txBox="1"/>
            <p:nvPr/>
          </p:nvSpPr>
          <p:spPr>
            <a:xfrm>
              <a:off x="460766" y="4310769"/>
              <a:ext cx="2579886" cy="329811"/>
            </a:xfrm>
            <a:prstGeom prst="rect">
              <a:avLst/>
            </a:prstGeom>
            <a:noFill/>
          </p:spPr>
          <p:txBody>
            <a:bodyPr wrap="square" rtlCol="0">
              <a:spAutoFit/>
            </a:bodyPr>
            <a:lstStyle/>
            <a:p>
              <a:r>
                <a:rPr lang="en-US" altLang="ko-KR" sz="1100" dirty="0">
                  <a:solidFill>
                    <a:schemeClr val="bg2">
                      <a:lumMod val="50000"/>
                    </a:schemeClr>
                  </a:solidFill>
                  <a:latin typeface="+mj-lt"/>
                </a:rPr>
                <a:t>Pan et al., (2013), Zhang et al., (2024)</a:t>
              </a:r>
              <a:endParaRPr lang="ko-KR" altLang="en-US" sz="1100" dirty="0">
                <a:solidFill>
                  <a:schemeClr val="bg2">
                    <a:lumMod val="50000"/>
                  </a:schemeClr>
                </a:solidFill>
                <a:latin typeface="+mj-lt"/>
              </a:endParaRPr>
            </a:p>
          </p:txBody>
        </p:sp>
        <p:sp>
          <p:nvSpPr>
            <p:cNvPr id="43" name="TextBox 42">
              <a:extLst>
                <a:ext uri="{FF2B5EF4-FFF2-40B4-BE49-F238E27FC236}">
                  <a16:creationId xmlns:a16="http://schemas.microsoft.com/office/drawing/2014/main" id="{C14FA86D-916B-D886-0491-75E7BC2EDB88}"/>
                </a:ext>
              </a:extLst>
            </p:cNvPr>
            <p:cNvSpPr txBox="1"/>
            <p:nvPr/>
          </p:nvSpPr>
          <p:spPr>
            <a:xfrm>
              <a:off x="758190" y="3751896"/>
              <a:ext cx="320040" cy="323165"/>
            </a:xfrm>
            <a:prstGeom prst="rect">
              <a:avLst/>
            </a:prstGeom>
            <a:noFill/>
          </p:spPr>
          <p:txBody>
            <a:bodyPr wrap="square" rtlCol="0">
              <a:spAutoFit/>
            </a:bodyPr>
            <a:lstStyle/>
            <a:p>
              <a:r>
                <a:rPr lang="en-US" altLang="ko-KR" sz="1500" dirty="0">
                  <a:latin typeface="+mj-lt"/>
                  <a:ea typeface="맑은 고딕" panose="020B0503020000020004" pitchFamily="50" charset="-127"/>
                </a:rPr>
                <a:t>∴</a:t>
              </a:r>
              <a:endParaRPr lang="ko-KR" altLang="en-US" sz="1500" dirty="0">
                <a:latin typeface="+mj-lt"/>
              </a:endParaRPr>
            </a:p>
          </p:txBody>
        </p:sp>
      </p:grpSp>
      <p:pic>
        <p:nvPicPr>
          <p:cNvPr id="48" name="Image 0" descr="/sessions/exciting-ecstatic-bell/mnt/디펜스발표자료/그림/TC_Tracks.png">
            <a:extLst>
              <a:ext uri="{FF2B5EF4-FFF2-40B4-BE49-F238E27FC236}">
                <a16:creationId xmlns:a16="http://schemas.microsoft.com/office/drawing/2014/main" id="{36BB6A7C-AFE3-4C3C-CF3C-0A26EA853744}"/>
              </a:ext>
            </a:extLst>
          </p:cNvPr>
          <p:cNvPicPr>
            <a:picLocks noChangeAspect="1"/>
          </p:cNvPicPr>
          <p:nvPr/>
        </p:nvPicPr>
        <p:blipFill>
          <a:blip r:embed="rId9"/>
          <a:srcRect/>
          <a:stretch/>
        </p:blipFill>
        <p:spPr>
          <a:xfrm>
            <a:off x="6217155" y="970430"/>
            <a:ext cx="2838997" cy="3128489"/>
          </a:xfrm>
          <a:prstGeom prst="rect">
            <a:avLst/>
          </a:prstGeom>
        </p:spPr>
      </p:pic>
      <p:grpSp>
        <p:nvGrpSpPr>
          <p:cNvPr id="50" name="그룹 49">
            <a:extLst>
              <a:ext uri="{FF2B5EF4-FFF2-40B4-BE49-F238E27FC236}">
                <a16:creationId xmlns:a16="http://schemas.microsoft.com/office/drawing/2014/main" id="{713A5DE6-D71B-AD64-1755-97274A6855AB}"/>
              </a:ext>
            </a:extLst>
          </p:cNvPr>
          <p:cNvGrpSpPr/>
          <p:nvPr/>
        </p:nvGrpSpPr>
        <p:grpSpPr>
          <a:xfrm>
            <a:off x="6336019" y="4368959"/>
            <a:ext cx="5646333" cy="2290103"/>
            <a:chOff x="4376145" y="3537343"/>
            <a:chExt cx="4546752" cy="1383514"/>
          </a:xfrm>
        </p:grpSpPr>
        <p:pic>
          <p:nvPicPr>
            <p:cNvPr id="83" name="그림 82">
              <a:extLst>
                <a:ext uri="{FF2B5EF4-FFF2-40B4-BE49-F238E27FC236}">
                  <a16:creationId xmlns:a16="http://schemas.microsoft.com/office/drawing/2014/main" id="{BF9270E4-9F97-18BE-7107-C81FB0BB33CF}"/>
                </a:ext>
              </a:extLst>
            </p:cNvPr>
            <p:cNvPicPr>
              <a:picLocks/>
            </p:cNvPicPr>
            <p:nvPr/>
          </p:nvPicPr>
          <p:blipFill>
            <a:blip r:embed="rId10"/>
            <a:srcRect t="3852"/>
            <a:stretch>
              <a:fillRect/>
            </a:stretch>
          </p:blipFill>
          <p:spPr>
            <a:xfrm>
              <a:off x="7328175" y="3537343"/>
              <a:ext cx="1594722" cy="1383514"/>
            </a:xfrm>
            <a:prstGeom prst="rect">
              <a:avLst/>
            </a:prstGeom>
          </p:spPr>
        </p:pic>
        <p:pic>
          <p:nvPicPr>
            <p:cNvPr id="84" name="그림 83">
              <a:extLst>
                <a:ext uri="{FF2B5EF4-FFF2-40B4-BE49-F238E27FC236}">
                  <a16:creationId xmlns:a16="http://schemas.microsoft.com/office/drawing/2014/main" id="{A6551B98-CB0A-0EB6-A830-ECDCBEC8A599}"/>
                </a:ext>
              </a:extLst>
            </p:cNvPr>
            <p:cNvPicPr>
              <a:picLocks/>
            </p:cNvPicPr>
            <p:nvPr/>
          </p:nvPicPr>
          <p:blipFill>
            <a:blip r:embed="rId11"/>
            <a:srcRect t="3852"/>
            <a:stretch>
              <a:fillRect/>
            </a:stretch>
          </p:blipFill>
          <p:spPr>
            <a:xfrm>
              <a:off x="5852160" y="3537343"/>
              <a:ext cx="1594722" cy="1383514"/>
            </a:xfrm>
            <a:prstGeom prst="rect">
              <a:avLst/>
            </a:prstGeom>
          </p:spPr>
        </p:pic>
        <p:pic>
          <p:nvPicPr>
            <p:cNvPr id="85" name="그림 84">
              <a:extLst>
                <a:ext uri="{FF2B5EF4-FFF2-40B4-BE49-F238E27FC236}">
                  <a16:creationId xmlns:a16="http://schemas.microsoft.com/office/drawing/2014/main" id="{184E867D-550C-AC8E-FE7E-6A5CE7BED495}"/>
                </a:ext>
              </a:extLst>
            </p:cNvPr>
            <p:cNvPicPr>
              <a:picLocks/>
            </p:cNvPicPr>
            <p:nvPr/>
          </p:nvPicPr>
          <p:blipFill>
            <a:blip r:embed="rId12"/>
            <a:srcRect t="3683"/>
            <a:stretch>
              <a:fillRect/>
            </a:stretch>
          </p:blipFill>
          <p:spPr>
            <a:xfrm>
              <a:off x="4376145" y="3537343"/>
              <a:ext cx="1594722" cy="1383514"/>
            </a:xfrm>
            <a:prstGeom prst="rect">
              <a:avLst/>
            </a:prstGeom>
          </p:spPr>
        </p:pic>
      </p:grpSp>
      <p:grpSp>
        <p:nvGrpSpPr>
          <p:cNvPr id="51" name="그룹 50">
            <a:extLst>
              <a:ext uri="{FF2B5EF4-FFF2-40B4-BE49-F238E27FC236}">
                <a16:creationId xmlns:a16="http://schemas.microsoft.com/office/drawing/2014/main" id="{B26E4477-F05E-6378-C27E-CFD680F7B10B}"/>
              </a:ext>
            </a:extLst>
          </p:cNvPr>
          <p:cNvGrpSpPr/>
          <p:nvPr/>
        </p:nvGrpSpPr>
        <p:grpSpPr>
          <a:xfrm>
            <a:off x="9250291" y="961175"/>
            <a:ext cx="2672183" cy="3128489"/>
            <a:chOff x="4480560" y="977716"/>
            <a:chExt cx="4206240" cy="2359152"/>
          </a:xfrm>
        </p:grpSpPr>
        <p:grpSp>
          <p:nvGrpSpPr>
            <p:cNvPr id="52" name="그룹 51">
              <a:extLst>
                <a:ext uri="{FF2B5EF4-FFF2-40B4-BE49-F238E27FC236}">
                  <a16:creationId xmlns:a16="http://schemas.microsoft.com/office/drawing/2014/main" id="{51F03040-D8DE-1DBB-49B6-7AE517A51530}"/>
                </a:ext>
              </a:extLst>
            </p:cNvPr>
            <p:cNvGrpSpPr/>
            <p:nvPr/>
          </p:nvGrpSpPr>
          <p:grpSpPr>
            <a:xfrm>
              <a:off x="4480560" y="977716"/>
              <a:ext cx="4206240" cy="2359152"/>
              <a:chOff x="4572000" y="914400"/>
              <a:chExt cx="4206240" cy="2359152"/>
            </a:xfrm>
          </p:grpSpPr>
          <p:grpSp>
            <p:nvGrpSpPr>
              <p:cNvPr id="56" name="그룹 55">
                <a:extLst>
                  <a:ext uri="{FF2B5EF4-FFF2-40B4-BE49-F238E27FC236}">
                    <a16:creationId xmlns:a16="http://schemas.microsoft.com/office/drawing/2014/main" id="{F6A9DCD7-98EE-D579-22B6-700B942130A4}"/>
                  </a:ext>
                </a:extLst>
              </p:cNvPr>
              <p:cNvGrpSpPr/>
              <p:nvPr/>
            </p:nvGrpSpPr>
            <p:grpSpPr>
              <a:xfrm>
                <a:off x="4572000" y="914400"/>
                <a:ext cx="4206240" cy="347472"/>
                <a:chOff x="4572000" y="914400"/>
                <a:chExt cx="4206240" cy="347472"/>
              </a:xfrm>
            </p:grpSpPr>
            <p:sp>
              <p:nvSpPr>
                <p:cNvPr id="80" name="Shape 4">
                  <a:extLst>
                    <a:ext uri="{FF2B5EF4-FFF2-40B4-BE49-F238E27FC236}">
                      <a16:creationId xmlns:a16="http://schemas.microsoft.com/office/drawing/2014/main" id="{38DF3037-1848-F049-A4B5-DF9FBB98DEFF}"/>
                    </a:ext>
                  </a:extLst>
                </p:cNvPr>
                <p:cNvSpPr/>
                <p:nvPr/>
              </p:nvSpPr>
              <p:spPr>
                <a:xfrm>
                  <a:off x="4572000" y="914400"/>
                  <a:ext cx="4206240" cy="347472"/>
                </a:xfrm>
                <a:prstGeom prst="rect">
                  <a:avLst/>
                </a:prstGeom>
                <a:solidFill>
                  <a:srgbClr val="EDF2F4"/>
                </a:solidFill>
                <a:ln/>
              </p:spPr>
              <p:txBody>
                <a:bodyPr/>
                <a:lstStyle/>
                <a:p>
                  <a:endParaRPr lang="ko-KR" altLang="en-US"/>
                </a:p>
              </p:txBody>
            </p:sp>
            <p:sp>
              <p:nvSpPr>
                <p:cNvPr id="81" name="Text 5">
                  <a:extLst>
                    <a:ext uri="{FF2B5EF4-FFF2-40B4-BE49-F238E27FC236}">
                      <a16:creationId xmlns:a16="http://schemas.microsoft.com/office/drawing/2014/main" id="{394B7040-2C20-EDB4-122E-FF3119A79FAF}"/>
                    </a:ext>
                  </a:extLst>
                </p:cNvPr>
                <p:cNvSpPr/>
                <p:nvPr/>
              </p:nvSpPr>
              <p:spPr>
                <a:xfrm>
                  <a:off x="4663440" y="914400"/>
                  <a:ext cx="3017520" cy="347472"/>
                </a:xfrm>
                <a:prstGeom prst="rect">
                  <a:avLst/>
                </a:prstGeom>
                <a:noFill/>
                <a:ln/>
              </p:spPr>
              <p:txBody>
                <a:bodyPr wrap="square" lIns="0" tIns="0" rIns="0" bIns="0" rtlCol="0" anchor="ctr"/>
                <a:lstStyle/>
                <a:p>
                  <a:r>
                    <a:rPr lang="en-US" sz="1200" dirty="0">
                      <a:solidFill>
                        <a:srgbClr val="2B2D42"/>
                      </a:solidFill>
                      <a:latin typeface="Arial" panose="020B0604020202020204" pitchFamily="34" charset="0"/>
                      <a:ea typeface="Calibri Light" pitchFamily="34" charset="-122"/>
                      <a:cs typeface="Arial" panose="020B0604020202020204" pitchFamily="34" charset="0"/>
                    </a:rPr>
                    <a:t>Total WNP TCs over</a:t>
                  </a:r>
                  <a:r>
                    <a:rPr lang="ko-KR" altLang="en-US" sz="1200" dirty="0">
                      <a:solidFill>
                        <a:srgbClr val="2B2D42"/>
                      </a:solidFill>
                      <a:latin typeface="Arial" panose="020B0604020202020204" pitchFamily="34" charset="0"/>
                      <a:cs typeface="Arial" panose="020B0604020202020204" pitchFamily="34" charset="0"/>
                    </a:rPr>
                    <a:t> </a:t>
                  </a:r>
                  <a:r>
                    <a:rPr lang="en-US" altLang="ko-KR" sz="1200" dirty="0">
                      <a:solidFill>
                        <a:srgbClr val="2B2D42"/>
                      </a:solidFill>
                      <a:latin typeface="Arial" panose="020B0604020202020204" pitchFamily="34" charset="0"/>
                      <a:ea typeface="Calibri Light" pitchFamily="34" charset="-122"/>
                      <a:cs typeface="Arial" panose="020B0604020202020204" pitchFamily="34" charset="0"/>
                    </a:rPr>
                    <a:t>TS</a:t>
                  </a:r>
                  <a:r>
                    <a:rPr lang="ko-KR" altLang="en-US" sz="1200" dirty="0">
                      <a:solidFill>
                        <a:srgbClr val="2B2D42"/>
                      </a:solidFill>
                      <a:latin typeface="Arial" panose="020B0604020202020204" pitchFamily="34" charset="0"/>
                      <a:cs typeface="Arial" panose="020B0604020202020204" pitchFamily="34" charset="0"/>
                    </a:rPr>
                    <a:t> </a:t>
                  </a:r>
                  <a:r>
                    <a:rPr lang="en-US" altLang="ko-KR" sz="1200" dirty="0">
                      <a:solidFill>
                        <a:srgbClr val="2B2D42"/>
                      </a:solidFill>
                      <a:latin typeface="Arial" panose="020B0604020202020204" pitchFamily="34" charset="0"/>
                      <a:ea typeface="Calibri Light" pitchFamily="34" charset="-122"/>
                      <a:cs typeface="Arial" panose="020B0604020202020204" pitchFamily="34" charset="0"/>
                    </a:rPr>
                    <a:t>grade (Jun-Oct) </a:t>
                  </a:r>
                  <a:endParaRPr lang="en-US" sz="1200" dirty="0">
                    <a:solidFill>
                      <a:srgbClr val="2B2D42"/>
                    </a:solidFill>
                    <a:latin typeface="Arial" panose="020B0604020202020204" pitchFamily="34" charset="0"/>
                    <a:ea typeface="Calibri Light" pitchFamily="34" charset="-122"/>
                    <a:cs typeface="Arial" panose="020B0604020202020204" pitchFamily="34" charset="0"/>
                  </a:endParaRPr>
                </a:p>
              </p:txBody>
            </p:sp>
            <p:sp>
              <p:nvSpPr>
                <p:cNvPr id="82" name="Text 6">
                  <a:extLst>
                    <a:ext uri="{FF2B5EF4-FFF2-40B4-BE49-F238E27FC236}">
                      <a16:creationId xmlns:a16="http://schemas.microsoft.com/office/drawing/2014/main" id="{11A003A0-1FDA-2B5D-823B-0224B09D3060}"/>
                    </a:ext>
                  </a:extLst>
                </p:cNvPr>
                <p:cNvSpPr/>
                <p:nvPr/>
              </p:nvSpPr>
              <p:spPr>
                <a:xfrm>
                  <a:off x="7772400" y="914400"/>
                  <a:ext cx="914400" cy="347472"/>
                </a:xfrm>
                <a:prstGeom prst="rect">
                  <a:avLst/>
                </a:prstGeom>
                <a:noFill/>
                <a:ln/>
              </p:spPr>
              <p:txBody>
                <a:bodyPr wrap="square" lIns="0" tIns="0" rIns="0" bIns="0" rtlCol="0" anchor="ctr"/>
                <a:lstStyle/>
                <a:p>
                  <a:pPr marL="0" indent="0" algn="r">
                    <a:buNone/>
                  </a:pPr>
                  <a:r>
                    <a:rPr lang="en-US" sz="1500" b="1" dirty="0">
                      <a:solidFill>
                        <a:srgbClr val="2B2D42"/>
                      </a:solidFill>
                      <a:latin typeface="Arial" panose="020B0604020202020204" pitchFamily="34" charset="0"/>
                      <a:ea typeface="Trebuchet MS" pitchFamily="34" charset="-122"/>
                      <a:cs typeface="Arial" panose="020B0604020202020204" pitchFamily="34" charset="0"/>
                    </a:rPr>
                    <a:t>237</a:t>
                  </a:r>
                  <a:endParaRPr lang="en-US" sz="1500" dirty="0"/>
                </a:p>
              </p:txBody>
            </p:sp>
          </p:grpSp>
          <p:grpSp>
            <p:nvGrpSpPr>
              <p:cNvPr id="57" name="그룹 56">
                <a:extLst>
                  <a:ext uri="{FF2B5EF4-FFF2-40B4-BE49-F238E27FC236}">
                    <a16:creationId xmlns:a16="http://schemas.microsoft.com/office/drawing/2014/main" id="{CDA867B4-2895-FFDE-6ACB-30A2D191D82D}"/>
                  </a:ext>
                </a:extLst>
              </p:cNvPr>
              <p:cNvGrpSpPr/>
              <p:nvPr/>
            </p:nvGrpSpPr>
            <p:grpSpPr>
              <a:xfrm>
                <a:off x="4572000" y="1316736"/>
                <a:ext cx="4206240" cy="347472"/>
                <a:chOff x="4572000" y="1316736"/>
                <a:chExt cx="4206240" cy="347472"/>
              </a:xfrm>
            </p:grpSpPr>
            <p:sp>
              <p:nvSpPr>
                <p:cNvPr id="77" name="Shape 8">
                  <a:extLst>
                    <a:ext uri="{FF2B5EF4-FFF2-40B4-BE49-F238E27FC236}">
                      <a16:creationId xmlns:a16="http://schemas.microsoft.com/office/drawing/2014/main" id="{2C75B9CB-711C-25DB-E912-ED09F99D64BF}"/>
                    </a:ext>
                  </a:extLst>
                </p:cNvPr>
                <p:cNvSpPr/>
                <p:nvPr/>
              </p:nvSpPr>
              <p:spPr>
                <a:xfrm>
                  <a:off x="4572000" y="1316736"/>
                  <a:ext cx="4206240" cy="347472"/>
                </a:xfrm>
                <a:prstGeom prst="rect">
                  <a:avLst/>
                </a:prstGeom>
                <a:solidFill>
                  <a:srgbClr val="FFFFFF"/>
                </a:solidFill>
                <a:ln/>
              </p:spPr>
              <p:txBody>
                <a:bodyPr/>
                <a:lstStyle/>
                <a:p>
                  <a:endParaRPr lang="ko-KR" altLang="en-US"/>
                </a:p>
              </p:txBody>
            </p:sp>
            <p:sp>
              <p:nvSpPr>
                <p:cNvPr id="78" name="Text 9">
                  <a:extLst>
                    <a:ext uri="{FF2B5EF4-FFF2-40B4-BE49-F238E27FC236}">
                      <a16:creationId xmlns:a16="http://schemas.microsoft.com/office/drawing/2014/main" id="{BB0B8B23-F124-7FE5-1FD3-C05FE90D087D}"/>
                    </a:ext>
                  </a:extLst>
                </p:cNvPr>
                <p:cNvSpPr/>
                <p:nvPr/>
              </p:nvSpPr>
              <p:spPr>
                <a:xfrm>
                  <a:off x="4663440" y="1316736"/>
                  <a:ext cx="3017520" cy="347472"/>
                </a:xfrm>
                <a:prstGeom prst="rect">
                  <a:avLst/>
                </a:prstGeom>
                <a:noFill/>
                <a:ln/>
              </p:spPr>
              <p:txBody>
                <a:bodyPr wrap="square" lIns="0" tIns="0" rIns="0" bIns="0" rtlCol="0" anchor="ctr"/>
                <a:lstStyle/>
                <a:p>
                  <a:pPr marL="0" indent="0">
                    <a:buNone/>
                  </a:pPr>
                  <a:r>
                    <a:rPr lang="en-US" sz="1200" dirty="0">
                      <a:solidFill>
                        <a:srgbClr val="2B2D42"/>
                      </a:solidFill>
                      <a:latin typeface="Arial" panose="020B0604020202020204" pitchFamily="34" charset="0"/>
                      <a:ea typeface="Calibri Light" pitchFamily="34" charset="-122"/>
                      <a:cs typeface="Arial" panose="020B0604020202020204" pitchFamily="34" charset="0"/>
                    </a:rPr>
                    <a:t>Crossing Kuroshio region</a:t>
                  </a:r>
                  <a:endParaRPr lang="en-US" sz="1200" dirty="0"/>
                </a:p>
              </p:txBody>
            </p:sp>
            <p:sp>
              <p:nvSpPr>
                <p:cNvPr id="79" name="Text 10">
                  <a:extLst>
                    <a:ext uri="{FF2B5EF4-FFF2-40B4-BE49-F238E27FC236}">
                      <a16:creationId xmlns:a16="http://schemas.microsoft.com/office/drawing/2014/main" id="{435294BC-2546-C0CA-10DC-4E2B06EFF462}"/>
                    </a:ext>
                  </a:extLst>
                </p:cNvPr>
                <p:cNvSpPr/>
                <p:nvPr/>
              </p:nvSpPr>
              <p:spPr>
                <a:xfrm>
                  <a:off x="7772400" y="1316736"/>
                  <a:ext cx="914400" cy="347472"/>
                </a:xfrm>
                <a:prstGeom prst="rect">
                  <a:avLst/>
                </a:prstGeom>
                <a:noFill/>
                <a:ln/>
              </p:spPr>
              <p:txBody>
                <a:bodyPr wrap="square" lIns="0" tIns="0" rIns="0" bIns="0" rtlCol="0" anchor="ctr"/>
                <a:lstStyle/>
                <a:p>
                  <a:pPr marL="0" indent="0" algn="r">
                    <a:buNone/>
                  </a:pPr>
                  <a:r>
                    <a:rPr lang="en-US" sz="1500" b="1" dirty="0">
                      <a:solidFill>
                        <a:srgbClr val="2B2D42"/>
                      </a:solidFill>
                      <a:latin typeface="Arial" panose="020B0604020202020204" pitchFamily="34" charset="0"/>
                      <a:ea typeface="Trebuchet MS" pitchFamily="34" charset="-122"/>
                      <a:cs typeface="Arial" panose="020B0604020202020204" pitchFamily="34" charset="0"/>
                    </a:rPr>
                    <a:t>83</a:t>
                  </a:r>
                  <a:endParaRPr lang="en-US" sz="1500" dirty="0"/>
                </a:p>
              </p:txBody>
            </p:sp>
          </p:grpSp>
          <p:grpSp>
            <p:nvGrpSpPr>
              <p:cNvPr id="58" name="그룹 57">
                <a:extLst>
                  <a:ext uri="{FF2B5EF4-FFF2-40B4-BE49-F238E27FC236}">
                    <a16:creationId xmlns:a16="http://schemas.microsoft.com/office/drawing/2014/main" id="{5869B220-4C55-C585-AADD-8091FC05BB8F}"/>
                  </a:ext>
                </a:extLst>
              </p:cNvPr>
              <p:cNvGrpSpPr/>
              <p:nvPr/>
            </p:nvGrpSpPr>
            <p:grpSpPr>
              <a:xfrm>
                <a:off x="4572000" y="1719072"/>
                <a:ext cx="4206240" cy="347472"/>
                <a:chOff x="4572000" y="1719072"/>
                <a:chExt cx="4206240" cy="347472"/>
              </a:xfrm>
            </p:grpSpPr>
            <p:sp>
              <p:nvSpPr>
                <p:cNvPr id="74" name="Shape 12">
                  <a:extLst>
                    <a:ext uri="{FF2B5EF4-FFF2-40B4-BE49-F238E27FC236}">
                      <a16:creationId xmlns:a16="http://schemas.microsoft.com/office/drawing/2014/main" id="{9B32300E-E0F8-4B4B-D0FF-55BFEED9B87E}"/>
                    </a:ext>
                  </a:extLst>
                </p:cNvPr>
                <p:cNvSpPr/>
                <p:nvPr/>
              </p:nvSpPr>
              <p:spPr>
                <a:xfrm>
                  <a:off x="4572000" y="1719072"/>
                  <a:ext cx="4206240" cy="347472"/>
                </a:xfrm>
                <a:prstGeom prst="rect">
                  <a:avLst/>
                </a:prstGeom>
                <a:solidFill>
                  <a:srgbClr val="EDF2F4"/>
                </a:solidFill>
                <a:ln/>
              </p:spPr>
              <p:txBody>
                <a:bodyPr/>
                <a:lstStyle/>
                <a:p>
                  <a:endParaRPr lang="ko-KR" altLang="en-US"/>
                </a:p>
              </p:txBody>
            </p:sp>
            <p:sp>
              <p:nvSpPr>
                <p:cNvPr id="75" name="Text 13">
                  <a:extLst>
                    <a:ext uri="{FF2B5EF4-FFF2-40B4-BE49-F238E27FC236}">
                      <a16:creationId xmlns:a16="http://schemas.microsoft.com/office/drawing/2014/main" id="{259BEE28-1F90-9040-A98E-E177FDC1C4A9}"/>
                    </a:ext>
                  </a:extLst>
                </p:cNvPr>
                <p:cNvSpPr/>
                <p:nvPr/>
              </p:nvSpPr>
              <p:spPr>
                <a:xfrm>
                  <a:off x="4663440" y="1719072"/>
                  <a:ext cx="3017520" cy="347472"/>
                </a:xfrm>
                <a:prstGeom prst="rect">
                  <a:avLst/>
                </a:prstGeom>
                <a:noFill/>
                <a:ln/>
              </p:spPr>
              <p:txBody>
                <a:bodyPr wrap="square" lIns="0" tIns="0" rIns="0" bIns="0" rtlCol="0" anchor="ctr"/>
                <a:lstStyle/>
                <a:p>
                  <a:r>
                    <a:rPr lang="en-US" altLang="ko-KR" sz="1200" dirty="0">
                      <a:solidFill>
                        <a:srgbClr val="2B2D42"/>
                      </a:solidFill>
                      <a:latin typeface="Arial" panose="020B0604020202020204" pitchFamily="34" charset="0"/>
                      <a:ea typeface="Calibri Light" pitchFamily="34" charset="-122"/>
                      <a:cs typeface="Arial" panose="020B0604020202020204" pitchFamily="34" charset="0"/>
                    </a:rPr>
                    <a:t>Elimination</a:t>
                  </a:r>
                  <a:endParaRPr lang="en-US" sz="1200" dirty="0">
                    <a:solidFill>
                      <a:srgbClr val="2B2D42"/>
                    </a:solidFill>
                    <a:latin typeface="Arial" panose="020B0604020202020204" pitchFamily="34" charset="0"/>
                    <a:ea typeface="Calibri Light" pitchFamily="34" charset="-122"/>
                    <a:cs typeface="Arial" panose="020B0604020202020204" pitchFamily="34" charset="0"/>
                  </a:endParaRPr>
                </a:p>
              </p:txBody>
            </p:sp>
            <p:sp>
              <p:nvSpPr>
                <p:cNvPr id="76" name="Text 14">
                  <a:extLst>
                    <a:ext uri="{FF2B5EF4-FFF2-40B4-BE49-F238E27FC236}">
                      <a16:creationId xmlns:a16="http://schemas.microsoft.com/office/drawing/2014/main" id="{EAAE15C3-6273-7CE9-5C0E-4A83A6C6A873}"/>
                    </a:ext>
                  </a:extLst>
                </p:cNvPr>
                <p:cNvSpPr/>
                <p:nvPr/>
              </p:nvSpPr>
              <p:spPr>
                <a:xfrm>
                  <a:off x="7772400" y="1719072"/>
                  <a:ext cx="914400" cy="347472"/>
                </a:xfrm>
                <a:prstGeom prst="rect">
                  <a:avLst/>
                </a:prstGeom>
                <a:noFill/>
                <a:ln/>
              </p:spPr>
              <p:txBody>
                <a:bodyPr wrap="square" lIns="0" tIns="0" rIns="0" bIns="0" rtlCol="0" anchor="ctr"/>
                <a:lstStyle/>
                <a:p>
                  <a:pPr marL="0" indent="0" algn="r">
                    <a:buNone/>
                  </a:pPr>
                  <a:r>
                    <a:rPr lang="en-US" sz="1500" b="1" dirty="0">
                      <a:solidFill>
                        <a:srgbClr val="2B2D42"/>
                      </a:solidFill>
                      <a:latin typeface="Arial" panose="020B0604020202020204" pitchFamily="34" charset="0"/>
                      <a:ea typeface="Trebuchet MS" pitchFamily="34" charset="-122"/>
                      <a:cs typeface="Arial" panose="020B0604020202020204" pitchFamily="34" charset="0"/>
                    </a:rPr>
                    <a:t>15</a:t>
                  </a:r>
                  <a:endParaRPr lang="en-US" sz="1500" dirty="0"/>
                </a:p>
              </p:txBody>
            </p:sp>
          </p:grpSp>
          <p:grpSp>
            <p:nvGrpSpPr>
              <p:cNvPr id="59" name="그룹 58">
                <a:extLst>
                  <a:ext uri="{FF2B5EF4-FFF2-40B4-BE49-F238E27FC236}">
                    <a16:creationId xmlns:a16="http://schemas.microsoft.com/office/drawing/2014/main" id="{6E570543-734C-587B-4A0B-B2DE686ACBD6}"/>
                  </a:ext>
                </a:extLst>
              </p:cNvPr>
              <p:cNvGrpSpPr/>
              <p:nvPr/>
            </p:nvGrpSpPr>
            <p:grpSpPr>
              <a:xfrm>
                <a:off x="4572000" y="2121408"/>
                <a:ext cx="4206240" cy="347472"/>
                <a:chOff x="4572000" y="1316736"/>
                <a:chExt cx="4206240" cy="347472"/>
              </a:xfrm>
            </p:grpSpPr>
            <p:sp>
              <p:nvSpPr>
                <p:cNvPr id="71" name="Shape 8">
                  <a:extLst>
                    <a:ext uri="{FF2B5EF4-FFF2-40B4-BE49-F238E27FC236}">
                      <a16:creationId xmlns:a16="http://schemas.microsoft.com/office/drawing/2014/main" id="{85876518-E78B-18E2-68F8-7658CF2C90E0}"/>
                    </a:ext>
                  </a:extLst>
                </p:cNvPr>
                <p:cNvSpPr/>
                <p:nvPr/>
              </p:nvSpPr>
              <p:spPr>
                <a:xfrm>
                  <a:off x="4572000" y="1316736"/>
                  <a:ext cx="4206240" cy="347472"/>
                </a:xfrm>
                <a:prstGeom prst="rect">
                  <a:avLst/>
                </a:prstGeom>
                <a:solidFill>
                  <a:srgbClr val="FFFFFF"/>
                </a:solidFill>
                <a:ln/>
              </p:spPr>
              <p:txBody>
                <a:bodyPr/>
                <a:lstStyle/>
                <a:p>
                  <a:endParaRPr lang="ko-KR" altLang="en-US"/>
                </a:p>
              </p:txBody>
            </p:sp>
            <p:sp>
              <p:nvSpPr>
                <p:cNvPr id="72" name="Text 9">
                  <a:extLst>
                    <a:ext uri="{FF2B5EF4-FFF2-40B4-BE49-F238E27FC236}">
                      <a16:creationId xmlns:a16="http://schemas.microsoft.com/office/drawing/2014/main" id="{26EEB9DB-09D1-9C23-CB75-44341D1881A8}"/>
                    </a:ext>
                  </a:extLst>
                </p:cNvPr>
                <p:cNvSpPr/>
                <p:nvPr/>
              </p:nvSpPr>
              <p:spPr>
                <a:xfrm>
                  <a:off x="4663440" y="1316736"/>
                  <a:ext cx="3017520" cy="347472"/>
                </a:xfrm>
                <a:prstGeom prst="rect">
                  <a:avLst/>
                </a:prstGeom>
                <a:noFill/>
                <a:ln/>
              </p:spPr>
              <p:txBody>
                <a:bodyPr wrap="square" lIns="0" tIns="0" rIns="0" bIns="0" rtlCol="0" anchor="ctr"/>
                <a:lstStyle/>
                <a:p>
                  <a:r>
                    <a:rPr lang="en-US" altLang="ko-KR" sz="1200" dirty="0">
                      <a:solidFill>
                        <a:srgbClr val="2B2D42"/>
                      </a:solidFill>
                      <a:latin typeface="Arial" panose="020B0604020202020204" pitchFamily="34" charset="0"/>
                      <a:ea typeface="Calibri Light" pitchFamily="34" charset="-122"/>
                      <a:cs typeface="Arial" panose="020B0604020202020204" pitchFamily="34" charset="0"/>
                    </a:rPr>
                    <a:t>After quality screening</a:t>
                  </a:r>
                  <a:endParaRPr lang="en-US" sz="1200" dirty="0">
                    <a:solidFill>
                      <a:srgbClr val="2B2D42"/>
                    </a:solidFill>
                    <a:latin typeface="Arial" panose="020B0604020202020204" pitchFamily="34" charset="0"/>
                    <a:ea typeface="Calibri Light" pitchFamily="34" charset="-122"/>
                    <a:cs typeface="Arial" panose="020B0604020202020204" pitchFamily="34" charset="0"/>
                  </a:endParaRPr>
                </a:p>
              </p:txBody>
            </p:sp>
            <p:sp>
              <p:nvSpPr>
                <p:cNvPr id="73" name="Text 10">
                  <a:extLst>
                    <a:ext uri="{FF2B5EF4-FFF2-40B4-BE49-F238E27FC236}">
                      <a16:creationId xmlns:a16="http://schemas.microsoft.com/office/drawing/2014/main" id="{BB3C586A-BDE3-7F69-C82D-B39CA3BDBDCB}"/>
                    </a:ext>
                  </a:extLst>
                </p:cNvPr>
                <p:cNvSpPr/>
                <p:nvPr/>
              </p:nvSpPr>
              <p:spPr>
                <a:xfrm>
                  <a:off x="7772400" y="1316736"/>
                  <a:ext cx="914400" cy="347472"/>
                </a:xfrm>
                <a:prstGeom prst="rect">
                  <a:avLst/>
                </a:prstGeom>
                <a:noFill/>
                <a:ln/>
              </p:spPr>
              <p:txBody>
                <a:bodyPr wrap="square" lIns="0" tIns="0" rIns="0" bIns="0" rtlCol="0" anchor="ctr"/>
                <a:lstStyle/>
                <a:p>
                  <a:pPr marL="0" indent="0" algn="r">
                    <a:buNone/>
                  </a:pPr>
                  <a:r>
                    <a:rPr lang="en-US" sz="1500" b="1" dirty="0">
                      <a:solidFill>
                        <a:srgbClr val="2B2D42"/>
                      </a:solidFill>
                      <a:latin typeface="Arial" panose="020B0604020202020204" pitchFamily="34" charset="0"/>
                      <a:ea typeface="Trebuchet MS" pitchFamily="34" charset="-122"/>
                      <a:cs typeface="Arial" panose="020B0604020202020204" pitchFamily="34" charset="0"/>
                    </a:rPr>
                    <a:t>68</a:t>
                  </a:r>
                  <a:endParaRPr lang="en-US" sz="1500" dirty="0"/>
                </a:p>
              </p:txBody>
            </p:sp>
          </p:grpSp>
          <p:grpSp>
            <p:nvGrpSpPr>
              <p:cNvPr id="60" name="그룹 59">
                <a:extLst>
                  <a:ext uri="{FF2B5EF4-FFF2-40B4-BE49-F238E27FC236}">
                    <a16:creationId xmlns:a16="http://schemas.microsoft.com/office/drawing/2014/main" id="{C0C27941-B401-91F2-4529-550330C7E715}"/>
                  </a:ext>
                </a:extLst>
              </p:cNvPr>
              <p:cNvGrpSpPr/>
              <p:nvPr/>
            </p:nvGrpSpPr>
            <p:grpSpPr>
              <a:xfrm>
                <a:off x="4572000" y="2450592"/>
                <a:ext cx="4206240" cy="822960"/>
                <a:chOff x="4572000" y="2048256"/>
                <a:chExt cx="4206240" cy="822960"/>
              </a:xfrm>
            </p:grpSpPr>
            <p:grpSp>
              <p:nvGrpSpPr>
                <p:cNvPr id="61" name="그룹 60">
                  <a:extLst>
                    <a:ext uri="{FF2B5EF4-FFF2-40B4-BE49-F238E27FC236}">
                      <a16:creationId xmlns:a16="http://schemas.microsoft.com/office/drawing/2014/main" id="{1F44D2E3-4C02-4969-80A7-B369988FFE36}"/>
                    </a:ext>
                  </a:extLst>
                </p:cNvPr>
                <p:cNvGrpSpPr/>
                <p:nvPr/>
              </p:nvGrpSpPr>
              <p:grpSpPr>
                <a:xfrm>
                  <a:off x="4572000" y="2121408"/>
                  <a:ext cx="4206240" cy="347472"/>
                  <a:chOff x="4572000" y="2121408"/>
                  <a:chExt cx="4206240" cy="347472"/>
                </a:xfrm>
              </p:grpSpPr>
              <p:sp>
                <p:nvSpPr>
                  <p:cNvPr id="68" name="Shape 16">
                    <a:extLst>
                      <a:ext uri="{FF2B5EF4-FFF2-40B4-BE49-F238E27FC236}">
                        <a16:creationId xmlns:a16="http://schemas.microsoft.com/office/drawing/2014/main" id="{3FBE7777-C0DB-3A8F-0875-15C35FBCCEE2}"/>
                      </a:ext>
                    </a:extLst>
                  </p:cNvPr>
                  <p:cNvSpPr/>
                  <p:nvPr/>
                </p:nvSpPr>
                <p:spPr>
                  <a:xfrm>
                    <a:off x="4572000" y="2121408"/>
                    <a:ext cx="4206240" cy="347472"/>
                  </a:xfrm>
                  <a:prstGeom prst="rect">
                    <a:avLst/>
                  </a:prstGeom>
                  <a:solidFill>
                    <a:srgbClr val="FCE4EC"/>
                  </a:solidFill>
                  <a:ln/>
                </p:spPr>
                <p:txBody>
                  <a:bodyPr/>
                  <a:lstStyle/>
                  <a:p>
                    <a:endParaRPr lang="ko-KR" altLang="en-US"/>
                  </a:p>
                </p:txBody>
              </p:sp>
              <p:sp>
                <p:nvSpPr>
                  <p:cNvPr id="69" name="Text 17">
                    <a:extLst>
                      <a:ext uri="{FF2B5EF4-FFF2-40B4-BE49-F238E27FC236}">
                        <a16:creationId xmlns:a16="http://schemas.microsoft.com/office/drawing/2014/main" id="{C90CAABA-368A-CC3A-2487-F3A5A0CC2E6C}"/>
                      </a:ext>
                    </a:extLst>
                  </p:cNvPr>
                  <p:cNvSpPr/>
                  <p:nvPr/>
                </p:nvSpPr>
                <p:spPr>
                  <a:xfrm>
                    <a:off x="4663440" y="2121408"/>
                    <a:ext cx="3017520" cy="347472"/>
                  </a:xfrm>
                  <a:prstGeom prst="rect">
                    <a:avLst/>
                  </a:prstGeom>
                  <a:noFill/>
                  <a:ln/>
                </p:spPr>
                <p:txBody>
                  <a:bodyPr wrap="square" lIns="0" tIns="0" rIns="0" bIns="0" rtlCol="0" anchor="ctr"/>
                  <a:lstStyle/>
                  <a:p>
                    <a:pPr marL="0" indent="0">
                      <a:buNone/>
                    </a:pPr>
                    <a:r>
                      <a:rPr lang="en-US" sz="1200" dirty="0">
                        <a:solidFill>
                          <a:srgbClr val="2B2D42"/>
                        </a:solidFill>
                        <a:latin typeface="Arial" panose="020B0604020202020204" pitchFamily="34" charset="0"/>
                        <a:ea typeface="Calibri Light" pitchFamily="34" charset="-122"/>
                        <a:cs typeface="Arial" panose="020B0604020202020204" pitchFamily="34" charset="0"/>
                      </a:rPr>
                      <a:t>TC in High Transport (HT)</a:t>
                    </a:r>
                  </a:p>
                </p:txBody>
              </p:sp>
              <p:sp>
                <p:nvSpPr>
                  <p:cNvPr id="70" name="Text 18">
                    <a:extLst>
                      <a:ext uri="{FF2B5EF4-FFF2-40B4-BE49-F238E27FC236}">
                        <a16:creationId xmlns:a16="http://schemas.microsoft.com/office/drawing/2014/main" id="{7E5C91EC-D7D5-C3D0-1A53-7CED9B6B3C52}"/>
                      </a:ext>
                    </a:extLst>
                  </p:cNvPr>
                  <p:cNvSpPr/>
                  <p:nvPr/>
                </p:nvSpPr>
                <p:spPr>
                  <a:xfrm>
                    <a:off x="7772400" y="2121408"/>
                    <a:ext cx="914400" cy="347472"/>
                  </a:xfrm>
                  <a:prstGeom prst="rect">
                    <a:avLst/>
                  </a:prstGeom>
                  <a:noFill/>
                  <a:ln/>
                </p:spPr>
                <p:txBody>
                  <a:bodyPr wrap="square" lIns="0" tIns="0" rIns="0" bIns="0" rtlCol="0" anchor="ctr"/>
                  <a:lstStyle/>
                  <a:p>
                    <a:pPr marL="0" indent="0" algn="r">
                      <a:buNone/>
                    </a:pPr>
                    <a:r>
                      <a:rPr lang="en-US" sz="1500" b="1" dirty="0">
                        <a:solidFill>
                          <a:srgbClr val="E63946"/>
                        </a:solidFill>
                        <a:latin typeface="Arial" panose="020B0604020202020204" pitchFamily="34" charset="0"/>
                        <a:ea typeface="Trebuchet MS" pitchFamily="34" charset="-122"/>
                        <a:cs typeface="Arial" panose="020B0604020202020204" pitchFamily="34" charset="0"/>
                      </a:rPr>
                      <a:t>31</a:t>
                    </a:r>
                    <a:endParaRPr lang="en-US" sz="1500" dirty="0"/>
                  </a:p>
                </p:txBody>
              </p:sp>
            </p:grpSp>
            <p:grpSp>
              <p:nvGrpSpPr>
                <p:cNvPr id="62" name="그룹 61">
                  <a:extLst>
                    <a:ext uri="{FF2B5EF4-FFF2-40B4-BE49-F238E27FC236}">
                      <a16:creationId xmlns:a16="http://schemas.microsoft.com/office/drawing/2014/main" id="{D4B152E3-37AE-488C-B5FE-44E7E77D7F9E}"/>
                    </a:ext>
                  </a:extLst>
                </p:cNvPr>
                <p:cNvGrpSpPr/>
                <p:nvPr/>
              </p:nvGrpSpPr>
              <p:grpSpPr>
                <a:xfrm>
                  <a:off x="4572000" y="2523744"/>
                  <a:ext cx="4206240" cy="347472"/>
                  <a:chOff x="4572000" y="2523744"/>
                  <a:chExt cx="4206240" cy="347472"/>
                </a:xfrm>
              </p:grpSpPr>
              <p:sp>
                <p:nvSpPr>
                  <p:cNvPr id="65" name="Shape 20">
                    <a:extLst>
                      <a:ext uri="{FF2B5EF4-FFF2-40B4-BE49-F238E27FC236}">
                        <a16:creationId xmlns:a16="http://schemas.microsoft.com/office/drawing/2014/main" id="{03A929F1-86D8-2AEF-7087-DE1E6CA07600}"/>
                      </a:ext>
                    </a:extLst>
                  </p:cNvPr>
                  <p:cNvSpPr/>
                  <p:nvPr/>
                </p:nvSpPr>
                <p:spPr>
                  <a:xfrm>
                    <a:off x="4572000" y="2523744"/>
                    <a:ext cx="4206240" cy="347472"/>
                  </a:xfrm>
                  <a:prstGeom prst="rect">
                    <a:avLst/>
                  </a:prstGeom>
                  <a:solidFill>
                    <a:srgbClr val="E3F2FD"/>
                  </a:solidFill>
                  <a:ln/>
                </p:spPr>
                <p:txBody>
                  <a:bodyPr/>
                  <a:lstStyle/>
                  <a:p>
                    <a:endParaRPr lang="ko-KR" altLang="en-US"/>
                  </a:p>
                </p:txBody>
              </p:sp>
              <p:sp>
                <p:nvSpPr>
                  <p:cNvPr id="66" name="Text 21">
                    <a:extLst>
                      <a:ext uri="{FF2B5EF4-FFF2-40B4-BE49-F238E27FC236}">
                        <a16:creationId xmlns:a16="http://schemas.microsoft.com/office/drawing/2014/main" id="{EBF6EAD8-54ED-1E3D-EEC1-F65932329C3E}"/>
                      </a:ext>
                    </a:extLst>
                  </p:cNvPr>
                  <p:cNvSpPr/>
                  <p:nvPr/>
                </p:nvSpPr>
                <p:spPr>
                  <a:xfrm>
                    <a:off x="4663440" y="2523744"/>
                    <a:ext cx="3017520" cy="347472"/>
                  </a:xfrm>
                  <a:prstGeom prst="rect">
                    <a:avLst/>
                  </a:prstGeom>
                  <a:noFill/>
                  <a:ln/>
                </p:spPr>
                <p:txBody>
                  <a:bodyPr wrap="square" lIns="0" tIns="0" rIns="0" bIns="0" rtlCol="0" anchor="ctr"/>
                  <a:lstStyle/>
                  <a:p>
                    <a:pPr marL="0" indent="0">
                      <a:buNone/>
                    </a:pPr>
                    <a:r>
                      <a:rPr lang="en-US" sz="1200" dirty="0">
                        <a:solidFill>
                          <a:srgbClr val="2B2D42"/>
                        </a:solidFill>
                        <a:latin typeface="Arial" panose="020B0604020202020204" pitchFamily="34" charset="0"/>
                        <a:ea typeface="Calibri Light" pitchFamily="34" charset="-122"/>
                        <a:cs typeface="Arial" panose="020B0604020202020204" pitchFamily="34" charset="0"/>
                      </a:rPr>
                      <a:t>TC in Low Transport (LT)</a:t>
                    </a:r>
                  </a:p>
                </p:txBody>
              </p:sp>
              <p:sp>
                <p:nvSpPr>
                  <p:cNvPr id="67" name="Text 22">
                    <a:extLst>
                      <a:ext uri="{FF2B5EF4-FFF2-40B4-BE49-F238E27FC236}">
                        <a16:creationId xmlns:a16="http://schemas.microsoft.com/office/drawing/2014/main" id="{ED1D29B4-5E8A-98CC-E2A7-3C672A2DA6C9}"/>
                      </a:ext>
                    </a:extLst>
                  </p:cNvPr>
                  <p:cNvSpPr/>
                  <p:nvPr/>
                </p:nvSpPr>
                <p:spPr>
                  <a:xfrm>
                    <a:off x="7772400" y="2523744"/>
                    <a:ext cx="914400" cy="347472"/>
                  </a:xfrm>
                  <a:prstGeom prst="rect">
                    <a:avLst/>
                  </a:prstGeom>
                  <a:noFill/>
                  <a:ln/>
                </p:spPr>
                <p:txBody>
                  <a:bodyPr wrap="square" lIns="0" tIns="0" rIns="0" bIns="0" rtlCol="0" anchor="ctr"/>
                  <a:lstStyle/>
                  <a:p>
                    <a:pPr marL="0" indent="0" algn="r">
                      <a:buNone/>
                    </a:pPr>
                    <a:r>
                      <a:rPr lang="en-US" sz="1500" b="1" dirty="0">
                        <a:solidFill>
                          <a:srgbClr val="E63946"/>
                        </a:solidFill>
                        <a:latin typeface="Arial" panose="020B0604020202020204" pitchFamily="34" charset="0"/>
                        <a:ea typeface="Trebuchet MS" pitchFamily="34" charset="-122"/>
                        <a:cs typeface="Arial" panose="020B0604020202020204" pitchFamily="34" charset="0"/>
                      </a:rPr>
                      <a:t>37</a:t>
                    </a:r>
                    <a:endParaRPr lang="en-US" sz="1500" dirty="0"/>
                  </a:p>
                </p:txBody>
              </p:sp>
            </p:grpSp>
            <p:sp>
              <p:nvSpPr>
                <p:cNvPr id="63" name="Text 15">
                  <a:extLst>
                    <a:ext uri="{FF2B5EF4-FFF2-40B4-BE49-F238E27FC236}">
                      <a16:creationId xmlns:a16="http://schemas.microsoft.com/office/drawing/2014/main" id="{2CB327FA-7973-EE5E-4EA7-809383DB295A}"/>
                    </a:ext>
                  </a:extLst>
                </p:cNvPr>
                <p:cNvSpPr/>
                <p:nvPr/>
              </p:nvSpPr>
              <p:spPr>
                <a:xfrm>
                  <a:off x="6492240" y="2048256"/>
                  <a:ext cx="274320" cy="91440"/>
                </a:xfrm>
                <a:prstGeom prst="rect">
                  <a:avLst/>
                </a:prstGeom>
                <a:noFill/>
                <a:ln/>
              </p:spPr>
              <p:txBody>
                <a:bodyPr wrap="square" lIns="0" tIns="0" rIns="0" bIns="0" rtlCol="0" anchor="ctr"/>
                <a:lstStyle/>
                <a:p>
                  <a:pPr marL="0" indent="0" algn="ctr">
                    <a:buNone/>
                  </a:pPr>
                  <a:r>
                    <a:rPr lang="en-US" sz="1000" dirty="0">
                      <a:solidFill>
                        <a:srgbClr val="8D99AE"/>
                      </a:solidFill>
                      <a:latin typeface="Arial" panose="020B0604020202020204" pitchFamily="34" charset="0"/>
                      <a:ea typeface="Calibri Light" pitchFamily="34" charset="-122"/>
                      <a:cs typeface="Arial" panose="020B0604020202020204" pitchFamily="34" charset="0"/>
                    </a:rPr>
                    <a:t>▼</a:t>
                  </a:r>
                  <a:endParaRPr lang="en-US" sz="1000" dirty="0"/>
                </a:p>
              </p:txBody>
            </p:sp>
            <p:sp>
              <p:nvSpPr>
                <p:cNvPr id="64" name="Text 19">
                  <a:extLst>
                    <a:ext uri="{FF2B5EF4-FFF2-40B4-BE49-F238E27FC236}">
                      <a16:creationId xmlns:a16="http://schemas.microsoft.com/office/drawing/2014/main" id="{2D0634B0-CE6C-11B7-3F7C-BC68F43923FB}"/>
                    </a:ext>
                  </a:extLst>
                </p:cNvPr>
                <p:cNvSpPr/>
                <p:nvPr/>
              </p:nvSpPr>
              <p:spPr>
                <a:xfrm>
                  <a:off x="6492240" y="2450592"/>
                  <a:ext cx="274320" cy="91440"/>
                </a:xfrm>
                <a:prstGeom prst="rect">
                  <a:avLst/>
                </a:prstGeom>
                <a:noFill/>
                <a:ln/>
              </p:spPr>
              <p:txBody>
                <a:bodyPr wrap="square" lIns="0" tIns="0" rIns="0" bIns="0" rtlCol="0" anchor="ctr"/>
                <a:lstStyle/>
                <a:p>
                  <a:pPr marL="0" indent="0" algn="ctr">
                    <a:buNone/>
                  </a:pPr>
                  <a:r>
                    <a:rPr lang="en-US" sz="1000" dirty="0">
                      <a:solidFill>
                        <a:srgbClr val="8D99AE"/>
                      </a:solidFill>
                      <a:latin typeface="Arial" panose="020B0604020202020204" pitchFamily="34" charset="0"/>
                      <a:ea typeface="Calibri Light" pitchFamily="34" charset="-122"/>
                      <a:cs typeface="Arial" panose="020B0604020202020204" pitchFamily="34" charset="0"/>
                    </a:rPr>
                    <a:t>▼</a:t>
                  </a:r>
                  <a:endParaRPr lang="en-US" sz="1000" dirty="0"/>
                </a:p>
              </p:txBody>
            </p:sp>
          </p:grpSp>
        </p:grpSp>
        <p:sp>
          <p:nvSpPr>
            <p:cNvPr id="53" name="Text 7">
              <a:extLst>
                <a:ext uri="{FF2B5EF4-FFF2-40B4-BE49-F238E27FC236}">
                  <a16:creationId xmlns:a16="http://schemas.microsoft.com/office/drawing/2014/main" id="{094994B2-FA45-8F66-42F1-F96F23730FF0}"/>
                </a:ext>
              </a:extLst>
            </p:cNvPr>
            <p:cNvSpPr/>
            <p:nvPr/>
          </p:nvSpPr>
          <p:spPr>
            <a:xfrm>
              <a:off x="6400800" y="1306900"/>
              <a:ext cx="274320" cy="91440"/>
            </a:xfrm>
            <a:prstGeom prst="rect">
              <a:avLst/>
            </a:prstGeom>
            <a:noFill/>
            <a:ln/>
          </p:spPr>
          <p:txBody>
            <a:bodyPr wrap="square" lIns="0" tIns="0" rIns="0" bIns="0" rtlCol="0" anchor="ctr"/>
            <a:lstStyle/>
            <a:p>
              <a:pPr marL="0" indent="0" algn="ctr">
                <a:buNone/>
              </a:pPr>
              <a:r>
                <a:rPr lang="en-US" sz="1000" dirty="0">
                  <a:solidFill>
                    <a:srgbClr val="8D99AE"/>
                  </a:solidFill>
                  <a:latin typeface="Arial" panose="020B0604020202020204" pitchFamily="34" charset="0"/>
                  <a:ea typeface="Calibri Light" pitchFamily="34" charset="-122"/>
                  <a:cs typeface="Arial" panose="020B0604020202020204" pitchFamily="34" charset="0"/>
                </a:rPr>
                <a:t>▼</a:t>
              </a:r>
              <a:endParaRPr lang="en-US" sz="1000" dirty="0"/>
            </a:p>
          </p:txBody>
        </p:sp>
        <p:sp>
          <p:nvSpPr>
            <p:cNvPr id="54" name="Text 11">
              <a:extLst>
                <a:ext uri="{FF2B5EF4-FFF2-40B4-BE49-F238E27FC236}">
                  <a16:creationId xmlns:a16="http://schemas.microsoft.com/office/drawing/2014/main" id="{AE39A416-26A3-CCF8-EC4D-902E2DE49725}"/>
                </a:ext>
              </a:extLst>
            </p:cNvPr>
            <p:cNvSpPr/>
            <p:nvPr/>
          </p:nvSpPr>
          <p:spPr>
            <a:xfrm>
              <a:off x="6400800" y="1709236"/>
              <a:ext cx="274320" cy="91440"/>
            </a:xfrm>
            <a:prstGeom prst="rect">
              <a:avLst/>
            </a:prstGeom>
            <a:noFill/>
            <a:ln/>
          </p:spPr>
          <p:txBody>
            <a:bodyPr wrap="square" lIns="0" tIns="0" rIns="0" bIns="0" rtlCol="0" anchor="ctr"/>
            <a:lstStyle/>
            <a:p>
              <a:pPr marL="0" indent="0" algn="ctr">
                <a:buNone/>
              </a:pPr>
              <a:r>
                <a:rPr lang="en-US" sz="1000" dirty="0">
                  <a:solidFill>
                    <a:srgbClr val="8D99AE"/>
                  </a:solidFill>
                  <a:latin typeface="Arial" panose="020B0604020202020204" pitchFamily="34" charset="0"/>
                  <a:ea typeface="Calibri Light" pitchFamily="34" charset="-122"/>
                  <a:cs typeface="Arial" panose="020B0604020202020204" pitchFamily="34" charset="0"/>
                </a:rPr>
                <a:t>▼</a:t>
              </a:r>
              <a:endParaRPr lang="en-US" sz="1000" dirty="0"/>
            </a:p>
          </p:txBody>
        </p:sp>
        <p:sp>
          <p:nvSpPr>
            <p:cNvPr id="55" name="Text 7">
              <a:extLst>
                <a:ext uri="{FF2B5EF4-FFF2-40B4-BE49-F238E27FC236}">
                  <a16:creationId xmlns:a16="http://schemas.microsoft.com/office/drawing/2014/main" id="{BE3877CE-50FC-6341-4696-376910AF9A19}"/>
                </a:ext>
              </a:extLst>
            </p:cNvPr>
            <p:cNvSpPr/>
            <p:nvPr/>
          </p:nvSpPr>
          <p:spPr>
            <a:xfrm>
              <a:off x="6400800" y="2111572"/>
              <a:ext cx="274320" cy="91440"/>
            </a:xfrm>
            <a:prstGeom prst="rect">
              <a:avLst/>
            </a:prstGeom>
            <a:noFill/>
            <a:ln/>
          </p:spPr>
          <p:txBody>
            <a:bodyPr wrap="square" lIns="0" tIns="0" rIns="0" bIns="0" rtlCol="0" anchor="ctr"/>
            <a:lstStyle/>
            <a:p>
              <a:pPr marL="0" indent="0" algn="ctr">
                <a:buNone/>
              </a:pPr>
              <a:r>
                <a:rPr lang="en-US" sz="1000" dirty="0">
                  <a:solidFill>
                    <a:srgbClr val="8D99AE"/>
                  </a:solidFill>
                  <a:latin typeface="Arial" panose="020B0604020202020204" pitchFamily="34" charset="0"/>
                  <a:ea typeface="Calibri Light" pitchFamily="34" charset="-122"/>
                  <a:cs typeface="Arial" panose="020B0604020202020204" pitchFamily="34" charset="0"/>
                </a:rPr>
                <a:t>▼</a:t>
              </a:r>
              <a:endParaRPr lang="en-US" sz="1000" dirty="0"/>
            </a:p>
          </p:txBody>
        </p:sp>
      </p:grpSp>
    </p:spTree>
    <p:extLst>
      <p:ext uri="{BB962C8B-B14F-4D97-AF65-F5344CB8AC3E}">
        <p14:creationId xmlns:p14="http://schemas.microsoft.com/office/powerpoint/2010/main" val="1286404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BE7E5-C173-B5E3-EB65-CB23AFCD522D}"/>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17D96469-A272-7B8C-A048-565FF748A89A}"/>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F323CCCB-86D6-52EA-278D-98D65FC145C0}"/>
              </a:ext>
            </a:extLst>
          </p:cNvPr>
          <p:cNvSpPr txBox="1"/>
          <p:nvPr/>
        </p:nvSpPr>
        <p:spPr>
          <a:xfrm>
            <a:off x="0" y="43106"/>
            <a:ext cx="11340548"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4. Results: </a:t>
            </a:r>
            <a:r>
              <a:rPr lang="en-US" altLang="ko-KR" sz="2500" b="1" dirty="0">
                <a:solidFill>
                  <a:schemeClr val="bg1"/>
                </a:solidFill>
                <a:latin typeface="Arial" panose="020B0604020202020204" pitchFamily="34" charset="0"/>
                <a:cs typeface="Arial" panose="020B0604020202020204" pitchFamily="34" charset="0"/>
              </a:rPr>
              <a:t>monthly KC </a:t>
            </a:r>
            <a:r>
              <a:rPr lang="en-US" altLang="ko-KR" sz="2500" b="1" dirty="0">
                <a:solidFill>
                  <a:schemeClr val="bg1"/>
                </a:solidFill>
                <a:latin typeface="Arial" panose="020B0604020202020204" pitchFamily="34" charset="0"/>
                <a:ea typeface="맑은 고딕" panose="020B0503020000020004" pitchFamily="50" charset="-127"/>
                <a:cs typeface="Arial" panose="020B0604020202020204" pitchFamily="34" charset="0"/>
              </a:rPr>
              <a:t>transport and distribution</a:t>
            </a:r>
            <a:endParaRPr lang="ko-KR" altLang="en-US" sz="2500" b="1" dirty="0">
              <a:solidFill>
                <a:schemeClr val="bg1"/>
              </a:solidFill>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AF5A6594-FB78-9B6D-CB27-398269F10D40}"/>
              </a:ext>
            </a:extLst>
          </p:cNvPr>
          <p:cNvPicPr>
            <a:picLocks noChangeAspect="1"/>
          </p:cNvPicPr>
          <p:nvPr/>
        </p:nvPicPr>
        <p:blipFill>
          <a:blip r:embed="rId3"/>
          <a:srcRect l="35250" t="5983"/>
          <a:stretch>
            <a:fillRect/>
          </a:stretch>
        </p:blipFill>
        <p:spPr>
          <a:xfrm>
            <a:off x="366645" y="1036465"/>
            <a:ext cx="5256929" cy="2662324"/>
          </a:xfrm>
          <a:prstGeom prst="rect">
            <a:avLst/>
          </a:prstGeom>
        </p:spPr>
      </p:pic>
      <p:pic>
        <p:nvPicPr>
          <p:cNvPr id="9" name="그림 8">
            <a:extLst>
              <a:ext uri="{FF2B5EF4-FFF2-40B4-BE49-F238E27FC236}">
                <a16:creationId xmlns:a16="http://schemas.microsoft.com/office/drawing/2014/main" id="{CD92BFBD-C3C1-FC7F-BBE6-68B57F28DAE5}"/>
              </a:ext>
            </a:extLst>
          </p:cNvPr>
          <p:cNvPicPr>
            <a:picLocks/>
          </p:cNvPicPr>
          <p:nvPr/>
        </p:nvPicPr>
        <p:blipFill>
          <a:blip r:embed="rId4"/>
          <a:stretch>
            <a:fillRect/>
          </a:stretch>
        </p:blipFill>
        <p:spPr>
          <a:xfrm>
            <a:off x="6774180" y="1117765"/>
            <a:ext cx="4085540" cy="2662324"/>
          </a:xfrm>
          <a:prstGeom prst="rect">
            <a:avLst/>
          </a:prstGeom>
        </p:spPr>
      </p:pic>
      <p:sp>
        <p:nvSpPr>
          <p:cNvPr id="10" name="TextBox 9">
            <a:extLst>
              <a:ext uri="{FF2B5EF4-FFF2-40B4-BE49-F238E27FC236}">
                <a16:creationId xmlns:a16="http://schemas.microsoft.com/office/drawing/2014/main" id="{D31B437F-0640-D38B-D624-562B8B4058C6}"/>
              </a:ext>
            </a:extLst>
          </p:cNvPr>
          <p:cNvSpPr txBox="1"/>
          <p:nvPr/>
        </p:nvSpPr>
        <p:spPr>
          <a:xfrm>
            <a:off x="7165691" y="853630"/>
            <a:ext cx="3377166" cy="276999"/>
          </a:xfrm>
          <a:prstGeom prst="rect">
            <a:avLst/>
          </a:prstGeom>
          <a:noFill/>
        </p:spPr>
        <p:txBody>
          <a:bodyPr wrap="square">
            <a:spAutoFit/>
          </a:bodyPr>
          <a:lstStyle/>
          <a:p>
            <a:r>
              <a:rPr lang="en-US" altLang="ko-KR" sz="1200" b="1" dirty="0">
                <a:latin typeface="Arial" panose="020B0604020202020204" pitchFamily="34" charset="0"/>
                <a:cs typeface="Arial" panose="020B0604020202020204" pitchFamily="34" charset="0"/>
              </a:rPr>
              <a:t>Box plots of KC transport for the HT and LT</a:t>
            </a:r>
            <a:endParaRPr lang="ko-KR" altLang="en-US" sz="1200" b="1" dirty="0">
              <a:latin typeface="Arial" panose="020B0604020202020204" pitchFamily="34" charset="0"/>
              <a:cs typeface="Arial" panose="020B0604020202020204" pitchFamily="34" charset="0"/>
            </a:endParaRPr>
          </a:p>
        </p:txBody>
      </p:sp>
      <p:pic>
        <p:nvPicPr>
          <p:cNvPr id="12" name="그림 11">
            <a:extLst>
              <a:ext uri="{FF2B5EF4-FFF2-40B4-BE49-F238E27FC236}">
                <a16:creationId xmlns:a16="http://schemas.microsoft.com/office/drawing/2014/main" id="{099D55C8-5304-0452-3085-8E720EC16F1E}"/>
              </a:ext>
            </a:extLst>
          </p:cNvPr>
          <p:cNvPicPr>
            <a:picLocks noChangeAspect="1"/>
          </p:cNvPicPr>
          <p:nvPr/>
        </p:nvPicPr>
        <p:blipFill>
          <a:blip r:embed="rId5"/>
          <a:stretch>
            <a:fillRect/>
          </a:stretch>
        </p:blipFill>
        <p:spPr>
          <a:xfrm>
            <a:off x="434354" y="4216818"/>
            <a:ext cx="5189220" cy="2291601"/>
          </a:xfrm>
          <a:prstGeom prst="rect">
            <a:avLst/>
          </a:prstGeom>
        </p:spPr>
      </p:pic>
      <p:sp>
        <p:nvSpPr>
          <p:cNvPr id="13" name="TextBox 12">
            <a:extLst>
              <a:ext uri="{FF2B5EF4-FFF2-40B4-BE49-F238E27FC236}">
                <a16:creationId xmlns:a16="http://schemas.microsoft.com/office/drawing/2014/main" id="{27B57F4D-22B6-BC6B-3946-EBE377F22667}"/>
              </a:ext>
            </a:extLst>
          </p:cNvPr>
          <p:cNvSpPr txBox="1"/>
          <p:nvPr/>
        </p:nvSpPr>
        <p:spPr>
          <a:xfrm>
            <a:off x="563880" y="3939819"/>
            <a:ext cx="4481347" cy="276999"/>
          </a:xfrm>
          <a:prstGeom prst="rect">
            <a:avLst/>
          </a:prstGeom>
          <a:noFill/>
        </p:spPr>
        <p:txBody>
          <a:bodyPr wrap="square">
            <a:spAutoFit/>
          </a:bodyPr>
          <a:lstStyle/>
          <a:p>
            <a:r>
              <a:rPr lang="en-US" altLang="ko-KR" sz="1200" b="1" dirty="0">
                <a:latin typeface="Arial" panose="020B0604020202020204" pitchFamily="34" charset="0"/>
                <a:cs typeface="Arial" panose="020B0604020202020204" pitchFamily="34" charset="0"/>
              </a:rPr>
              <a:t>Monthly distribution of HT and LT months in the KC region</a:t>
            </a:r>
            <a:endParaRPr lang="ko-KR" altLang="en-US" sz="1200" b="1"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6AE1DBF9-7881-FDFE-1786-0C87EE2C3D58}"/>
              </a:ext>
            </a:extLst>
          </p:cNvPr>
          <p:cNvSpPr txBox="1"/>
          <p:nvPr/>
        </p:nvSpPr>
        <p:spPr>
          <a:xfrm>
            <a:off x="738217" y="6508419"/>
            <a:ext cx="4581494" cy="246221"/>
          </a:xfrm>
          <a:prstGeom prst="rect">
            <a:avLst/>
          </a:prstGeom>
          <a:noFill/>
        </p:spPr>
        <p:txBody>
          <a:bodyPr wrap="square" rtlCol="0">
            <a:spAutoFit/>
          </a:bodyPr>
          <a:lstStyle/>
          <a:p>
            <a:r>
              <a:rPr lang="en-US" altLang="ko-KR" sz="1000" dirty="0">
                <a:latin typeface="Arial" panose="020B0604020202020204" pitchFamily="34" charset="0"/>
                <a:cs typeface="Arial" panose="020B0604020202020204" pitchFamily="34" charset="0"/>
              </a:rPr>
              <a:t>June–October 1993–2020 (total = 140 months, n = 70 months per group)</a:t>
            </a:r>
            <a:endParaRPr lang="ko-KR" altLang="ko-KR" sz="1000" dirty="0">
              <a:latin typeface="Arial" panose="020B0604020202020204" pitchFamily="34" charset="0"/>
              <a:cs typeface="Arial" panose="020B0604020202020204" pitchFamily="34" charset="0"/>
            </a:endParaRPr>
          </a:p>
        </p:txBody>
      </p:sp>
      <p:sp>
        <p:nvSpPr>
          <p:cNvPr id="16" name="Rectangle 20">
            <a:extLst>
              <a:ext uri="{FF2B5EF4-FFF2-40B4-BE49-F238E27FC236}">
                <a16:creationId xmlns:a16="http://schemas.microsoft.com/office/drawing/2014/main" id="{2EC9194A-8CC3-78B2-7C58-D68F1EDD8DF0}"/>
              </a:ext>
            </a:extLst>
          </p:cNvPr>
          <p:cNvSpPr/>
          <p:nvPr/>
        </p:nvSpPr>
        <p:spPr>
          <a:xfrm>
            <a:off x="6496344" y="3977664"/>
            <a:ext cx="5056363" cy="2600474"/>
          </a:xfrm>
          <a:prstGeom prst="rect">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7">
            <a:extLst>
              <a:ext uri="{FF2B5EF4-FFF2-40B4-BE49-F238E27FC236}">
                <a16:creationId xmlns:a16="http://schemas.microsoft.com/office/drawing/2014/main" id="{92B923BC-CBCF-7272-500A-66B9742B9A1A}"/>
              </a:ext>
            </a:extLst>
          </p:cNvPr>
          <p:cNvSpPr/>
          <p:nvPr/>
        </p:nvSpPr>
        <p:spPr>
          <a:xfrm>
            <a:off x="6488527" y="3987589"/>
            <a:ext cx="5056363" cy="410858"/>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60E3B68F-D67D-D77C-D816-46F2B569C569}"/>
              </a:ext>
            </a:extLst>
          </p:cNvPr>
          <p:cNvSpPr txBox="1"/>
          <p:nvPr/>
        </p:nvSpPr>
        <p:spPr>
          <a:xfrm>
            <a:off x="7780948" y="4023741"/>
            <a:ext cx="2471521" cy="353943"/>
          </a:xfrm>
          <a:prstGeom prst="rect">
            <a:avLst/>
          </a:prstGeom>
          <a:noFill/>
        </p:spPr>
        <p:txBody>
          <a:bodyPr wrap="square">
            <a:spAutoFit/>
          </a:bodyPr>
          <a:lstStyle/>
          <a:p>
            <a:pPr algn="ctr">
              <a:defRPr sz="1100" b="1">
                <a:solidFill>
                  <a:srgbClr val="FFFFFF"/>
                </a:solidFill>
                <a:latin typeface="Trebuchet MS"/>
              </a:defRPr>
            </a:pPr>
            <a:r>
              <a:rPr lang="en-US" altLang="ko-KR" sz="1700" dirty="0">
                <a:latin typeface="Arial" panose="020B0604020202020204" pitchFamily="34" charset="0"/>
              </a:rPr>
              <a:t>Key results</a:t>
            </a:r>
          </a:p>
        </p:txBody>
      </p:sp>
      <p:sp>
        <p:nvSpPr>
          <p:cNvPr id="26" name="TextBox 25">
            <a:extLst>
              <a:ext uri="{FF2B5EF4-FFF2-40B4-BE49-F238E27FC236}">
                <a16:creationId xmlns:a16="http://schemas.microsoft.com/office/drawing/2014/main" id="{26C42EBE-D2E1-5D3F-0451-0C084602473F}"/>
              </a:ext>
            </a:extLst>
          </p:cNvPr>
          <p:cNvSpPr txBox="1"/>
          <p:nvPr/>
        </p:nvSpPr>
        <p:spPr>
          <a:xfrm>
            <a:off x="563880" y="808674"/>
            <a:ext cx="4054128" cy="276999"/>
          </a:xfrm>
          <a:prstGeom prst="rect">
            <a:avLst/>
          </a:prstGeom>
          <a:noFill/>
        </p:spPr>
        <p:txBody>
          <a:bodyPr wrap="square">
            <a:spAutoFit/>
          </a:bodyPr>
          <a:lstStyle/>
          <a:p>
            <a:r>
              <a:rPr lang="en-US" altLang="ko-KR" sz="1200" b="1" dirty="0">
                <a:latin typeface="Arial" panose="020B0604020202020204" pitchFamily="34" charset="0"/>
                <a:cs typeface="Arial" panose="020B0604020202020204" pitchFamily="34" charset="0"/>
              </a:rPr>
              <a:t>Kuroshio transport time series</a:t>
            </a:r>
            <a:endParaRPr lang="ko-KR" altLang="en-US" sz="1200" b="1" dirty="0">
              <a:latin typeface="Arial" panose="020B0604020202020204" pitchFamily="34" charset="0"/>
              <a:cs typeface="Arial" panose="020B0604020202020204" pitchFamily="34" charset="0"/>
            </a:endParaRPr>
          </a:p>
        </p:txBody>
      </p:sp>
      <p:sp>
        <p:nvSpPr>
          <p:cNvPr id="27" name="직사각형 26">
            <a:extLst>
              <a:ext uri="{FF2B5EF4-FFF2-40B4-BE49-F238E27FC236}">
                <a16:creationId xmlns:a16="http://schemas.microsoft.com/office/drawing/2014/main" id="{47398EB0-482C-67BF-04B1-8C1429A6CCB2}"/>
              </a:ext>
            </a:extLst>
          </p:cNvPr>
          <p:cNvSpPr/>
          <p:nvPr/>
        </p:nvSpPr>
        <p:spPr>
          <a:xfrm>
            <a:off x="6041195" y="788276"/>
            <a:ext cx="117869" cy="5854262"/>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a:extLst>
              <a:ext uri="{FF2B5EF4-FFF2-40B4-BE49-F238E27FC236}">
                <a16:creationId xmlns:a16="http://schemas.microsoft.com/office/drawing/2014/main" id="{B7FBB45C-E5C8-09F7-DC74-287CD2EB3169}"/>
              </a:ext>
            </a:extLst>
          </p:cNvPr>
          <p:cNvSpPr txBox="1"/>
          <p:nvPr/>
        </p:nvSpPr>
        <p:spPr>
          <a:xfrm>
            <a:off x="6576685" y="4590648"/>
            <a:ext cx="4862646" cy="1708160"/>
          </a:xfrm>
          <a:prstGeom prst="rect">
            <a:avLst/>
          </a:prstGeom>
          <a:noFill/>
        </p:spPr>
        <p:txBody>
          <a:bodyPr wrap="square" rtlCol="0">
            <a:spAutoFit/>
          </a:bodyPr>
          <a:lstStyle/>
          <a:p>
            <a:pPr marL="285750" indent="-285750">
              <a:buFont typeface="Arial" panose="020B0604020202020204" pitchFamily="34" charset="0"/>
              <a:buChar char="•"/>
            </a:pPr>
            <a:r>
              <a:rPr lang="en-US" altLang="ko-KR" sz="1500" dirty="0">
                <a:latin typeface="Times New Roman" panose="02020603050405020304" pitchFamily="18" charset="0"/>
                <a:cs typeface="Times New Roman" panose="02020603050405020304" pitchFamily="18" charset="0"/>
              </a:rPr>
              <a:t>KC transport in summer has been increasing over time</a:t>
            </a:r>
          </a:p>
          <a:p>
            <a:pPr marL="285750" indent="-285750">
              <a:buFont typeface="Arial" panose="020B0604020202020204" pitchFamily="34" charset="0"/>
              <a:buChar char="•"/>
            </a:pPr>
            <a:endParaRPr lang="en-US" altLang="ko-KR" sz="15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500" dirty="0">
                <a:latin typeface="Times New Roman" panose="02020603050405020304" pitchFamily="18" charset="0"/>
                <a:cs typeface="Times New Roman" panose="02020603050405020304" pitchFamily="18" charset="0"/>
              </a:rPr>
              <a:t>HT, LT groups do not show a big difference in their monthly distribution</a:t>
            </a:r>
          </a:p>
          <a:p>
            <a:pPr marL="285750" indent="-285750">
              <a:buFont typeface="Arial" panose="020B0604020202020204" pitchFamily="34" charset="0"/>
              <a:buChar char="•"/>
            </a:pPr>
            <a:endParaRPr lang="en-US" altLang="ko-KR" sz="15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500" dirty="0">
                <a:latin typeface="Times New Roman" panose="02020603050405020304" pitchFamily="18" charset="0"/>
                <a:cs typeface="Times New Roman" panose="02020603050405020304" pitchFamily="18" charset="0"/>
              </a:rPr>
              <a:t>HT, LT groups show a significant difference in KC transport</a:t>
            </a:r>
            <a:endParaRPr lang="ko-KR" alt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5340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EFBBD254-5D58-5CF7-A573-3D612E4F621B}"/>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C9A2BE08-FDA1-5E1F-6585-00ED47A49734}"/>
              </a:ext>
            </a:extLst>
          </p:cNvPr>
          <p:cNvSpPr txBox="1"/>
          <p:nvPr/>
        </p:nvSpPr>
        <p:spPr>
          <a:xfrm>
            <a:off x="0" y="43106"/>
            <a:ext cx="11718235"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4. Results: </a:t>
            </a:r>
            <a:r>
              <a:rPr lang="en-US" altLang="ko-KR" sz="2500" b="1" dirty="0">
                <a:solidFill>
                  <a:schemeClr val="bg1"/>
                </a:solidFill>
                <a:latin typeface="Arial" panose="020B0604020202020204" pitchFamily="34" charset="0"/>
                <a:ea typeface="맑은 고딕" panose="020B0503020000020004" pitchFamily="50" charset="-127"/>
                <a:cs typeface="Arial" panose="020B0604020202020204" pitchFamily="34" charset="0"/>
              </a:rPr>
              <a:t>monthly ADT, SST, OHC and VWS comparison by group </a:t>
            </a:r>
            <a:endParaRPr lang="ko-KR" altLang="en-US" sz="2500" b="1" dirty="0">
              <a:solidFill>
                <a:schemeClr val="bg1"/>
              </a:solidFill>
              <a:latin typeface="Arial" panose="020B0604020202020204" pitchFamily="34" charset="0"/>
              <a:cs typeface="Arial" panose="020B0604020202020204" pitchFamily="34" charset="0"/>
            </a:endParaRPr>
          </a:p>
        </p:txBody>
      </p:sp>
      <p:sp>
        <p:nvSpPr>
          <p:cNvPr id="2" name="직사각형 1">
            <a:extLst>
              <a:ext uri="{FF2B5EF4-FFF2-40B4-BE49-F238E27FC236}">
                <a16:creationId xmlns:a16="http://schemas.microsoft.com/office/drawing/2014/main" id="{2A6222D7-8DD4-E62A-D152-700BDB0C20F5}"/>
              </a:ext>
            </a:extLst>
          </p:cNvPr>
          <p:cNvSpPr/>
          <p:nvPr/>
        </p:nvSpPr>
        <p:spPr>
          <a:xfrm>
            <a:off x="6041196" y="788276"/>
            <a:ext cx="92068" cy="4540506"/>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9B866A84-EF54-AD74-5D6F-D92B3196A578}"/>
              </a:ext>
            </a:extLst>
          </p:cNvPr>
          <p:cNvPicPr>
            <a:picLocks/>
          </p:cNvPicPr>
          <p:nvPr/>
        </p:nvPicPr>
        <p:blipFill>
          <a:blip r:embed="rId3"/>
          <a:stretch>
            <a:fillRect/>
          </a:stretch>
        </p:blipFill>
        <p:spPr>
          <a:xfrm>
            <a:off x="34049" y="3092258"/>
            <a:ext cx="5924791" cy="2148470"/>
          </a:xfrm>
          <a:prstGeom prst="rect">
            <a:avLst/>
          </a:prstGeom>
        </p:spPr>
      </p:pic>
      <p:pic>
        <p:nvPicPr>
          <p:cNvPr id="9" name="그림 8">
            <a:extLst>
              <a:ext uri="{FF2B5EF4-FFF2-40B4-BE49-F238E27FC236}">
                <a16:creationId xmlns:a16="http://schemas.microsoft.com/office/drawing/2014/main" id="{E040697E-016A-FB02-7C51-A5EC4A11F263}"/>
              </a:ext>
            </a:extLst>
          </p:cNvPr>
          <p:cNvPicPr>
            <a:picLocks/>
          </p:cNvPicPr>
          <p:nvPr/>
        </p:nvPicPr>
        <p:blipFill>
          <a:blip r:embed="rId4"/>
          <a:stretch>
            <a:fillRect/>
          </a:stretch>
        </p:blipFill>
        <p:spPr>
          <a:xfrm>
            <a:off x="34049" y="843623"/>
            <a:ext cx="5924791" cy="2148470"/>
          </a:xfrm>
          <a:prstGeom prst="rect">
            <a:avLst/>
          </a:prstGeom>
        </p:spPr>
      </p:pic>
      <p:pic>
        <p:nvPicPr>
          <p:cNvPr id="10" name="그림 9">
            <a:extLst>
              <a:ext uri="{FF2B5EF4-FFF2-40B4-BE49-F238E27FC236}">
                <a16:creationId xmlns:a16="http://schemas.microsoft.com/office/drawing/2014/main" id="{1095AFA9-DBF1-1036-C2BF-4CB1C51D49C6}"/>
              </a:ext>
            </a:extLst>
          </p:cNvPr>
          <p:cNvPicPr>
            <a:picLocks/>
          </p:cNvPicPr>
          <p:nvPr/>
        </p:nvPicPr>
        <p:blipFill>
          <a:blip r:embed="rId5"/>
          <a:stretch>
            <a:fillRect/>
          </a:stretch>
        </p:blipFill>
        <p:spPr>
          <a:xfrm>
            <a:off x="6215619" y="843623"/>
            <a:ext cx="5924791" cy="2148470"/>
          </a:xfrm>
          <a:prstGeom prst="rect">
            <a:avLst/>
          </a:prstGeom>
        </p:spPr>
      </p:pic>
      <p:grpSp>
        <p:nvGrpSpPr>
          <p:cNvPr id="11" name="그룹 10">
            <a:extLst>
              <a:ext uri="{FF2B5EF4-FFF2-40B4-BE49-F238E27FC236}">
                <a16:creationId xmlns:a16="http://schemas.microsoft.com/office/drawing/2014/main" id="{5E0FA27D-B880-2C37-B2E3-354CA3B5DF81}"/>
              </a:ext>
            </a:extLst>
          </p:cNvPr>
          <p:cNvGrpSpPr>
            <a:grpSpLocks/>
          </p:cNvGrpSpPr>
          <p:nvPr/>
        </p:nvGrpSpPr>
        <p:grpSpPr>
          <a:xfrm>
            <a:off x="6215620" y="3092258"/>
            <a:ext cx="5924791" cy="2148470"/>
            <a:chOff x="755402" y="1577354"/>
            <a:chExt cx="7633196" cy="2278366"/>
          </a:xfrm>
        </p:grpSpPr>
        <p:pic>
          <p:nvPicPr>
            <p:cNvPr id="12" name="그림 11">
              <a:extLst>
                <a:ext uri="{FF2B5EF4-FFF2-40B4-BE49-F238E27FC236}">
                  <a16:creationId xmlns:a16="http://schemas.microsoft.com/office/drawing/2014/main" id="{83CAE5F5-B083-A1F2-EE2E-3920FBB671F1}"/>
                </a:ext>
              </a:extLst>
            </p:cNvPr>
            <p:cNvPicPr>
              <a:picLocks noChangeAspect="1"/>
            </p:cNvPicPr>
            <p:nvPr/>
          </p:nvPicPr>
          <p:blipFill>
            <a:blip r:embed="rId6"/>
            <a:srcRect t="68741"/>
            <a:stretch>
              <a:fillRect/>
            </a:stretch>
          </p:blipFill>
          <p:spPr>
            <a:xfrm>
              <a:off x="755402" y="1821180"/>
              <a:ext cx="7633196" cy="2034540"/>
            </a:xfrm>
            <a:prstGeom prst="rect">
              <a:avLst/>
            </a:prstGeom>
          </p:spPr>
        </p:pic>
        <p:sp>
          <p:nvSpPr>
            <p:cNvPr id="13" name="TextBox 12">
              <a:extLst>
                <a:ext uri="{FF2B5EF4-FFF2-40B4-BE49-F238E27FC236}">
                  <a16:creationId xmlns:a16="http://schemas.microsoft.com/office/drawing/2014/main" id="{12108BC6-2C78-2AB5-9E2F-FBB7D6B0396D}"/>
                </a:ext>
              </a:extLst>
            </p:cNvPr>
            <p:cNvSpPr txBox="1"/>
            <p:nvPr/>
          </p:nvSpPr>
          <p:spPr>
            <a:xfrm>
              <a:off x="980120" y="1577354"/>
              <a:ext cx="2045019" cy="318902"/>
            </a:xfrm>
            <a:prstGeom prst="rect">
              <a:avLst/>
            </a:prstGeom>
            <a:noFill/>
          </p:spPr>
          <p:txBody>
            <a:bodyPr wrap="square" rtlCol="0">
              <a:spAutoFit/>
            </a:bodyPr>
            <a:lstStyle/>
            <a:p>
              <a:r>
                <a:rPr lang="en-US" altLang="ko-KR" sz="900" dirty="0">
                  <a:latin typeface="Arial" panose="020B0604020202020204" pitchFamily="34" charset="0"/>
                  <a:cs typeface="Arial" panose="020B0604020202020204" pitchFamily="34" charset="0"/>
                </a:rPr>
                <a:t>a. HT VWS anomaly (m/s)</a:t>
              </a:r>
              <a:endParaRPr lang="ko-KR" altLang="en-US" sz="9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83E9D1C-E294-60BB-368E-0B2F8686C0B0}"/>
                </a:ext>
              </a:extLst>
            </p:cNvPr>
            <p:cNvSpPr txBox="1"/>
            <p:nvPr/>
          </p:nvSpPr>
          <p:spPr>
            <a:xfrm>
              <a:off x="3448999" y="1577354"/>
              <a:ext cx="2045019" cy="318902"/>
            </a:xfrm>
            <a:prstGeom prst="rect">
              <a:avLst/>
            </a:prstGeom>
            <a:noFill/>
          </p:spPr>
          <p:txBody>
            <a:bodyPr wrap="square" rtlCol="0">
              <a:spAutoFit/>
            </a:bodyPr>
            <a:lstStyle/>
            <a:p>
              <a:r>
                <a:rPr lang="en-US" altLang="ko-KR" sz="900" dirty="0">
                  <a:latin typeface="Arial" panose="020B0604020202020204" pitchFamily="34" charset="0"/>
                  <a:cs typeface="Arial" panose="020B0604020202020204" pitchFamily="34" charset="0"/>
                </a:rPr>
                <a:t>b. HT VWS anomaly (m/s)</a:t>
              </a:r>
              <a:endParaRPr lang="ko-KR" altLang="en-US" sz="9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DD6C8082-1C0C-4A42-6D17-F0445FD87CB4}"/>
                </a:ext>
              </a:extLst>
            </p:cNvPr>
            <p:cNvSpPr txBox="1"/>
            <p:nvPr/>
          </p:nvSpPr>
          <p:spPr>
            <a:xfrm>
              <a:off x="5859780" y="1577354"/>
              <a:ext cx="2372680" cy="318902"/>
            </a:xfrm>
            <a:prstGeom prst="rect">
              <a:avLst/>
            </a:prstGeom>
            <a:noFill/>
          </p:spPr>
          <p:txBody>
            <a:bodyPr wrap="square" rtlCol="0">
              <a:spAutoFit/>
            </a:bodyPr>
            <a:lstStyle/>
            <a:p>
              <a:r>
                <a:rPr lang="en-US" altLang="ko-KR" sz="900" dirty="0">
                  <a:latin typeface="Arial" panose="020B0604020202020204" pitchFamily="34" charset="0"/>
                  <a:cs typeface="Arial" panose="020B0604020202020204" pitchFamily="34" charset="0"/>
                </a:rPr>
                <a:t>c. HT-LT VWS difference (m/s)</a:t>
              </a:r>
              <a:endParaRPr lang="ko-KR" altLang="en-US" sz="900" dirty="0">
                <a:latin typeface="Arial" panose="020B0604020202020204" pitchFamily="34" charset="0"/>
                <a:cs typeface="Arial" panose="020B0604020202020204" pitchFamily="34" charset="0"/>
              </a:endParaRPr>
            </a:p>
          </p:txBody>
        </p:sp>
      </p:grpSp>
      <p:sp>
        <p:nvSpPr>
          <p:cNvPr id="16" name="Rectangle 20">
            <a:extLst>
              <a:ext uri="{FF2B5EF4-FFF2-40B4-BE49-F238E27FC236}">
                <a16:creationId xmlns:a16="http://schemas.microsoft.com/office/drawing/2014/main" id="{85472FA2-7193-D353-F974-1BD71E2EFDDC}"/>
              </a:ext>
            </a:extLst>
          </p:cNvPr>
          <p:cNvSpPr/>
          <p:nvPr/>
        </p:nvSpPr>
        <p:spPr>
          <a:xfrm>
            <a:off x="103415" y="5470653"/>
            <a:ext cx="11985169" cy="1296314"/>
          </a:xfrm>
          <a:prstGeom prst="rect">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717BAF1D-4723-37A0-871A-DEEC9D2F78FD}"/>
              </a:ext>
            </a:extLst>
          </p:cNvPr>
          <p:cNvSpPr txBox="1"/>
          <p:nvPr/>
        </p:nvSpPr>
        <p:spPr>
          <a:xfrm>
            <a:off x="224231" y="5610978"/>
            <a:ext cx="11633929" cy="1015663"/>
          </a:xfrm>
          <a:prstGeom prst="rect">
            <a:avLst/>
          </a:prstGeom>
          <a:noFill/>
        </p:spPr>
        <p:txBody>
          <a:bodyPr wrap="square" rtlCol="0">
            <a:spAutoFit/>
          </a:bodyPr>
          <a:lstStyle/>
          <a:p>
            <a:pPr marL="285750" indent="-285750">
              <a:buFont typeface="Arial" panose="020B0604020202020204" pitchFamily="34" charset="0"/>
              <a:buChar char="•"/>
            </a:pPr>
            <a:r>
              <a:rPr lang="en-US" altLang="ko-KR" sz="1500" dirty="0">
                <a:latin typeface="Times New Roman" panose="02020603050405020304" pitchFamily="18" charset="0"/>
                <a:cs typeface="Times New Roman" panose="02020603050405020304" pitchFamily="18" charset="0"/>
              </a:rPr>
              <a:t>The HT group showed higher </a:t>
            </a:r>
            <a:r>
              <a:rPr lang="en-US" altLang="ko-KR" sz="1500" dirty="0" err="1">
                <a:latin typeface="Times New Roman" panose="02020603050405020304" pitchFamily="18" charset="0"/>
                <a:cs typeface="Times New Roman" panose="02020603050405020304" pitchFamily="18" charset="0"/>
              </a:rPr>
              <a:t>Absoulte</a:t>
            </a:r>
            <a:r>
              <a:rPr lang="en-US" altLang="ko-KR" sz="1500" dirty="0">
                <a:latin typeface="Times New Roman" panose="02020603050405020304" pitchFamily="18" charset="0"/>
                <a:cs typeface="Times New Roman" panose="02020603050405020304" pitchFamily="18" charset="0"/>
              </a:rPr>
              <a:t> Dynamic Topography (ADT), Sea Surface Temperature (SST), and Ocean Heat Content. Overall, ocean current and heat energy was higher in the HT group.</a:t>
            </a:r>
          </a:p>
          <a:p>
            <a:pPr marL="285750" indent="-285750">
              <a:buFont typeface="Arial" panose="020B0604020202020204" pitchFamily="34" charset="0"/>
              <a:buChar char="•"/>
            </a:pPr>
            <a:endParaRPr lang="en-US" altLang="ko-KR" sz="15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500" dirty="0">
                <a:latin typeface="Times New Roman" panose="02020603050405020304" pitchFamily="18" charset="0"/>
                <a:cs typeface="Times New Roman" panose="02020603050405020304" pitchFamily="18" charset="0"/>
              </a:rPr>
              <a:t>For Vertical Wind Shear (VWS), no significant difference was found between the HT and LT groups.</a:t>
            </a:r>
          </a:p>
        </p:txBody>
      </p:sp>
    </p:spTree>
    <p:extLst>
      <p:ext uri="{BB962C8B-B14F-4D97-AF65-F5344CB8AC3E}">
        <p14:creationId xmlns:p14="http://schemas.microsoft.com/office/powerpoint/2010/main" val="1641891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DDE25-0FE3-71C4-27A2-BE498330182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E0D245BC-B2FE-3EAF-078D-55D5EB1400E5}"/>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98DFB671-32D4-7486-1D2C-4B983F5E0BD5}"/>
              </a:ext>
            </a:extLst>
          </p:cNvPr>
          <p:cNvSpPr txBox="1"/>
          <p:nvPr/>
        </p:nvSpPr>
        <p:spPr>
          <a:xfrm>
            <a:off x="0" y="43106"/>
            <a:ext cx="10933043"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4. Results: </a:t>
            </a:r>
            <a:r>
              <a:rPr lang="en-US" altLang="ko-KR" sz="2500" b="1" dirty="0">
                <a:solidFill>
                  <a:schemeClr val="bg1"/>
                </a:solidFill>
                <a:latin typeface="Arial" panose="020B0604020202020204" pitchFamily="34" charset="0"/>
                <a:ea typeface="맑은 고딕" panose="020B0503020000020004" pitchFamily="50" charset="-127"/>
                <a:cs typeface="Arial" panose="020B0604020202020204" pitchFamily="34" charset="0"/>
              </a:rPr>
              <a:t>monthly </a:t>
            </a:r>
            <a:r>
              <a:rPr lang="en-US" altLang="ko-KR" sz="2500" b="1" dirty="0" err="1">
                <a:solidFill>
                  <a:schemeClr val="bg1"/>
                </a:solidFill>
                <a:latin typeface="Arial" panose="020B0604020202020204" pitchFamily="34" charset="0"/>
                <a:ea typeface="맑은 고딕" panose="020B0503020000020004" pitchFamily="50" charset="-127"/>
                <a:cs typeface="Arial" panose="020B0604020202020204" pitchFamily="34" charset="0"/>
              </a:rPr>
              <a:t>z500</a:t>
            </a:r>
            <a:r>
              <a:rPr lang="en-US" altLang="ko-KR" sz="2500" b="1" dirty="0">
                <a:solidFill>
                  <a:schemeClr val="bg1"/>
                </a:solidFill>
                <a:latin typeface="Arial" panose="020B0604020202020204" pitchFamily="34" charset="0"/>
                <a:ea typeface="맑은 고딕" panose="020B0503020000020004" pitchFamily="50" charset="-127"/>
                <a:cs typeface="Arial" panose="020B0604020202020204" pitchFamily="34" charset="0"/>
              </a:rPr>
              <a:t> mean and anomaly </a:t>
            </a:r>
            <a:endParaRPr lang="ko-KR" altLang="en-US" sz="2500" b="1" dirty="0">
              <a:solidFill>
                <a:schemeClr val="bg1"/>
              </a:solidFill>
              <a:latin typeface="Arial" panose="020B0604020202020204" pitchFamily="34" charset="0"/>
              <a:cs typeface="Arial" panose="020B0604020202020204" pitchFamily="34" charset="0"/>
            </a:endParaRPr>
          </a:p>
        </p:txBody>
      </p:sp>
      <p:sp>
        <p:nvSpPr>
          <p:cNvPr id="16" name="Rectangle 20">
            <a:extLst>
              <a:ext uri="{FF2B5EF4-FFF2-40B4-BE49-F238E27FC236}">
                <a16:creationId xmlns:a16="http://schemas.microsoft.com/office/drawing/2014/main" id="{DB669EA3-1547-D2E0-F826-42D8F9A545A9}"/>
              </a:ext>
            </a:extLst>
          </p:cNvPr>
          <p:cNvSpPr/>
          <p:nvPr/>
        </p:nvSpPr>
        <p:spPr>
          <a:xfrm>
            <a:off x="103415" y="5804451"/>
            <a:ext cx="11985169" cy="962515"/>
          </a:xfrm>
          <a:prstGeom prst="rect">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6283B88-D347-022B-04FE-8290BBFD7CB2}"/>
              </a:ext>
            </a:extLst>
          </p:cNvPr>
          <p:cNvSpPr txBox="1"/>
          <p:nvPr/>
        </p:nvSpPr>
        <p:spPr>
          <a:xfrm>
            <a:off x="224231" y="5870209"/>
            <a:ext cx="11633929" cy="830997"/>
          </a:xfrm>
          <a:prstGeom prst="rect">
            <a:avLst/>
          </a:prstGeom>
          <a:noFill/>
        </p:spPr>
        <p:txBody>
          <a:bodyPr wrap="square" rtlCol="0">
            <a:spAutoFit/>
          </a:bodyPr>
          <a:lstStyle/>
          <a:p>
            <a:pPr marL="228594" indent="-228594">
              <a:buFont typeface="Arial" panose="020B0604020202020204" pitchFamily="34" charset="0"/>
              <a:buChar char="•"/>
            </a:pPr>
            <a:r>
              <a:rPr lang="en-US" altLang="ko-KR" sz="1600" dirty="0">
                <a:latin typeface="Times New Roman" panose="02020603050405020304" pitchFamily="18" charset="0"/>
                <a:cs typeface="Times New Roman" panose="02020603050405020304" pitchFamily="18" charset="0"/>
              </a:rPr>
              <a:t>No significant difference in subtropical high pressure by group</a:t>
            </a:r>
            <a:br>
              <a:rPr lang="en-US" altLang="ko-KR" sz="1600" dirty="0">
                <a:latin typeface="Times New Roman" panose="02020603050405020304" pitchFamily="18" charset="0"/>
                <a:cs typeface="Times New Roman" panose="02020603050405020304" pitchFamily="18" charset="0"/>
              </a:rPr>
            </a:br>
            <a:endParaRPr lang="en-US" altLang="ko-KR" sz="1600" dirty="0">
              <a:latin typeface="Times New Roman" panose="02020603050405020304" pitchFamily="18" charset="0"/>
              <a:cs typeface="Times New Roman" panose="02020603050405020304" pitchFamily="18" charset="0"/>
            </a:endParaRPr>
          </a:p>
          <a:p>
            <a:pPr marL="228594" indent="-228594">
              <a:buFont typeface="Arial" panose="020B0604020202020204" pitchFamily="34" charset="0"/>
              <a:buChar char="•"/>
            </a:pPr>
            <a:r>
              <a:rPr lang="en-US" altLang="ko-KR" sz="1600" dirty="0">
                <a:latin typeface="Times New Roman" panose="02020603050405020304" pitchFamily="18" charset="0"/>
                <a:cs typeface="Times New Roman" panose="02020603050405020304" pitchFamily="18" charset="0"/>
              </a:rPr>
              <a:t>It is possible to evaluate the effect of upper-level KC transport more independently.</a:t>
            </a:r>
          </a:p>
        </p:txBody>
      </p:sp>
      <p:pic>
        <p:nvPicPr>
          <p:cNvPr id="3" name="그림 2">
            <a:extLst>
              <a:ext uri="{FF2B5EF4-FFF2-40B4-BE49-F238E27FC236}">
                <a16:creationId xmlns:a16="http://schemas.microsoft.com/office/drawing/2014/main" id="{5D0E5738-0802-8839-A863-5A7C17D23EF9}"/>
              </a:ext>
            </a:extLst>
          </p:cNvPr>
          <p:cNvPicPr>
            <a:picLocks/>
          </p:cNvPicPr>
          <p:nvPr/>
        </p:nvPicPr>
        <p:blipFill>
          <a:blip r:embed="rId3"/>
          <a:stretch>
            <a:fillRect/>
          </a:stretch>
        </p:blipFill>
        <p:spPr>
          <a:xfrm>
            <a:off x="2083237" y="746795"/>
            <a:ext cx="7915915" cy="2422451"/>
          </a:xfrm>
          <a:prstGeom prst="rect">
            <a:avLst/>
          </a:prstGeom>
        </p:spPr>
      </p:pic>
      <p:pic>
        <p:nvPicPr>
          <p:cNvPr id="6" name="그림 5">
            <a:extLst>
              <a:ext uri="{FF2B5EF4-FFF2-40B4-BE49-F238E27FC236}">
                <a16:creationId xmlns:a16="http://schemas.microsoft.com/office/drawing/2014/main" id="{ECC58F51-0581-5C40-A2AA-FAE1965193FE}"/>
              </a:ext>
            </a:extLst>
          </p:cNvPr>
          <p:cNvPicPr>
            <a:picLocks/>
          </p:cNvPicPr>
          <p:nvPr/>
        </p:nvPicPr>
        <p:blipFill>
          <a:blip r:embed="rId4"/>
          <a:stretch>
            <a:fillRect/>
          </a:stretch>
        </p:blipFill>
        <p:spPr>
          <a:xfrm>
            <a:off x="2048771" y="3305867"/>
            <a:ext cx="8084408" cy="2422451"/>
          </a:xfrm>
          <a:prstGeom prst="rect">
            <a:avLst/>
          </a:prstGeom>
        </p:spPr>
      </p:pic>
      <p:sp>
        <p:nvSpPr>
          <p:cNvPr id="18" name="TextBox 17">
            <a:extLst>
              <a:ext uri="{FF2B5EF4-FFF2-40B4-BE49-F238E27FC236}">
                <a16:creationId xmlns:a16="http://schemas.microsoft.com/office/drawing/2014/main" id="{AB633B43-A8FB-DF8F-894F-9DFF6FF5E7CA}"/>
              </a:ext>
            </a:extLst>
          </p:cNvPr>
          <p:cNvSpPr txBox="1"/>
          <p:nvPr/>
        </p:nvSpPr>
        <p:spPr>
          <a:xfrm>
            <a:off x="472765" y="1773354"/>
            <a:ext cx="1421295" cy="369332"/>
          </a:xfrm>
          <a:prstGeom prst="rect">
            <a:avLst/>
          </a:prstGeom>
          <a:noFill/>
        </p:spPr>
        <p:txBody>
          <a:bodyPr wrap="square">
            <a:spAutoFit/>
          </a:bodyPr>
          <a:lstStyle/>
          <a:p>
            <a:r>
              <a:rPr lang="en-US" altLang="ko-KR" sz="1800" b="1" dirty="0" err="1">
                <a:solidFill>
                  <a:srgbClr val="2B2D42"/>
                </a:solidFill>
                <a:latin typeface="Arial" panose="020B0604020202020204" pitchFamily="34" charset="0"/>
                <a:ea typeface="Calibri Light" pitchFamily="34" charset="-122"/>
                <a:cs typeface="Arial" panose="020B0604020202020204" pitchFamily="34" charset="0"/>
              </a:rPr>
              <a:t>z500</a:t>
            </a:r>
            <a:r>
              <a:rPr lang="en-US" altLang="ko-KR" sz="1800" b="1" dirty="0">
                <a:solidFill>
                  <a:srgbClr val="2B2D42"/>
                </a:solidFill>
                <a:latin typeface="Arial" panose="020B0604020202020204" pitchFamily="34" charset="0"/>
                <a:ea typeface="Calibri Light" pitchFamily="34" charset="-122"/>
                <a:cs typeface="Arial" panose="020B0604020202020204" pitchFamily="34" charset="0"/>
              </a:rPr>
              <a:t> mean</a:t>
            </a:r>
            <a:endParaRPr lang="ko-KR" altLang="en-US" dirty="0"/>
          </a:p>
        </p:txBody>
      </p:sp>
      <p:sp>
        <p:nvSpPr>
          <p:cNvPr id="19" name="TextBox 18">
            <a:extLst>
              <a:ext uri="{FF2B5EF4-FFF2-40B4-BE49-F238E27FC236}">
                <a16:creationId xmlns:a16="http://schemas.microsoft.com/office/drawing/2014/main" id="{16EED4F4-6644-AC18-A98B-C3D04C272F29}"/>
              </a:ext>
            </a:extLst>
          </p:cNvPr>
          <p:cNvSpPr txBox="1"/>
          <p:nvPr/>
        </p:nvSpPr>
        <p:spPr>
          <a:xfrm>
            <a:off x="318053" y="4345983"/>
            <a:ext cx="1730718" cy="369332"/>
          </a:xfrm>
          <a:prstGeom prst="rect">
            <a:avLst/>
          </a:prstGeom>
          <a:noFill/>
        </p:spPr>
        <p:txBody>
          <a:bodyPr wrap="square">
            <a:spAutoFit/>
          </a:bodyPr>
          <a:lstStyle/>
          <a:p>
            <a:r>
              <a:rPr lang="en-US" altLang="ko-KR" sz="1800" b="1" dirty="0" err="1">
                <a:solidFill>
                  <a:srgbClr val="2B2D42"/>
                </a:solidFill>
                <a:latin typeface="Arial" panose="020B0604020202020204" pitchFamily="34" charset="0"/>
                <a:ea typeface="Calibri Light" pitchFamily="34" charset="-122"/>
                <a:cs typeface="Arial" panose="020B0604020202020204" pitchFamily="34" charset="0"/>
              </a:rPr>
              <a:t>z500</a:t>
            </a:r>
            <a:r>
              <a:rPr lang="en-US" altLang="ko-KR" sz="1800" b="1" dirty="0">
                <a:solidFill>
                  <a:srgbClr val="2B2D42"/>
                </a:solidFill>
                <a:latin typeface="Arial" panose="020B0604020202020204" pitchFamily="34" charset="0"/>
                <a:ea typeface="Calibri Light" pitchFamily="34" charset="-122"/>
                <a:cs typeface="Arial" panose="020B0604020202020204" pitchFamily="34" charset="0"/>
              </a:rPr>
              <a:t> anomaly</a:t>
            </a:r>
            <a:endParaRPr lang="ko-KR" altLang="en-US" dirty="0"/>
          </a:p>
        </p:txBody>
      </p:sp>
    </p:spTree>
    <p:extLst>
      <p:ext uri="{BB962C8B-B14F-4D97-AF65-F5344CB8AC3E}">
        <p14:creationId xmlns:p14="http://schemas.microsoft.com/office/powerpoint/2010/main" val="4047542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AE371-037E-9F2B-CDCA-E91AA82EDB1F}"/>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40528FF8-6B94-1B39-E94B-6DE0CE681FB4}"/>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F7AFEDEF-A398-3C9C-D671-FB94BC85131E}"/>
              </a:ext>
            </a:extLst>
          </p:cNvPr>
          <p:cNvSpPr txBox="1"/>
          <p:nvPr/>
        </p:nvSpPr>
        <p:spPr>
          <a:xfrm>
            <a:off x="0" y="43106"/>
            <a:ext cx="11350487"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4. Results: </a:t>
            </a:r>
            <a:r>
              <a:rPr lang="en-US" altLang="ko-KR" sz="2500" b="1" dirty="0">
                <a:solidFill>
                  <a:schemeClr val="bg1"/>
                </a:solidFill>
                <a:latin typeface="Arial" panose="020B0604020202020204" pitchFamily="34" charset="0"/>
                <a:ea typeface="맑은 고딕" panose="020B0503020000020004" pitchFamily="50" charset="-127"/>
                <a:cs typeface="Arial" panose="020B0604020202020204" pitchFamily="34" charset="0"/>
              </a:rPr>
              <a:t>TC tracks, </a:t>
            </a:r>
            <a:r>
              <a:rPr lang="en-US" altLang="ko-KR" sz="2500" b="1" dirty="0" err="1">
                <a:solidFill>
                  <a:schemeClr val="bg1"/>
                </a:solidFill>
                <a:latin typeface="Arial" panose="020B0604020202020204" pitchFamily="34" charset="0"/>
                <a:ea typeface="맑은 고딕" panose="020B0503020000020004" pitchFamily="50" charset="-127"/>
                <a:cs typeface="Arial" panose="020B0604020202020204" pitchFamily="34" charset="0"/>
              </a:rPr>
              <a:t>LMI</a:t>
            </a:r>
            <a:r>
              <a:rPr lang="en-US" altLang="ko-KR" sz="2500" b="1" dirty="0">
                <a:solidFill>
                  <a:schemeClr val="bg1"/>
                </a:solidFill>
                <a:latin typeface="Arial" panose="020B0604020202020204" pitchFamily="34" charset="0"/>
                <a:ea typeface="맑은 고딕" panose="020B0503020000020004" pitchFamily="50" charset="-127"/>
                <a:cs typeface="Arial" panose="020B0604020202020204" pitchFamily="34" charset="0"/>
              </a:rPr>
              <a:t> and stay duration by group </a:t>
            </a:r>
            <a:endParaRPr lang="ko-KR" altLang="en-US" sz="2500" b="1" dirty="0">
              <a:solidFill>
                <a:schemeClr val="bg1"/>
              </a:solidFill>
              <a:latin typeface="Arial" panose="020B0604020202020204" pitchFamily="34" charset="0"/>
              <a:cs typeface="Arial" panose="020B0604020202020204" pitchFamily="34" charset="0"/>
            </a:endParaRPr>
          </a:p>
        </p:txBody>
      </p:sp>
      <p:pic>
        <p:nvPicPr>
          <p:cNvPr id="2" name="Image 0" descr="/sessions/exciting-ecstatic-bell/mnt/디펜스발표자료/그림/Group_TC_track_LMI.png">
            <a:extLst>
              <a:ext uri="{FF2B5EF4-FFF2-40B4-BE49-F238E27FC236}">
                <a16:creationId xmlns:a16="http://schemas.microsoft.com/office/drawing/2014/main" id="{790F456A-6F7C-809E-3368-456714419E5B}"/>
              </a:ext>
            </a:extLst>
          </p:cNvPr>
          <p:cNvPicPr>
            <a:picLocks/>
          </p:cNvPicPr>
          <p:nvPr/>
        </p:nvPicPr>
        <p:blipFill>
          <a:blip r:embed="rId3"/>
          <a:srcRect/>
          <a:stretch/>
        </p:blipFill>
        <p:spPr>
          <a:xfrm>
            <a:off x="154160" y="1279341"/>
            <a:ext cx="3840480" cy="3696286"/>
          </a:xfrm>
          <a:prstGeom prst="rect">
            <a:avLst/>
          </a:prstGeom>
        </p:spPr>
      </p:pic>
      <p:pic>
        <p:nvPicPr>
          <p:cNvPr id="3" name="그림 2">
            <a:extLst>
              <a:ext uri="{FF2B5EF4-FFF2-40B4-BE49-F238E27FC236}">
                <a16:creationId xmlns:a16="http://schemas.microsoft.com/office/drawing/2014/main" id="{5E56F841-A7A1-DE63-679B-ECB886E8D0CC}"/>
              </a:ext>
            </a:extLst>
          </p:cNvPr>
          <p:cNvPicPr>
            <a:picLocks/>
          </p:cNvPicPr>
          <p:nvPr/>
        </p:nvPicPr>
        <p:blipFill>
          <a:blip r:embed="rId4"/>
          <a:srcRect t="4900"/>
          <a:stretch>
            <a:fillRect/>
          </a:stretch>
        </p:blipFill>
        <p:spPr>
          <a:xfrm>
            <a:off x="4248780" y="1302711"/>
            <a:ext cx="3375660" cy="3748932"/>
          </a:xfrm>
          <a:prstGeom prst="rect">
            <a:avLst/>
          </a:prstGeom>
        </p:spPr>
      </p:pic>
      <p:grpSp>
        <p:nvGrpSpPr>
          <p:cNvPr id="6" name="그룹 5">
            <a:extLst>
              <a:ext uri="{FF2B5EF4-FFF2-40B4-BE49-F238E27FC236}">
                <a16:creationId xmlns:a16="http://schemas.microsoft.com/office/drawing/2014/main" id="{AA12D637-D906-F0DB-CCFF-124C76E72158}"/>
              </a:ext>
            </a:extLst>
          </p:cNvPr>
          <p:cNvGrpSpPr>
            <a:grpSpLocks/>
          </p:cNvGrpSpPr>
          <p:nvPr/>
        </p:nvGrpSpPr>
        <p:grpSpPr>
          <a:xfrm>
            <a:off x="8077336" y="1086966"/>
            <a:ext cx="3703569" cy="3959141"/>
            <a:chOff x="5852160" y="1310054"/>
            <a:chExt cx="2743200" cy="2926080"/>
          </a:xfrm>
        </p:grpSpPr>
        <p:pic>
          <p:nvPicPr>
            <p:cNvPr id="7" name="그림 6">
              <a:extLst>
                <a:ext uri="{FF2B5EF4-FFF2-40B4-BE49-F238E27FC236}">
                  <a16:creationId xmlns:a16="http://schemas.microsoft.com/office/drawing/2014/main" id="{5F5999B7-EADD-44D3-13DC-65F9911C2676}"/>
                </a:ext>
              </a:extLst>
            </p:cNvPr>
            <p:cNvPicPr>
              <a:picLocks/>
            </p:cNvPicPr>
            <p:nvPr/>
          </p:nvPicPr>
          <p:blipFill>
            <a:blip r:embed="rId5"/>
            <a:srcRect t="5102"/>
            <a:stretch>
              <a:fillRect/>
            </a:stretch>
          </p:blipFill>
          <p:spPr>
            <a:xfrm>
              <a:off x="5852160" y="1447214"/>
              <a:ext cx="2743200" cy="2788920"/>
            </a:xfrm>
            <a:prstGeom prst="rect">
              <a:avLst/>
            </a:prstGeom>
          </p:spPr>
        </p:pic>
        <p:sp>
          <p:nvSpPr>
            <p:cNvPr id="8" name="직사각형 7">
              <a:extLst>
                <a:ext uri="{FF2B5EF4-FFF2-40B4-BE49-F238E27FC236}">
                  <a16:creationId xmlns:a16="http://schemas.microsoft.com/office/drawing/2014/main" id="{07F88A1A-B793-81BD-F1B2-9DD929389BE6}"/>
                </a:ext>
              </a:extLst>
            </p:cNvPr>
            <p:cNvSpPr/>
            <p:nvPr/>
          </p:nvSpPr>
          <p:spPr>
            <a:xfrm>
              <a:off x="6911340" y="1310054"/>
              <a:ext cx="137160" cy="1600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9" name="TextBox 8">
            <a:extLst>
              <a:ext uri="{FF2B5EF4-FFF2-40B4-BE49-F238E27FC236}">
                <a16:creationId xmlns:a16="http://schemas.microsoft.com/office/drawing/2014/main" id="{69F6791A-3E91-0CA3-0E98-D662D4D8BCB7}"/>
              </a:ext>
            </a:extLst>
          </p:cNvPr>
          <p:cNvSpPr txBox="1"/>
          <p:nvPr/>
        </p:nvSpPr>
        <p:spPr>
          <a:xfrm>
            <a:off x="523262" y="943775"/>
            <a:ext cx="2031683" cy="323165"/>
          </a:xfrm>
          <a:prstGeom prst="rect">
            <a:avLst/>
          </a:prstGeom>
          <a:noFill/>
        </p:spPr>
        <p:txBody>
          <a:bodyPr wrap="square" rtlCol="0">
            <a:spAutoFit/>
          </a:bodyPr>
          <a:lstStyle/>
          <a:p>
            <a:r>
              <a:rPr lang="en-US" altLang="ko-KR" sz="1500" dirty="0">
                <a:latin typeface="Arial" panose="020B0604020202020204" pitchFamily="34" charset="0"/>
                <a:cs typeface="Arial" panose="020B0604020202020204" pitchFamily="34" charset="0"/>
              </a:rPr>
              <a:t>a. Mean TC tracks</a:t>
            </a:r>
            <a:endParaRPr lang="ko-KR" altLang="en-US" sz="15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09DA3AD-93C8-412A-2C1D-EEDFE554956E}"/>
              </a:ext>
            </a:extLst>
          </p:cNvPr>
          <p:cNvSpPr txBox="1"/>
          <p:nvPr/>
        </p:nvSpPr>
        <p:spPr>
          <a:xfrm>
            <a:off x="4527823" y="943775"/>
            <a:ext cx="2891099" cy="323165"/>
          </a:xfrm>
          <a:prstGeom prst="rect">
            <a:avLst/>
          </a:prstGeom>
          <a:noFill/>
        </p:spPr>
        <p:txBody>
          <a:bodyPr wrap="square" rtlCol="0">
            <a:spAutoFit/>
          </a:bodyPr>
          <a:lstStyle/>
          <a:p>
            <a:r>
              <a:rPr lang="en-US" altLang="ko-KR" sz="1500" dirty="0">
                <a:latin typeface="Arial" panose="020B0604020202020204" pitchFamily="34" charset="0"/>
                <a:cs typeface="Arial" panose="020B0604020202020204" pitchFamily="34" charset="0"/>
              </a:rPr>
              <a:t>b. Lifetime maximum intensity</a:t>
            </a:r>
            <a:endParaRPr lang="ko-KR" altLang="en-US" sz="15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111F1A07-2F4C-59B8-9078-C6F5C05EAD92}"/>
              </a:ext>
            </a:extLst>
          </p:cNvPr>
          <p:cNvSpPr txBox="1"/>
          <p:nvPr/>
        </p:nvSpPr>
        <p:spPr>
          <a:xfrm>
            <a:off x="8444806" y="943775"/>
            <a:ext cx="3151838" cy="323165"/>
          </a:xfrm>
          <a:prstGeom prst="rect">
            <a:avLst/>
          </a:prstGeom>
          <a:noFill/>
        </p:spPr>
        <p:txBody>
          <a:bodyPr wrap="square" rtlCol="0">
            <a:spAutoFit/>
          </a:bodyPr>
          <a:lstStyle/>
          <a:p>
            <a:r>
              <a:rPr lang="en-US" altLang="ko-KR" sz="1500" dirty="0">
                <a:latin typeface="Arial" panose="020B0604020202020204" pitchFamily="34" charset="0"/>
                <a:cs typeface="Arial" panose="020B0604020202020204" pitchFamily="34" charset="0"/>
              </a:rPr>
              <a:t>c. Stay duration in Kuroshio region</a:t>
            </a:r>
            <a:endParaRPr lang="ko-KR" altLang="en-US" sz="1500" dirty="0">
              <a:latin typeface="Arial" panose="020B0604020202020204" pitchFamily="34" charset="0"/>
              <a:cs typeface="Arial" panose="020B0604020202020204" pitchFamily="34" charset="0"/>
            </a:endParaRPr>
          </a:p>
        </p:txBody>
      </p:sp>
      <p:sp>
        <p:nvSpPr>
          <p:cNvPr id="12" name="Rectangle 20">
            <a:extLst>
              <a:ext uri="{FF2B5EF4-FFF2-40B4-BE49-F238E27FC236}">
                <a16:creationId xmlns:a16="http://schemas.microsoft.com/office/drawing/2014/main" id="{06008045-7C7C-405E-7C82-AE98E3F50478}"/>
              </a:ext>
            </a:extLst>
          </p:cNvPr>
          <p:cNvSpPr/>
          <p:nvPr/>
        </p:nvSpPr>
        <p:spPr>
          <a:xfrm>
            <a:off x="103415" y="5470653"/>
            <a:ext cx="11985169" cy="1296314"/>
          </a:xfrm>
          <a:prstGeom prst="rect">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BF4F4420-2911-41FB-6379-4C41E733FA0A}"/>
              </a:ext>
            </a:extLst>
          </p:cNvPr>
          <p:cNvSpPr txBox="1"/>
          <p:nvPr/>
        </p:nvSpPr>
        <p:spPr>
          <a:xfrm>
            <a:off x="156407" y="5610978"/>
            <a:ext cx="11633929" cy="1077218"/>
          </a:xfrm>
          <a:prstGeom prst="rect">
            <a:avLst/>
          </a:prstGeom>
          <a:noFill/>
        </p:spPr>
        <p:txBody>
          <a:bodyPr wrap="square" rtlCol="0">
            <a:spAutoFit/>
          </a:bodyPr>
          <a:lstStyle/>
          <a:p>
            <a:pPr marL="285750" indent="-285750">
              <a:buFont typeface="Arial" panose="020B0604020202020204" pitchFamily="34" charset="0"/>
              <a:buChar char="•"/>
            </a:pPr>
            <a:r>
              <a:rPr lang="en-US" altLang="ko-KR" sz="1600" dirty="0">
                <a:latin typeface="Times New Roman" panose="02020603050405020304" pitchFamily="18" charset="0"/>
                <a:cs typeface="Times New Roman" panose="02020603050405020304" pitchFamily="18" charset="0"/>
              </a:rPr>
              <a:t>The HT and LT</a:t>
            </a:r>
            <a:r>
              <a:rPr lang="ko-KR" altLang="en-US" sz="1600" dirty="0">
                <a:latin typeface="Times New Roman" panose="02020603050405020304" pitchFamily="18" charset="0"/>
                <a:cs typeface="Times New Roman" panose="02020603050405020304" pitchFamily="18" charset="0"/>
              </a:rPr>
              <a:t> </a:t>
            </a:r>
            <a:r>
              <a:rPr lang="en-US" altLang="ko-KR" sz="1600" dirty="0">
                <a:latin typeface="Times New Roman" panose="02020603050405020304" pitchFamily="18" charset="0"/>
                <a:cs typeface="Times New Roman" panose="02020603050405020304" pitchFamily="18" charset="0"/>
              </a:rPr>
              <a:t>groups</a:t>
            </a:r>
            <a:r>
              <a:rPr lang="ko-KR" altLang="en-US" sz="1600" dirty="0">
                <a:latin typeface="Times New Roman" panose="02020603050405020304" pitchFamily="18" charset="0"/>
                <a:cs typeface="Times New Roman" panose="02020603050405020304" pitchFamily="18" charset="0"/>
              </a:rPr>
              <a:t> </a:t>
            </a:r>
            <a:r>
              <a:rPr lang="en-US" altLang="ko-KR" sz="1600" dirty="0">
                <a:latin typeface="Times New Roman" panose="02020603050405020304" pitchFamily="18" charset="0"/>
                <a:cs typeface="Times New Roman" panose="02020603050405020304" pitchFamily="18" charset="0"/>
              </a:rPr>
              <a:t>showed</a:t>
            </a:r>
            <a:r>
              <a:rPr lang="ko-KR" altLang="en-US" sz="1600" dirty="0">
                <a:latin typeface="Times New Roman" panose="02020603050405020304" pitchFamily="18" charset="0"/>
                <a:cs typeface="Times New Roman" panose="02020603050405020304" pitchFamily="18" charset="0"/>
              </a:rPr>
              <a:t> </a:t>
            </a:r>
            <a:r>
              <a:rPr lang="en-US" altLang="ko-KR" sz="1600" dirty="0">
                <a:latin typeface="Times New Roman" panose="02020603050405020304" pitchFamily="18" charset="0"/>
                <a:cs typeface="Times New Roman" panose="02020603050405020304" pitchFamily="18" charset="0"/>
              </a:rPr>
              <a:t>similar</a:t>
            </a:r>
            <a:r>
              <a:rPr lang="ko-KR" altLang="en-US" sz="1600" dirty="0">
                <a:latin typeface="Times New Roman" panose="02020603050405020304" pitchFamily="18" charset="0"/>
                <a:cs typeface="Times New Roman" panose="02020603050405020304" pitchFamily="18" charset="0"/>
              </a:rPr>
              <a:t> </a:t>
            </a:r>
            <a:r>
              <a:rPr lang="en-US" altLang="ko-KR" sz="1600" dirty="0">
                <a:latin typeface="Times New Roman" panose="02020603050405020304" pitchFamily="18" charset="0"/>
                <a:cs typeface="Times New Roman" panose="02020603050405020304" pitchFamily="18" charset="0"/>
              </a:rPr>
              <a:t>TC genesis</a:t>
            </a:r>
            <a:r>
              <a:rPr lang="ko-KR" altLang="en-US" sz="1600" dirty="0">
                <a:latin typeface="Times New Roman" panose="02020603050405020304" pitchFamily="18" charset="0"/>
                <a:cs typeface="Times New Roman" panose="02020603050405020304" pitchFamily="18" charset="0"/>
              </a:rPr>
              <a:t> </a:t>
            </a:r>
            <a:r>
              <a:rPr lang="en-US" altLang="ko-KR" sz="1600" dirty="0">
                <a:latin typeface="Times New Roman" panose="02020603050405020304" pitchFamily="18" charset="0"/>
                <a:cs typeface="Times New Roman" panose="02020603050405020304" pitchFamily="18" charset="0"/>
              </a:rPr>
              <a:t>locations and Lifetime Maximum Intensity (</a:t>
            </a:r>
            <a:r>
              <a:rPr lang="en-US" altLang="ko-KR" sz="1600" dirty="0" err="1">
                <a:latin typeface="Times New Roman" panose="02020603050405020304" pitchFamily="18" charset="0"/>
                <a:cs typeface="Times New Roman" panose="02020603050405020304" pitchFamily="18" charset="0"/>
              </a:rPr>
              <a:t>LMI</a:t>
            </a:r>
            <a:r>
              <a:rPr lang="en-US" altLang="ko-KR" sz="1600" dirty="0">
                <a:latin typeface="Times New Roman" panose="02020603050405020304" pitchFamily="18" charset="0"/>
                <a:cs typeface="Times New Roman" panose="02020603050405020304" pitchFamily="18" charset="0"/>
              </a:rPr>
              <a:t>) latitudes.</a:t>
            </a:r>
          </a:p>
          <a:p>
            <a:pPr marL="285750" indent="-285750">
              <a:buFont typeface="Arial" panose="020B0604020202020204" pitchFamily="34" charset="0"/>
              <a:buChar char="•"/>
            </a:pPr>
            <a:endParaRPr lang="en-US" altLang="ko-KR"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600" dirty="0">
                <a:latin typeface="Times New Roman" panose="02020603050405020304" pitchFamily="18" charset="0"/>
                <a:cs typeface="Times New Roman" panose="02020603050405020304" pitchFamily="18" charset="0"/>
              </a:rPr>
              <a:t>The HT and LT groups showed no significant difference in </a:t>
            </a:r>
            <a:r>
              <a:rPr lang="en-US" altLang="ko-KR" sz="1600" dirty="0" err="1">
                <a:latin typeface="Times New Roman" panose="02020603050405020304" pitchFamily="18" charset="0"/>
                <a:cs typeface="Times New Roman" panose="02020603050405020304" pitchFamily="18" charset="0"/>
              </a:rPr>
              <a:t>LMI</a:t>
            </a:r>
            <a:r>
              <a:rPr lang="en-US" altLang="ko-KR" sz="1600" dirty="0">
                <a:latin typeface="Times New Roman" panose="02020603050405020304" pitchFamily="18" charset="0"/>
                <a:cs typeface="Times New Roman" panose="02020603050405020304" pitchFamily="18" charset="0"/>
              </a:rPr>
              <a:t> intensity, and the time spent crossing the KC was also not significantly different.</a:t>
            </a:r>
          </a:p>
        </p:txBody>
      </p:sp>
    </p:spTree>
    <p:extLst>
      <p:ext uri="{BB962C8B-B14F-4D97-AF65-F5344CB8AC3E}">
        <p14:creationId xmlns:p14="http://schemas.microsoft.com/office/powerpoint/2010/main" val="2401143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A60FA-7810-0637-AC95-8742E421406F}"/>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7F83C96C-3BC4-042A-5CF8-0B87AD2E820D}"/>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AAD4210E-821E-37D6-58C3-3BA170A29371}"/>
              </a:ext>
            </a:extLst>
          </p:cNvPr>
          <p:cNvSpPr txBox="1"/>
          <p:nvPr/>
        </p:nvSpPr>
        <p:spPr>
          <a:xfrm>
            <a:off x="0" y="43106"/>
            <a:ext cx="11929929"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4. Results: </a:t>
            </a:r>
            <a:r>
              <a:rPr lang="en-US" altLang="ko-KR" sz="2500" b="1" dirty="0">
                <a:solidFill>
                  <a:schemeClr val="bg1"/>
                </a:solidFill>
                <a:latin typeface="Arial" panose="020B0604020202020204" pitchFamily="34" charset="0"/>
                <a:ea typeface="맑은 고딕" panose="020B0503020000020004" pitchFamily="50" charset="-127"/>
                <a:cs typeface="Arial" panose="020B0604020202020204" pitchFamily="34" charset="0"/>
              </a:rPr>
              <a:t>Comparison of TC intensity by group</a:t>
            </a:r>
            <a:endParaRPr lang="ko-KR" altLang="en-US" sz="2500" b="1" dirty="0">
              <a:solidFill>
                <a:schemeClr val="bg1"/>
              </a:solidFill>
              <a:latin typeface="Arial" panose="020B0604020202020204" pitchFamily="34" charset="0"/>
              <a:ea typeface="맑은 고딕" panose="020B0503020000020004" pitchFamily="50" charset="-127"/>
              <a:cs typeface="Arial" panose="020B0604020202020204" pitchFamily="34" charset="0"/>
            </a:endParaRPr>
          </a:p>
        </p:txBody>
      </p:sp>
      <p:pic>
        <p:nvPicPr>
          <p:cNvPr id="2" name="그림 1">
            <a:extLst>
              <a:ext uri="{FF2B5EF4-FFF2-40B4-BE49-F238E27FC236}">
                <a16:creationId xmlns:a16="http://schemas.microsoft.com/office/drawing/2014/main" id="{15006102-5F37-4900-8C3A-EF5EC2194007}"/>
              </a:ext>
            </a:extLst>
          </p:cNvPr>
          <p:cNvPicPr>
            <a:picLocks noChangeAspect="1"/>
          </p:cNvPicPr>
          <p:nvPr/>
        </p:nvPicPr>
        <p:blipFill>
          <a:blip r:embed="rId3"/>
          <a:srcRect r="59760"/>
          <a:stretch>
            <a:fillRect/>
          </a:stretch>
        </p:blipFill>
        <p:spPr>
          <a:xfrm>
            <a:off x="1232231" y="870805"/>
            <a:ext cx="3923328" cy="3206626"/>
          </a:xfrm>
          <a:prstGeom prst="rect">
            <a:avLst/>
          </a:prstGeom>
        </p:spPr>
      </p:pic>
      <p:grpSp>
        <p:nvGrpSpPr>
          <p:cNvPr id="3" name="그룹 2">
            <a:extLst>
              <a:ext uri="{FF2B5EF4-FFF2-40B4-BE49-F238E27FC236}">
                <a16:creationId xmlns:a16="http://schemas.microsoft.com/office/drawing/2014/main" id="{A6F9CC83-584D-C4A0-793D-F34BFBEA4031}"/>
              </a:ext>
            </a:extLst>
          </p:cNvPr>
          <p:cNvGrpSpPr/>
          <p:nvPr/>
        </p:nvGrpSpPr>
        <p:grpSpPr>
          <a:xfrm>
            <a:off x="6728460" y="760770"/>
            <a:ext cx="4815840" cy="3426695"/>
            <a:chOff x="4625340" y="1168164"/>
            <a:chExt cx="3947160" cy="2862815"/>
          </a:xfrm>
        </p:grpSpPr>
        <p:sp>
          <p:nvSpPr>
            <p:cNvPr id="6" name="TextBox 5">
              <a:extLst>
                <a:ext uri="{FF2B5EF4-FFF2-40B4-BE49-F238E27FC236}">
                  <a16:creationId xmlns:a16="http://schemas.microsoft.com/office/drawing/2014/main" id="{77C4E637-D5EB-595D-7A7D-C51D34C88CB2}"/>
                </a:ext>
              </a:extLst>
            </p:cNvPr>
            <p:cNvSpPr txBox="1"/>
            <p:nvPr/>
          </p:nvSpPr>
          <p:spPr>
            <a:xfrm>
              <a:off x="4949192" y="1168164"/>
              <a:ext cx="3215640" cy="269987"/>
            </a:xfrm>
            <a:prstGeom prst="rect">
              <a:avLst/>
            </a:prstGeom>
            <a:noFill/>
          </p:spPr>
          <p:txBody>
            <a:bodyPr wrap="square" rtlCol="0">
              <a:spAutoFit/>
            </a:bodyPr>
            <a:lstStyle/>
            <a:p>
              <a:r>
                <a:rPr lang="en-US" altLang="ko-KR" sz="1500" dirty="0">
                  <a:latin typeface="Arial" panose="020B0604020202020204" pitchFamily="34" charset="0"/>
                  <a:cs typeface="Arial" panose="020B0604020202020204" pitchFamily="34" charset="0"/>
                </a:rPr>
                <a:t>d. Annual Mean TC intensity north of </a:t>
              </a:r>
              <a:r>
                <a:rPr lang="en-US" altLang="ko-KR" sz="1500" dirty="0" err="1">
                  <a:latin typeface="Arial" panose="020B0604020202020204" pitchFamily="34" charset="0"/>
                  <a:cs typeface="Arial" panose="020B0604020202020204" pitchFamily="34" charset="0"/>
                </a:rPr>
                <a:t>30°N</a:t>
              </a:r>
              <a:endParaRPr lang="ko-KR" altLang="en-US" sz="1500" dirty="0">
                <a:latin typeface="Arial" panose="020B0604020202020204" pitchFamily="34" charset="0"/>
                <a:cs typeface="Arial" panose="020B0604020202020204" pitchFamily="34" charset="0"/>
              </a:endParaRPr>
            </a:p>
          </p:txBody>
        </p:sp>
        <p:pic>
          <p:nvPicPr>
            <p:cNvPr id="7" name="그림 6">
              <a:extLst>
                <a:ext uri="{FF2B5EF4-FFF2-40B4-BE49-F238E27FC236}">
                  <a16:creationId xmlns:a16="http://schemas.microsoft.com/office/drawing/2014/main" id="{664FE1F9-4636-DB0C-E747-93FEC5C0B998}"/>
                </a:ext>
              </a:extLst>
            </p:cNvPr>
            <p:cNvPicPr>
              <a:picLocks/>
            </p:cNvPicPr>
            <p:nvPr/>
          </p:nvPicPr>
          <p:blipFill>
            <a:blip r:embed="rId4"/>
            <a:stretch>
              <a:fillRect/>
            </a:stretch>
          </p:blipFill>
          <p:spPr>
            <a:xfrm>
              <a:off x="4625340" y="1409700"/>
              <a:ext cx="3947160" cy="2621279"/>
            </a:xfrm>
            <a:prstGeom prst="rect">
              <a:avLst/>
            </a:prstGeom>
          </p:spPr>
        </p:pic>
      </p:grpSp>
      <p:pic>
        <p:nvPicPr>
          <p:cNvPr id="8" name="그림 7">
            <a:extLst>
              <a:ext uri="{FF2B5EF4-FFF2-40B4-BE49-F238E27FC236}">
                <a16:creationId xmlns:a16="http://schemas.microsoft.com/office/drawing/2014/main" id="{C855F2EA-8CCE-7CF0-9BA2-723FDEC267F8}"/>
              </a:ext>
            </a:extLst>
          </p:cNvPr>
          <p:cNvPicPr>
            <a:picLocks noChangeAspect="1"/>
          </p:cNvPicPr>
          <p:nvPr/>
        </p:nvPicPr>
        <p:blipFill>
          <a:blip r:embed="rId3"/>
          <a:srcRect l="40373" t="15262" b="8696"/>
          <a:stretch>
            <a:fillRect/>
          </a:stretch>
        </p:blipFill>
        <p:spPr>
          <a:xfrm>
            <a:off x="158360" y="4267199"/>
            <a:ext cx="5795456" cy="2430780"/>
          </a:xfrm>
          <a:prstGeom prst="rect">
            <a:avLst/>
          </a:prstGeom>
        </p:spPr>
      </p:pic>
      <p:sp>
        <p:nvSpPr>
          <p:cNvPr id="9" name="직사각형 8">
            <a:extLst>
              <a:ext uri="{FF2B5EF4-FFF2-40B4-BE49-F238E27FC236}">
                <a16:creationId xmlns:a16="http://schemas.microsoft.com/office/drawing/2014/main" id="{0C323376-C33F-8843-6812-A046FA1C1CC0}"/>
              </a:ext>
            </a:extLst>
          </p:cNvPr>
          <p:cNvSpPr/>
          <p:nvPr/>
        </p:nvSpPr>
        <p:spPr>
          <a:xfrm>
            <a:off x="6041195" y="788276"/>
            <a:ext cx="117869" cy="5854262"/>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20">
            <a:extLst>
              <a:ext uri="{FF2B5EF4-FFF2-40B4-BE49-F238E27FC236}">
                <a16:creationId xmlns:a16="http://schemas.microsoft.com/office/drawing/2014/main" id="{F24EB15A-3E7D-3BF7-06E3-F3963BD8CF0B}"/>
              </a:ext>
            </a:extLst>
          </p:cNvPr>
          <p:cNvSpPr/>
          <p:nvPr/>
        </p:nvSpPr>
        <p:spPr>
          <a:xfrm>
            <a:off x="6392255" y="4267199"/>
            <a:ext cx="5537674" cy="2430780"/>
          </a:xfrm>
          <a:prstGeom prst="rect">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11612BB-149F-880F-14FC-559816105AEB}"/>
              </a:ext>
            </a:extLst>
          </p:cNvPr>
          <p:cNvSpPr txBox="1"/>
          <p:nvPr/>
        </p:nvSpPr>
        <p:spPr>
          <a:xfrm>
            <a:off x="6486772" y="4358877"/>
            <a:ext cx="5348640" cy="2339102"/>
          </a:xfrm>
          <a:prstGeom prst="rect">
            <a:avLst/>
          </a:prstGeom>
          <a:noFill/>
        </p:spPr>
        <p:txBody>
          <a:bodyPr wrap="square" rtlCol="0">
            <a:spAutoFit/>
          </a:bodyPr>
          <a:lstStyle/>
          <a:p>
            <a:pPr marL="285750" indent="-285750">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The HT group showed no significant difference in TC intensity before and after crossing the Kuroshio region.</a:t>
            </a:r>
          </a:p>
          <a:p>
            <a:pPr marL="285750" indent="-285750">
              <a:buFont typeface="Arial" panose="020B0604020202020204" pitchFamily="34" charset="0"/>
              <a:buChar char="•"/>
            </a:pPr>
            <a:endParaRPr lang="en-US" altLang="ko-KR" sz="1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The LT group showed a significant decrease in TC intensity before and after crossing the Kuroshio region.</a:t>
            </a:r>
          </a:p>
          <a:p>
            <a:pPr marL="285750" indent="-285750">
              <a:buFont typeface="Arial" panose="020B0604020202020204" pitchFamily="34" charset="0"/>
              <a:buChar char="•"/>
            </a:pPr>
            <a:endParaRPr lang="en-US" altLang="ko-KR" sz="1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North of </a:t>
            </a:r>
            <a:r>
              <a:rPr lang="en-US" altLang="ko-KR" sz="1400" dirty="0" err="1">
                <a:latin typeface="Times New Roman" panose="02020603050405020304" pitchFamily="18" charset="0"/>
                <a:cs typeface="Times New Roman" panose="02020603050405020304" pitchFamily="18" charset="0"/>
              </a:rPr>
              <a:t>30°N</a:t>
            </a:r>
            <a:r>
              <a:rPr lang="en-US" altLang="ko-KR" sz="1400" dirty="0">
                <a:latin typeface="Times New Roman" panose="02020603050405020304" pitchFamily="18" charset="0"/>
                <a:cs typeface="Times New Roman" panose="02020603050405020304" pitchFamily="18" charset="0"/>
              </a:rPr>
              <a:t>, the HT group maintained significantly stronger TC intensity than the LT group.</a:t>
            </a:r>
          </a:p>
          <a:p>
            <a:pPr marL="285750" indent="-285750">
              <a:buFont typeface="Arial" panose="020B0604020202020204" pitchFamily="34" charset="0"/>
              <a:buChar char="•"/>
            </a:pPr>
            <a:endParaRPr lang="en-US" altLang="ko-KR" sz="1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North of </a:t>
            </a:r>
            <a:r>
              <a:rPr lang="en-US" altLang="ko-KR" sz="1400" dirty="0" err="1">
                <a:latin typeface="Times New Roman" panose="02020603050405020304" pitchFamily="18" charset="0"/>
                <a:cs typeface="Times New Roman" panose="02020603050405020304" pitchFamily="18" charset="0"/>
              </a:rPr>
              <a:t>30°N</a:t>
            </a:r>
            <a:r>
              <a:rPr lang="en-US" altLang="ko-KR" sz="1400" dirty="0">
                <a:latin typeface="Times New Roman" panose="02020603050405020304" pitchFamily="18" charset="0"/>
                <a:cs typeface="Times New Roman" panose="02020603050405020304" pitchFamily="18" charset="0"/>
              </a:rPr>
              <a:t>, the HT group showed a significant increasing trend in mean TC intensity (3.14 m/s per decade, </a:t>
            </a:r>
            <a:r>
              <a:rPr lang="en-US" altLang="ko-KR" sz="1400" i="1" dirty="0">
                <a:latin typeface="Times New Roman" panose="02020603050405020304" pitchFamily="18" charset="0"/>
                <a:cs typeface="Times New Roman" panose="02020603050405020304" pitchFamily="18" charset="0"/>
              </a:rPr>
              <a:t>p</a:t>
            </a:r>
            <a:r>
              <a:rPr lang="en-US" altLang="ko-KR" sz="1400" dirty="0">
                <a:latin typeface="Times New Roman" panose="02020603050405020304" pitchFamily="18" charset="0"/>
                <a:cs typeface="Times New Roman" panose="02020603050405020304" pitchFamily="18" charset="0"/>
              </a:rPr>
              <a:t>=0.04).</a:t>
            </a:r>
          </a:p>
        </p:txBody>
      </p:sp>
    </p:spTree>
    <p:extLst>
      <p:ext uri="{BB962C8B-B14F-4D97-AF65-F5344CB8AC3E}">
        <p14:creationId xmlns:p14="http://schemas.microsoft.com/office/powerpoint/2010/main" val="2391271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0F55F-3660-88E0-FD67-83078BAC6096}"/>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D797E929-C871-05AC-FB55-24A8C3EF8B59}"/>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7698DBCA-5409-2E4B-3BB1-BD2550847B33}"/>
              </a:ext>
            </a:extLst>
          </p:cNvPr>
          <p:cNvSpPr txBox="1"/>
          <p:nvPr/>
        </p:nvSpPr>
        <p:spPr>
          <a:xfrm>
            <a:off x="0" y="43106"/>
            <a:ext cx="5722620"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5. Conclusion &amp; Discussion</a:t>
            </a:r>
            <a:endParaRPr lang="ko-KR" altLang="en-US" sz="3200" b="1"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25F874F0-9557-17A2-9919-8800CA9D8A5B}"/>
              </a:ext>
            </a:extLst>
          </p:cNvPr>
          <p:cNvSpPr txBox="1"/>
          <p:nvPr/>
        </p:nvSpPr>
        <p:spPr>
          <a:xfrm>
            <a:off x="299615" y="759172"/>
            <a:ext cx="11578059" cy="2446824"/>
          </a:xfrm>
          <a:prstGeom prst="rect">
            <a:avLst/>
          </a:prstGeom>
          <a:noFill/>
        </p:spPr>
        <p:txBody>
          <a:bodyPr wrap="square" rtlCol="0">
            <a:spAutoFit/>
          </a:bodyPr>
          <a:lstStyle/>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To summarize the results, KC transport in the East China Sea during summer showed a significant increasing trend. In the HT group, which had higher KC transport, ADT, SST, and OHC were significantly higher.</a:t>
            </a:r>
          </a:p>
          <a:p>
            <a:endParaRPr lang="en-US" altLang="ko-KR"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VWS showed no significant difference between the HT and LT groups.</a:t>
            </a:r>
          </a:p>
          <a:p>
            <a:pPr marL="285750" indent="-285750">
              <a:buFont typeface="Arial" panose="020B0604020202020204" pitchFamily="34" charset="0"/>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The </a:t>
            </a:r>
            <a:r>
              <a:rPr lang="en-US" altLang="ko-KR" sz="1700" dirty="0" err="1">
                <a:latin typeface="Times New Roman" panose="02020603050405020304" pitchFamily="18" charset="0"/>
                <a:cs typeface="Times New Roman" panose="02020603050405020304" pitchFamily="18" charset="0"/>
              </a:rPr>
              <a:t>LMI</a:t>
            </a:r>
            <a:r>
              <a:rPr lang="en-US" altLang="ko-KR" sz="1700" dirty="0">
                <a:latin typeface="Times New Roman" panose="02020603050405020304" pitchFamily="18" charset="0"/>
                <a:cs typeface="Times New Roman" panose="02020603050405020304" pitchFamily="18" charset="0"/>
              </a:rPr>
              <a:t> intensity of the HT and LT groups showed no significant difference, and the time spent crossing the KC region was also not significantly different between the HT and LT groups.</a:t>
            </a:r>
          </a:p>
          <a:p>
            <a:endParaRPr lang="en-US" altLang="ko-KR"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Therefore, we were able to more clearly evaluate the effect of KC transport on TC intensity passing through the KC region.</a:t>
            </a:r>
          </a:p>
        </p:txBody>
      </p:sp>
      <p:sp>
        <p:nvSpPr>
          <p:cNvPr id="6" name="TextBox 5">
            <a:extLst>
              <a:ext uri="{FF2B5EF4-FFF2-40B4-BE49-F238E27FC236}">
                <a16:creationId xmlns:a16="http://schemas.microsoft.com/office/drawing/2014/main" id="{B3152C7F-F95C-5C7B-6E75-476926150066}"/>
              </a:ext>
            </a:extLst>
          </p:cNvPr>
          <p:cNvSpPr txBox="1"/>
          <p:nvPr/>
        </p:nvSpPr>
        <p:spPr>
          <a:xfrm>
            <a:off x="299615" y="3875219"/>
            <a:ext cx="11373170" cy="2708434"/>
          </a:xfrm>
          <a:prstGeom prst="rect">
            <a:avLst/>
          </a:prstGeom>
          <a:noFill/>
        </p:spPr>
        <p:txBody>
          <a:bodyPr wrap="square" rtlCol="0">
            <a:spAutoFit/>
          </a:bodyPr>
          <a:lstStyle/>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The </a:t>
            </a:r>
            <a:r>
              <a:rPr lang="en-US" altLang="ko-KR" sz="1700" dirty="0">
                <a:solidFill>
                  <a:srgbClr val="FF0000"/>
                </a:solidFill>
                <a:latin typeface="Times New Roman" panose="02020603050405020304" pitchFamily="18" charset="0"/>
                <a:cs typeface="Times New Roman" panose="02020603050405020304" pitchFamily="18" charset="0"/>
              </a:rPr>
              <a:t>HT group showed no significant decrease </a:t>
            </a:r>
            <a:r>
              <a:rPr lang="en-US" altLang="ko-KR" sz="1700" dirty="0">
                <a:latin typeface="Times New Roman" panose="02020603050405020304" pitchFamily="18" charset="0"/>
                <a:cs typeface="Times New Roman" panose="02020603050405020304" pitchFamily="18" charset="0"/>
              </a:rPr>
              <a:t>in TC intensity after crossing the KC region. However, the </a:t>
            </a:r>
            <a:r>
              <a:rPr lang="en-US" altLang="ko-KR" sz="1700" dirty="0">
                <a:solidFill>
                  <a:srgbClr val="FF0000"/>
                </a:solidFill>
                <a:latin typeface="Times New Roman" panose="02020603050405020304" pitchFamily="18" charset="0"/>
                <a:cs typeface="Times New Roman" panose="02020603050405020304" pitchFamily="18" charset="0"/>
              </a:rPr>
              <a:t>LT group showed a significant decrease </a:t>
            </a:r>
            <a:r>
              <a:rPr lang="en-US" altLang="ko-KR" sz="1700" dirty="0">
                <a:latin typeface="Times New Roman" panose="02020603050405020304" pitchFamily="18" charset="0"/>
                <a:cs typeface="Times New Roman" panose="02020603050405020304" pitchFamily="18" charset="0"/>
              </a:rPr>
              <a:t>in TC intensity after crossing.</a:t>
            </a:r>
          </a:p>
          <a:p>
            <a:pPr marL="285750" indent="-285750">
              <a:buFont typeface="Arial" panose="020B0604020202020204" pitchFamily="34" charset="0"/>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Therefore, it is considered that the KC transport influences the maintenance of TC intensity passing through KC region.</a:t>
            </a:r>
          </a:p>
          <a:p>
            <a:pPr marL="285750" indent="-285750">
              <a:buFont typeface="Arial" panose="020B0604020202020204" pitchFamily="34" charset="0"/>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The </a:t>
            </a:r>
            <a:r>
              <a:rPr lang="en-US" altLang="ko-KR" sz="1700" dirty="0">
                <a:solidFill>
                  <a:srgbClr val="FF0000"/>
                </a:solidFill>
                <a:latin typeface="Times New Roman" panose="02020603050405020304" pitchFamily="18" charset="0"/>
                <a:cs typeface="Times New Roman" panose="02020603050405020304" pitchFamily="18" charset="0"/>
              </a:rPr>
              <a:t>HT group showed significantly stronger </a:t>
            </a:r>
            <a:r>
              <a:rPr lang="en-US" altLang="ko-KR" sz="1700" dirty="0">
                <a:latin typeface="Times New Roman" panose="02020603050405020304" pitchFamily="18" charset="0"/>
                <a:cs typeface="Times New Roman" panose="02020603050405020304" pitchFamily="18" charset="0"/>
              </a:rPr>
              <a:t>TC intensity than the LT group, and showed a significant </a:t>
            </a:r>
            <a:r>
              <a:rPr lang="en-US" altLang="ko-KR" sz="1700" dirty="0">
                <a:solidFill>
                  <a:srgbClr val="FF0000"/>
                </a:solidFill>
                <a:latin typeface="Times New Roman" panose="02020603050405020304" pitchFamily="18" charset="0"/>
                <a:cs typeface="Times New Roman" panose="02020603050405020304" pitchFamily="18" charset="0"/>
              </a:rPr>
              <a:t>increasing trend </a:t>
            </a:r>
            <a:r>
              <a:rPr lang="en-US" altLang="ko-KR" sz="1700" dirty="0">
                <a:latin typeface="Times New Roman" panose="02020603050405020304" pitchFamily="18" charset="0"/>
                <a:cs typeface="Times New Roman" panose="02020603050405020304" pitchFamily="18" charset="0"/>
              </a:rPr>
              <a:t>in mean annual TC intensity north of 30°N.</a:t>
            </a:r>
          </a:p>
          <a:p>
            <a:pPr marL="285750" indent="-285750">
              <a:buFont typeface="Arial" panose="020B0604020202020204" pitchFamily="34" charset="0"/>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Therefore, if these trends persist, TCs affecting East Asian countries such as Korea, Japan, and China may become stronger when KC transport is high in summer.</a:t>
            </a:r>
          </a:p>
        </p:txBody>
      </p:sp>
      <p:sp>
        <p:nvSpPr>
          <p:cNvPr id="7" name="직사각형 6">
            <a:extLst>
              <a:ext uri="{FF2B5EF4-FFF2-40B4-BE49-F238E27FC236}">
                <a16:creationId xmlns:a16="http://schemas.microsoft.com/office/drawing/2014/main" id="{060CA404-6CC8-9388-EA35-C01532E429EB}"/>
              </a:ext>
            </a:extLst>
          </p:cNvPr>
          <p:cNvSpPr/>
          <p:nvPr/>
        </p:nvSpPr>
        <p:spPr>
          <a:xfrm>
            <a:off x="361526" y="3517748"/>
            <a:ext cx="11454235" cy="457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86587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A2404-6CB6-F13A-DA70-736056DC874E}"/>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1E670D81-6E92-8D83-2868-83DC1B657102}"/>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6E973873-9474-F97E-0FD0-C15189B38499}"/>
              </a:ext>
            </a:extLst>
          </p:cNvPr>
          <p:cNvSpPr txBox="1"/>
          <p:nvPr/>
        </p:nvSpPr>
        <p:spPr>
          <a:xfrm>
            <a:off x="0" y="43106"/>
            <a:ext cx="5722620"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5. Conclusion &amp; Discussion</a:t>
            </a:r>
            <a:endParaRPr lang="ko-KR" altLang="en-US" sz="3200" b="1"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E47195EE-7446-98EF-C4D7-FA9D93D2DC7E}"/>
              </a:ext>
            </a:extLst>
          </p:cNvPr>
          <p:cNvSpPr txBox="1"/>
          <p:nvPr/>
        </p:nvSpPr>
        <p:spPr>
          <a:xfrm>
            <a:off x="411480" y="821139"/>
            <a:ext cx="3350895" cy="369332"/>
          </a:xfrm>
          <a:prstGeom prst="rect">
            <a:avLst/>
          </a:prstGeom>
          <a:noFill/>
        </p:spPr>
        <p:txBody>
          <a:bodyPr wrap="square" rtlCol="0">
            <a:spAutoFit/>
          </a:bodyPr>
          <a:lstStyle/>
          <a:p>
            <a:pPr marL="285750" indent="-285750">
              <a:buFont typeface="Arial" panose="020B0604020202020204" pitchFamily="34" charset="0"/>
              <a:buChar char="•"/>
            </a:pPr>
            <a:r>
              <a:rPr lang="en-US" altLang="ko-KR" b="1" dirty="0">
                <a:latin typeface="Arial" panose="020B0604020202020204" pitchFamily="34" charset="0"/>
                <a:cs typeface="Arial" panose="020B0604020202020204" pitchFamily="34" charset="0"/>
              </a:rPr>
              <a:t>Significance of the Study</a:t>
            </a:r>
          </a:p>
        </p:txBody>
      </p:sp>
      <p:sp>
        <p:nvSpPr>
          <p:cNvPr id="3" name="TextBox 2">
            <a:extLst>
              <a:ext uri="{FF2B5EF4-FFF2-40B4-BE49-F238E27FC236}">
                <a16:creationId xmlns:a16="http://schemas.microsoft.com/office/drawing/2014/main" id="{BC272F5C-FA1D-FD9E-48EB-4661048C2B23}"/>
              </a:ext>
            </a:extLst>
          </p:cNvPr>
          <p:cNvSpPr txBox="1"/>
          <p:nvPr/>
        </p:nvSpPr>
        <p:spPr>
          <a:xfrm>
            <a:off x="411479" y="4613027"/>
            <a:ext cx="3274696" cy="369332"/>
          </a:xfrm>
          <a:prstGeom prst="rect">
            <a:avLst/>
          </a:prstGeom>
          <a:noFill/>
        </p:spPr>
        <p:txBody>
          <a:bodyPr wrap="square" rtlCol="0">
            <a:spAutoFit/>
          </a:bodyPr>
          <a:lstStyle/>
          <a:p>
            <a:pPr marL="285750" indent="-285750">
              <a:buFont typeface="Arial" panose="020B0604020202020204" pitchFamily="34" charset="0"/>
              <a:buChar char="•"/>
            </a:pPr>
            <a:r>
              <a:rPr lang="en-US" altLang="ko-KR" b="1" dirty="0">
                <a:latin typeface="Arial" panose="020B0604020202020204" pitchFamily="34" charset="0"/>
                <a:cs typeface="Arial" panose="020B0604020202020204" pitchFamily="34" charset="0"/>
              </a:rPr>
              <a:t>Limitation &amp; Future work</a:t>
            </a:r>
            <a:endParaRPr lang="ko-KR" altLang="en-US"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A55A0AF-1883-217C-1B04-92666526165C}"/>
              </a:ext>
            </a:extLst>
          </p:cNvPr>
          <p:cNvSpPr txBox="1"/>
          <p:nvPr/>
        </p:nvSpPr>
        <p:spPr>
          <a:xfrm>
            <a:off x="657225" y="1327512"/>
            <a:ext cx="10477500" cy="2970044"/>
          </a:xfrm>
          <a:prstGeom prst="rect">
            <a:avLst/>
          </a:prstGeom>
          <a:noFill/>
        </p:spPr>
        <p:txBody>
          <a:bodyPr wrap="square" rtlCol="0">
            <a:spAutoFit/>
          </a:bodyPr>
          <a:lstStyle/>
          <a:p>
            <a:pPr marL="285750" indent="-285750">
              <a:buFont typeface="Wingdings" panose="05000000000000000000" pitchFamily="2" charset="2"/>
              <a:buChar char="§"/>
            </a:pPr>
            <a:r>
              <a:rPr lang="en-US" altLang="ko-KR" sz="1700" dirty="0">
                <a:latin typeface="Times New Roman" panose="02020603050405020304" pitchFamily="18" charset="0"/>
                <a:cs typeface="Times New Roman" panose="02020603050405020304" pitchFamily="18" charset="0"/>
              </a:rPr>
              <a:t>We investigated the effect of KC transport on TC intensity.</a:t>
            </a:r>
          </a:p>
          <a:p>
            <a:pPr marL="285750" indent="-285750">
              <a:buFont typeface="Wingdings" panose="05000000000000000000" pitchFamily="2" charset="2"/>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ko-KR" sz="1700" dirty="0">
                <a:latin typeface="Times New Roman" panose="02020603050405020304" pitchFamily="18" charset="0"/>
                <a:cs typeface="Times New Roman" panose="02020603050405020304" pitchFamily="18" charset="0"/>
              </a:rPr>
              <a:t>We used long-term reanalysis data instead of model experiments or single case studies.</a:t>
            </a:r>
          </a:p>
          <a:p>
            <a:pPr marL="285750" indent="-285750">
              <a:buFont typeface="Wingdings" panose="05000000000000000000" pitchFamily="2" charset="2"/>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ko-KR" sz="1700" dirty="0">
                <a:latin typeface="Times New Roman" panose="02020603050405020304" pitchFamily="18" charset="0"/>
                <a:cs typeface="Times New Roman" panose="02020603050405020304" pitchFamily="18" charset="0"/>
              </a:rPr>
              <a:t>We suggest that KC transport is a variable worth considering in TC intensity research in the East Asia.</a:t>
            </a:r>
          </a:p>
          <a:p>
            <a:pPr marL="285750" indent="-285750">
              <a:buFont typeface="Wingdings" panose="05000000000000000000" pitchFamily="2" charset="2"/>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ko-KR" sz="1700" dirty="0">
                <a:latin typeface="Times New Roman" panose="02020603050405020304" pitchFamily="18" charset="0"/>
                <a:cs typeface="Times New Roman" panose="02020603050405020304" pitchFamily="18" charset="0"/>
              </a:rPr>
              <a:t>(Omitted) When looking at the yearly distribution of HT and LT events, no significant trend was found, which suggests that the influence of climate change is limited.</a:t>
            </a:r>
          </a:p>
          <a:p>
            <a:pPr marL="285750" indent="-285750">
              <a:buFont typeface="Wingdings" panose="05000000000000000000" pitchFamily="2" charset="2"/>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ko-KR" sz="1700" dirty="0">
                <a:latin typeface="Times New Roman" panose="02020603050405020304" pitchFamily="18" charset="0"/>
                <a:cs typeface="Times New Roman" panose="02020603050405020304" pitchFamily="18" charset="0"/>
              </a:rPr>
              <a:t>(Omitted) </a:t>
            </a:r>
            <a:r>
              <a:rPr lang="en-US" altLang="ko-KR" sz="1700" dirty="0" err="1">
                <a:latin typeface="Times New Roman" panose="02020603050405020304" pitchFamily="18" charset="0"/>
                <a:cs typeface="Times New Roman" panose="02020603050405020304" pitchFamily="18" charset="0"/>
              </a:rPr>
              <a:t>PDO</a:t>
            </a:r>
            <a:r>
              <a:rPr lang="en-US" altLang="ko-KR" sz="1700" dirty="0">
                <a:latin typeface="Times New Roman" panose="02020603050405020304" pitchFamily="18" charset="0"/>
                <a:cs typeface="Times New Roman" panose="02020603050405020304" pitchFamily="18" charset="0"/>
              </a:rPr>
              <a:t>/ONI indices and KC transport showed no significant correlation in lag correlation analysis, which suggests that the influence of </a:t>
            </a:r>
            <a:r>
              <a:rPr lang="en-US" altLang="ko-KR" sz="1700" dirty="0" err="1">
                <a:latin typeface="Times New Roman" panose="02020603050405020304" pitchFamily="18" charset="0"/>
                <a:cs typeface="Times New Roman" panose="02020603050405020304" pitchFamily="18" charset="0"/>
              </a:rPr>
              <a:t>PDO</a:t>
            </a:r>
            <a:r>
              <a:rPr lang="en-US" altLang="ko-KR" sz="1700" dirty="0">
                <a:latin typeface="Times New Roman" panose="02020603050405020304" pitchFamily="18" charset="0"/>
                <a:cs typeface="Times New Roman" panose="02020603050405020304" pitchFamily="18" charset="0"/>
              </a:rPr>
              <a:t>/ONI is limited.</a:t>
            </a:r>
          </a:p>
        </p:txBody>
      </p:sp>
      <p:sp>
        <p:nvSpPr>
          <p:cNvPr id="8" name="TextBox 7">
            <a:extLst>
              <a:ext uri="{FF2B5EF4-FFF2-40B4-BE49-F238E27FC236}">
                <a16:creationId xmlns:a16="http://schemas.microsoft.com/office/drawing/2014/main" id="{59611146-913C-BE25-9C9E-60938FA1EF69}"/>
              </a:ext>
            </a:extLst>
          </p:cNvPr>
          <p:cNvSpPr txBox="1"/>
          <p:nvPr/>
        </p:nvSpPr>
        <p:spPr>
          <a:xfrm>
            <a:off x="657225" y="5122461"/>
            <a:ext cx="11096625" cy="1400383"/>
          </a:xfrm>
          <a:prstGeom prst="rect">
            <a:avLst/>
          </a:prstGeom>
          <a:noFill/>
        </p:spPr>
        <p:txBody>
          <a:bodyPr wrap="square" rtlCol="0">
            <a:spAutoFit/>
          </a:bodyPr>
          <a:lstStyle/>
          <a:p>
            <a:pPr marL="285750" indent="-285750">
              <a:buFont typeface="Wingdings" panose="05000000000000000000" pitchFamily="2" charset="2"/>
              <a:buChar char="§"/>
            </a:pPr>
            <a:r>
              <a:rPr lang="en-US" altLang="ko-KR" sz="1700" dirty="0">
                <a:latin typeface="Times New Roman" panose="02020603050405020304" pitchFamily="18" charset="0"/>
                <a:cs typeface="Times New Roman" panose="02020603050405020304" pitchFamily="18" charset="0"/>
              </a:rPr>
              <a:t>More samples are needed to verify the results.</a:t>
            </a:r>
          </a:p>
          <a:p>
            <a:pPr marL="285750" indent="-285750">
              <a:buFont typeface="Wingdings" panose="05000000000000000000" pitchFamily="2" charset="2"/>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ko-KR" sz="1700" dirty="0">
                <a:latin typeface="Times New Roman" panose="02020603050405020304" pitchFamily="18" charset="0"/>
                <a:cs typeface="Times New Roman" panose="02020603050405020304" pitchFamily="18" charset="0"/>
              </a:rPr>
              <a:t>The cause of the increasing KC transport is not yet known.</a:t>
            </a:r>
          </a:p>
          <a:p>
            <a:pPr marL="285750" indent="-285750">
              <a:buFont typeface="Wingdings" panose="05000000000000000000" pitchFamily="2" charset="2"/>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ko-KR" sz="1700" dirty="0">
                <a:latin typeface="Times New Roman" panose="02020603050405020304" pitchFamily="18" charset="0"/>
                <a:cs typeface="Times New Roman" panose="02020603050405020304" pitchFamily="18" charset="0"/>
              </a:rPr>
              <a:t>It is also necessary to investigate how these changes will occur in future climate using future climate scenarios.</a:t>
            </a:r>
          </a:p>
        </p:txBody>
      </p:sp>
    </p:spTree>
    <p:extLst>
      <p:ext uri="{BB962C8B-B14F-4D97-AF65-F5344CB8AC3E}">
        <p14:creationId xmlns:p14="http://schemas.microsoft.com/office/powerpoint/2010/main" val="2179798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76CD0-1EA2-1E07-2FF4-1ED0ABAD8FAD}"/>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79747D6-FF14-29A0-42AD-57A896377CB0}"/>
              </a:ext>
            </a:extLst>
          </p:cNvPr>
          <p:cNvSpPr>
            <a:spLocks noGrp="1"/>
          </p:cNvSpPr>
          <p:nvPr>
            <p:ph type="ctrTitle"/>
          </p:nvPr>
        </p:nvSpPr>
        <p:spPr/>
        <p:txBody>
          <a:bodyPr/>
          <a:lstStyle/>
          <a:p>
            <a:endParaRPr lang="ko-KR" altLang="en-US" dirty="0"/>
          </a:p>
        </p:txBody>
      </p:sp>
      <p:pic>
        <p:nvPicPr>
          <p:cNvPr id="5" name="그림 4">
            <a:extLst>
              <a:ext uri="{FF2B5EF4-FFF2-40B4-BE49-F238E27FC236}">
                <a16:creationId xmlns:a16="http://schemas.microsoft.com/office/drawing/2014/main" id="{A94CC978-30E9-5020-039F-A75ABD48F6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3754" y="5603166"/>
            <a:ext cx="958082" cy="962425"/>
          </a:xfrm>
          <a:prstGeom prst="rect">
            <a:avLst/>
          </a:prstGeom>
        </p:spPr>
      </p:pic>
      <p:sp>
        <p:nvSpPr>
          <p:cNvPr id="6" name="직사각형 5">
            <a:extLst>
              <a:ext uri="{FF2B5EF4-FFF2-40B4-BE49-F238E27FC236}">
                <a16:creationId xmlns:a16="http://schemas.microsoft.com/office/drawing/2014/main" id="{452359AA-2975-7AAF-5FCC-01CC41BDD8AC}"/>
              </a:ext>
            </a:extLst>
          </p:cNvPr>
          <p:cNvSpPr>
            <a:spLocks noGrp="1" noRot="1" noMove="1" noResize="1" noEditPoints="1" noAdjustHandles="1" noChangeArrowheads="1" noChangeShapeType="1"/>
          </p:cNvSpPr>
          <p:nvPr/>
        </p:nvSpPr>
        <p:spPr>
          <a:xfrm>
            <a:off x="-10048" y="-10048"/>
            <a:ext cx="12202048" cy="43408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0" name="그룹 9">
            <a:extLst>
              <a:ext uri="{FF2B5EF4-FFF2-40B4-BE49-F238E27FC236}">
                <a16:creationId xmlns:a16="http://schemas.microsoft.com/office/drawing/2014/main" id="{D8FF29A0-A414-7A8E-6EA2-1937FA460C3C}"/>
              </a:ext>
            </a:extLst>
          </p:cNvPr>
          <p:cNvGrpSpPr/>
          <p:nvPr/>
        </p:nvGrpSpPr>
        <p:grpSpPr>
          <a:xfrm>
            <a:off x="1967652" y="4596074"/>
            <a:ext cx="8246648" cy="742962"/>
            <a:chOff x="4069583" y="4904712"/>
            <a:chExt cx="4401177" cy="742962"/>
          </a:xfrm>
        </p:grpSpPr>
        <p:sp>
          <p:nvSpPr>
            <p:cNvPr id="8" name="TextBox 7">
              <a:extLst>
                <a:ext uri="{FF2B5EF4-FFF2-40B4-BE49-F238E27FC236}">
                  <a16:creationId xmlns:a16="http://schemas.microsoft.com/office/drawing/2014/main" id="{22A725C6-D870-D057-0453-CDF874FE95B8}"/>
                </a:ext>
              </a:extLst>
            </p:cNvPr>
            <p:cNvSpPr txBox="1"/>
            <p:nvPr/>
          </p:nvSpPr>
          <p:spPr>
            <a:xfrm>
              <a:off x="4069583" y="4904712"/>
              <a:ext cx="4401177" cy="369332"/>
            </a:xfrm>
            <a:prstGeom prst="rect">
              <a:avLst/>
            </a:prstGeom>
            <a:noFill/>
          </p:spPr>
          <p:txBody>
            <a:bodyPr wrap="square" rtlCol="0">
              <a:spAutoFit/>
            </a:bodyPr>
            <a:lstStyle/>
            <a:p>
              <a:pPr algn="ctr"/>
              <a:r>
                <a:rPr lang="en-US" altLang="ko-KR" dirty="0">
                  <a:latin typeface="Arial" panose="020B0604020202020204" pitchFamily="34" charset="0"/>
                  <a:ea typeface="나눔명조 ExtraBold" panose="02020603020101020101" pitchFamily="18" charset="-127"/>
                  <a:cs typeface="Arial" panose="020B0604020202020204" pitchFamily="34" charset="0"/>
                </a:rPr>
                <a:t>Dept. of Convergence Study on the Ocean Science and Technology</a:t>
              </a:r>
              <a:endParaRPr lang="ko-KR" altLang="en-US" dirty="0">
                <a:latin typeface="Arial" panose="020B0604020202020204" pitchFamily="34" charset="0"/>
                <a:ea typeface="나눔명조 ExtraBold" panose="02020603020101020101" pitchFamily="18" charset="-127"/>
                <a:cs typeface="Arial" panose="020B0604020202020204" pitchFamily="34" charset="0"/>
              </a:endParaRPr>
            </a:p>
          </p:txBody>
        </p:sp>
        <p:sp>
          <p:nvSpPr>
            <p:cNvPr id="9" name="TextBox 8">
              <a:extLst>
                <a:ext uri="{FF2B5EF4-FFF2-40B4-BE49-F238E27FC236}">
                  <a16:creationId xmlns:a16="http://schemas.microsoft.com/office/drawing/2014/main" id="{121F0279-F9B2-03C7-7075-2DDA11B24852}"/>
                </a:ext>
              </a:extLst>
            </p:cNvPr>
            <p:cNvSpPr txBox="1"/>
            <p:nvPr/>
          </p:nvSpPr>
          <p:spPr>
            <a:xfrm>
              <a:off x="5295480" y="5278342"/>
              <a:ext cx="1974505" cy="369332"/>
            </a:xfrm>
            <a:prstGeom prst="rect">
              <a:avLst/>
            </a:prstGeom>
            <a:noFill/>
          </p:spPr>
          <p:txBody>
            <a:bodyPr wrap="square" rtlCol="0">
              <a:spAutoFit/>
            </a:bodyPr>
            <a:lstStyle/>
            <a:p>
              <a:pPr algn="ctr"/>
              <a:r>
                <a:rPr lang="en-US" altLang="ko-KR" dirty="0" err="1">
                  <a:latin typeface="Arial" panose="020B0604020202020204" pitchFamily="34" charset="0"/>
                  <a:ea typeface="나눔명조 ExtraBold" panose="02020603020101020101" pitchFamily="18" charset="-127"/>
                  <a:cs typeface="Arial" panose="020B0604020202020204" pitchFamily="34" charset="0"/>
                </a:rPr>
                <a:t>Gunwoo</a:t>
              </a:r>
              <a:r>
                <a:rPr lang="en-US" altLang="ko-KR" dirty="0">
                  <a:latin typeface="Arial" panose="020B0604020202020204" pitchFamily="34" charset="0"/>
                  <a:ea typeface="나눔명조 ExtraBold" panose="02020603020101020101" pitchFamily="18" charset="-127"/>
                  <a:cs typeface="Arial" panose="020B0604020202020204" pitchFamily="34" charset="0"/>
                </a:rPr>
                <a:t> Do, Hyeong-</a:t>
              </a:r>
              <a:r>
                <a:rPr lang="en-US" altLang="ko-KR" dirty="0" err="1">
                  <a:latin typeface="Arial" panose="020B0604020202020204" pitchFamily="34" charset="0"/>
                  <a:ea typeface="나눔명조 ExtraBold" panose="02020603020101020101" pitchFamily="18" charset="-127"/>
                  <a:cs typeface="Arial" panose="020B0604020202020204" pitchFamily="34" charset="0"/>
                </a:rPr>
                <a:t>Seog</a:t>
              </a:r>
              <a:r>
                <a:rPr lang="ko-KR" altLang="en-US" dirty="0">
                  <a:latin typeface="Arial" panose="020B0604020202020204" pitchFamily="34" charset="0"/>
                  <a:ea typeface="나눔명조 ExtraBold" panose="02020603020101020101" pitchFamily="18" charset="-127"/>
                  <a:cs typeface="Arial" panose="020B0604020202020204" pitchFamily="34" charset="0"/>
                </a:rPr>
                <a:t> </a:t>
              </a:r>
              <a:r>
                <a:rPr lang="en-US" altLang="ko-KR" dirty="0">
                  <a:latin typeface="Arial" panose="020B0604020202020204" pitchFamily="34" charset="0"/>
                  <a:ea typeface="나눔명조 ExtraBold" panose="02020603020101020101" pitchFamily="18" charset="-127"/>
                  <a:cs typeface="Arial" panose="020B0604020202020204" pitchFamily="34" charset="0"/>
                </a:rPr>
                <a:t>Kim</a:t>
              </a:r>
              <a:endParaRPr lang="ko-KR" altLang="en-US" dirty="0">
                <a:latin typeface="Arial" panose="020B0604020202020204" pitchFamily="34" charset="0"/>
                <a:ea typeface="나눔명조 ExtraBold" panose="02020603020101020101" pitchFamily="18" charset="-127"/>
                <a:cs typeface="Arial" panose="020B0604020202020204" pitchFamily="34" charset="0"/>
              </a:endParaRPr>
            </a:p>
          </p:txBody>
        </p:sp>
      </p:grpSp>
      <p:sp>
        <p:nvSpPr>
          <p:cNvPr id="11" name="TextBox 10">
            <a:extLst>
              <a:ext uri="{FF2B5EF4-FFF2-40B4-BE49-F238E27FC236}">
                <a16:creationId xmlns:a16="http://schemas.microsoft.com/office/drawing/2014/main" id="{BC005FE8-AEF1-A3B7-62B5-3FF27EFE5ACB}"/>
              </a:ext>
            </a:extLst>
          </p:cNvPr>
          <p:cNvSpPr txBox="1"/>
          <p:nvPr/>
        </p:nvSpPr>
        <p:spPr>
          <a:xfrm>
            <a:off x="4590509" y="1609632"/>
            <a:ext cx="3048005" cy="677108"/>
          </a:xfrm>
          <a:prstGeom prst="rect">
            <a:avLst/>
          </a:prstGeom>
          <a:noFill/>
        </p:spPr>
        <p:txBody>
          <a:bodyPr wrap="square" rtlCol="0">
            <a:spAutoFit/>
          </a:bodyPr>
          <a:lstStyle/>
          <a:p>
            <a:r>
              <a:rPr lang="en-US" altLang="ko-KR" sz="3800" b="1" spc="300" dirty="0">
                <a:solidFill>
                  <a:schemeClr val="bg1"/>
                </a:solidFill>
                <a:latin typeface="Helvetica" pitchFamily="2" charset="0"/>
                <a:ea typeface="Calibri" panose="020F0502020204030204" pitchFamily="34" charset="0"/>
                <a:cs typeface="Calibri" panose="020F0502020204030204" pitchFamily="34" charset="0"/>
              </a:rPr>
              <a:t>Thank You</a:t>
            </a:r>
            <a:endParaRPr lang="ko-KR" altLang="en-US" sz="3800" b="1" spc="300" dirty="0">
              <a:solidFill>
                <a:schemeClr val="bg1"/>
              </a:solidFill>
              <a:latin typeface="Helvetica" pitchFamily="2" charset="0"/>
              <a:cs typeface="Calibri" panose="020F0502020204030204" pitchFamily="34" charset="0"/>
            </a:endParaRPr>
          </a:p>
        </p:txBody>
      </p:sp>
      <p:sp>
        <p:nvSpPr>
          <p:cNvPr id="3" name="직사각형 2">
            <a:extLst>
              <a:ext uri="{FF2B5EF4-FFF2-40B4-BE49-F238E27FC236}">
                <a16:creationId xmlns:a16="http://schemas.microsoft.com/office/drawing/2014/main" id="{6AAAB944-69C1-6521-75A8-45BC027603E7}"/>
              </a:ext>
            </a:extLst>
          </p:cNvPr>
          <p:cNvSpPr/>
          <p:nvPr/>
        </p:nvSpPr>
        <p:spPr>
          <a:xfrm rot="16200000">
            <a:off x="6056432" y="655063"/>
            <a:ext cx="69093" cy="33909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 4">
            <a:extLst>
              <a:ext uri="{FF2B5EF4-FFF2-40B4-BE49-F238E27FC236}">
                <a16:creationId xmlns:a16="http://schemas.microsoft.com/office/drawing/2014/main" id="{81545EC4-8E4F-B0D2-BD85-3B248BE94364}"/>
              </a:ext>
            </a:extLst>
          </p:cNvPr>
          <p:cNvSpPr/>
          <p:nvPr/>
        </p:nvSpPr>
        <p:spPr>
          <a:xfrm>
            <a:off x="5145022" y="2612618"/>
            <a:ext cx="1891913" cy="365760"/>
          </a:xfrm>
          <a:prstGeom prst="rect">
            <a:avLst/>
          </a:prstGeom>
          <a:noFill/>
          <a:ln/>
        </p:spPr>
        <p:txBody>
          <a:bodyPr wrap="square" lIns="0" tIns="0" rIns="0" bIns="0" rtlCol="0" anchor="ctr"/>
          <a:lstStyle/>
          <a:p>
            <a:pPr marL="0" indent="0" algn="ctr">
              <a:buNone/>
            </a:pPr>
            <a:r>
              <a:rPr lang="en-US" sz="1600" dirty="0">
                <a:solidFill>
                  <a:srgbClr val="90E0EF"/>
                </a:solidFill>
                <a:latin typeface="Arial" panose="020B0604020202020204" pitchFamily="34" charset="0"/>
                <a:ea typeface="Calibri Light" pitchFamily="34" charset="-122"/>
                <a:cs typeface="Arial" panose="020B0604020202020204" pitchFamily="34" charset="0"/>
              </a:rPr>
              <a:t>Questions &amp; Answer</a:t>
            </a:r>
            <a:endParaRPr lang="en-US" sz="1600" dirty="0"/>
          </a:p>
        </p:txBody>
      </p:sp>
    </p:spTree>
    <p:extLst>
      <p:ext uri="{BB962C8B-B14F-4D97-AF65-F5344CB8AC3E}">
        <p14:creationId xmlns:p14="http://schemas.microsoft.com/office/powerpoint/2010/main" val="2297017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B019E-6E39-EA0A-359F-83C6D6E06B1E}"/>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92038F8E-6633-8552-AC58-F52355C90E5B}"/>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7D4D81BF-9AB1-3AD3-D9A0-BCC63D2CF139}"/>
              </a:ext>
            </a:extLst>
          </p:cNvPr>
          <p:cNvSpPr txBox="1"/>
          <p:nvPr/>
        </p:nvSpPr>
        <p:spPr>
          <a:xfrm>
            <a:off x="0" y="43106"/>
            <a:ext cx="5722620"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6. </a:t>
            </a:r>
            <a:r>
              <a:rPr lang="en-US" altLang="ko-KR" sz="3200" b="1" dirty="0">
                <a:solidFill>
                  <a:schemeClr val="bg1"/>
                </a:solidFill>
                <a:latin typeface="Arial" panose="020B0604020202020204" pitchFamily="34" charset="0"/>
                <a:cs typeface="Arial" panose="020B0604020202020204" pitchFamily="34" charset="0"/>
              </a:rPr>
              <a:t>Supplementary </a:t>
            </a:r>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data</a:t>
            </a:r>
            <a:endParaRPr lang="ko-KR" altLang="en-US" sz="3200" b="1"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6DE2376-EB3C-9757-8DC6-8D70D441CFEA}"/>
              </a:ext>
            </a:extLst>
          </p:cNvPr>
          <p:cNvSpPr txBox="1"/>
          <p:nvPr/>
        </p:nvSpPr>
        <p:spPr>
          <a:xfrm>
            <a:off x="170788" y="821139"/>
            <a:ext cx="7271412" cy="369332"/>
          </a:xfrm>
          <a:prstGeom prst="rect">
            <a:avLst/>
          </a:prstGeom>
          <a:noFill/>
        </p:spPr>
        <p:txBody>
          <a:bodyPr wrap="square" rtlCol="0">
            <a:spAutoFit/>
          </a:bodyPr>
          <a:lstStyle/>
          <a:p>
            <a:pPr marL="285750" indent="-285750">
              <a:buFont typeface="Arial" panose="020B0604020202020204" pitchFamily="34" charset="0"/>
              <a:buChar char="•"/>
            </a:pPr>
            <a:r>
              <a:rPr lang="en-US" altLang="ko-KR" b="1" dirty="0">
                <a:latin typeface="Arial" panose="020B0604020202020204" pitchFamily="34" charset="0"/>
                <a:cs typeface="Arial" panose="020B0604020202020204" pitchFamily="34" charset="0"/>
              </a:rPr>
              <a:t>Mixed Layer Depth (HT, LT, HT-LT)</a:t>
            </a:r>
          </a:p>
        </p:txBody>
      </p:sp>
      <p:sp>
        <p:nvSpPr>
          <p:cNvPr id="3" name="TextBox 2">
            <a:extLst>
              <a:ext uri="{FF2B5EF4-FFF2-40B4-BE49-F238E27FC236}">
                <a16:creationId xmlns:a16="http://schemas.microsoft.com/office/drawing/2014/main" id="{9093DA90-119A-00AB-2C9F-6D8AB789CA52}"/>
              </a:ext>
            </a:extLst>
          </p:cNvPr>
          <p:cNvSpPr txBox="1"/>
          <p:nvPr/>
        </p:nvSpPr>
        <p:spPr>
          <a:xfrm>
            <a:off x="170788" y="4040830"/>
            <a:ext cx="3274696" cy="369332"/>
          </a:xfrm>
          <a:prstGeom prst="rect">
            <a:avLst/>
          </a:prstGeom>
          <a:noFill/>
        </p:spPr>
        <p:txBody>
          <a:bodyPr wrap="square" rtlCol="0">
            <a:spAutoFit/>
          </a:bodyPr>
          <a:lstStyle/>
          <a:p>
            <a:pPr marL="285750" indent="-285750">
              <a:buFont typeface="Arial" panose="020B0604020202020204" pitchFamily="34" charset="0"/>
              <a:buChar char="•"/>
            </a:pPr>
            <a:r>
              <a:rPr lang="en-US" altLang="ko-KR" b="1" dirty="0">
                <a:latin typeface="Arial" panose="020B0604020202020204" pitchFamily="34" charset="0"/>
                <a:cs typeface="Arial" panose="020B0604020202020204" pitchFamily="34" charset="0"/>
              </a:rPr>
              <a:t>Sasaki and Umeda (2021)</a:t>
            </a:r>
            <a:endParaRPr lang="ko-KR" altLang="en-US" b="1" dirty="0">
              <a:latin typeface="Arial" panose="020B0604020202020204" pitchFamily="34" charset="0"/>
              <a:cs typeface="Arial" panose="020B0604020202020204" pitchFamily="34" charset="0"/>
            </a:endParaRPr>
          </a:p>
        </p:txBody>
      </p:sp>
      <p:pic>
        <p:nvPicPr>
          <p:cNvPr id="18" name="그림 17">
            <a:extLst>
              <a:ext uri="{FF2B5EF4-FFF2-40B4-BE49-F238E27FC236}">
                <a16:creationId xmlns:a16="http://schemas.microsoft.com/office/drawing/2014/main" id="{1ED98A89-3068-E660-3BE1-1008220312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047" y="4400299"/>
            <a:ext cx="3295636" cy="2349281"/>
          </a:xfrm>
          <a:prstGeom prst="rect">
            <a:avLst/>
          </a:prstGeom>
        </p:spPr>
      </p:pic>
      <p:sp>
        <p:nvSpPr>
          <p:cNvPr id="20" name="TextBox 19">
            <a:extLst>
              <a:ext uri="{FF2B5EF4-FFF2-40B4-BE49-F238E27FC236}">
                <a16:creationId xmlns:a16="http://schemas.microsoft.com/office/drawing/2014/main" id="{EABDFBC1-3256-97AE-40E2-8C828BC2DC27}"/>
              </a:ext>
            </a:extLst>
          </p:cNvPr>
          <p:cNvSpPr txBox="1"/>
          <p:nvPr/>
        </p:nvSpPr>
        <p:spPr>
          <a:xfrm>
            <a:off x="8318830" y="4512104"/>
            <a:ext cx="3647123" cy="1923604"/>
          </a:xfrm>
          <a:prstGeom prst="rect">
            <a:avLst/>
          </a:prstGeom>
          <a:noFill/>
        </p:spPr>
        <p:txBody>
          <a:bodyPr wrap="square">
            <a:spAutoFit/>
          </a:bodyPr>
          <a:lstStyle/>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Sasaki and Umeda (2021) said that negative WSCs at low latitudes can cause an increase in Kuroshio speed.</a:t>
            </a:r>
          </a:p>
          <a:p>
            <a:pPr marL="285750" indent="-285750">
              <a:buFont typeface="Arial" panose="020B0604020202020204" pitchFamily="34" charset="0"/>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Thermal advection is driving SST warming in relation to the increase in Kuroshio velocity.</a:t>
            </a:r>
          </a:p>
        </p:txBody>
      </p:sp>
      <p:pic>
        <p:nvPicPr>
          <p:cNvPr id="22" name="그림 21">
            <a:extLst>
              <a:ext uri="{FF2B5EF4-FFF2-40B4-BE49-F238E27FC236}">
                <a16:creationId xmlns:a16="http://schemas.microsoft.com/office/drawing/2014/main" id="{860E44AA-CCD3-0B3D-B7CB-0D9C482B8E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21683" y="4410162"/>
            <a:ext cx="4797147" cy="2265989"/>
          </a:xfrm>
          <a:prstGeom prst="rect">
            <a:avLst/>
          </a:prstGeom>
        </p:spPr>
      </p:pic>
      <p:pic>
        <p:nvPicPr>
          <p:cNvPr id="7" name="그림 6">
            <a:extLst>
              <a:ext uri="{FF2B5EF4-FFF2-40B4-BE49-F238E27FC236}">
                <a16:creationId xmlns:a16="http://schemas.microsoft.com/office/drawing/2014/main" id="{43DBFFF7-3816-64C2-D6B4-6BC65C7A4B96}"/>
              </a:ext>
            </a:extLst>
          </p:cNvPr>
          <p:cNvPicPr>
            <a:picLocks noChangeAspect="1"/>
          </p:cNvPicPr>
          <p:nvPr/>
        </p:nvPicPr>
        <p:blipFill>
          <a:blip r:embed="rId5">
            <a:extLst>
              <a:ext uri="{28A0092B-C50C-407E-A947-70E740481C1C}">
                <a14:useLocalDpi xmlns:a14="http://schemas.microsoft.com/office/drawing/2010/main" val="0"/>
              </a:ext>
            </a:extLst>
          </a:blip>
          <a:srcRect t="24772" b="50741"/>
          <a:stretch>
            <a:fillRect/>
          </a:stretch>
        </p:blipFill>
        <p:spPr>
          <a:xfrm>
            <a:off x="226047" y="1378405"/>
            <a:ext cx="9766677" cy="2459304"/>
          </a:xfrm>
          <a:prstGeom prst="rect">
            <a:avLst/>
          </a:prstGeom>
        </p:spPr>
      </p:pic>
    </p:spTree>
    <p:extLst>
      <p:ext uri="{BB962C8B-B14F-4D97-AF65-F5344CB8AC3E}">
        <p14:creationId xmlns:p14="http://schemas.microsoft.com/office/powerpoint/2010/main" val="2814784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D038C-899E-489B-BEA0-31CA4A42AB17}"/>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14593790-97C7-9BBB-0A4F-739022FFF973}"/>
              </a:ext>
            </a:extLst>
          </p:cNvPr>
          <p:cNvSpPr>
            <a:spLocks/>
          </p:cNvSpPr>
          <p:nvPr/>
        </p:nvSpPr>
        <p:spPr>
          <a:xfrm>
            <a:off x="-10048" y="-10048"/>
            <a:ext cx="12202048" cy="691085"/>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1B77C308-C4A3-2AE1-0581-7BB4A511481C}"/>
              </a:ext>
            </a:extLst>
          </p:cNvPr>
          <p:cNvSpPr txBox="1"/>
          <p:nvPr/>
        </p:nvSpPr>
        <p:spPr>
          <a:xfrm>
            <a:off x="0" y="43106"/>
            <a:ext cx="5722620" cy="584775"/>
          </a:xfrm>
          <a:prstGeom prst="rect">
            <a:avLst/>
          </a:prstGeom>
          <a:noFill/>
        </p:spPr>
        <p:txBody>
          <a:bodyPr wrap="square" rtlCol="0">
            <a:spAutoFit/>
          </a:bodyPr>
          <a:lstStyle/>
          <a:p>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6. </a:t>
            </a:r>
            <a:r>
              <a:rPr lang="en-US" altLang="ko-KR" sz="3200" b="1" dirty="0">
                <a:solidFill>
                  <a:schemeClr val="bg1"/>
                </a:solidFill>
                <a:latin typeface="Arial" panose="020B0604020202020204" pitchFamily="34" charset="0"/>
                <a:cs typeface="Arial" panose="020B0604020202020204" pitchFamily="34" charset="0"/>
              </a:rPr>
              <a:t>Supplementary </a:t>
            </a:r>
            <a:r>
              <a:rPr lang="en-US" altLang="ko-KR" sz="3200" b="1" dirty="0">
                <a:solidFill>
                  <a:schemeClr val="bg1"/>
                </a:solidFill>
                <a:latin typeface="Arial" panose="020B0604020202020204" pitchFamily="34" charset="0"/>
                <a:ea typeface="맑은 고딕" panose="020B0503020000020004" pitchFamily="50" charset="-127"/>
                <a:cs typeface="Arial" panose="020B0604020202020204" pitchFamily="34" charset="0"/>
              </a:rPr>
              <a:t>data</a:t>
            </a:r>
            <a:endParaRPr lang="ko-KR" altLang="en-US" sz="3200" b="1"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47FF1BA-E1FA-B332-468F-FE8A15BECB7D}"/>
              </a:ext>
            </a:extLst>
          </p:cNvPr>
          <p:cNvSpPr txBox="1"/>
          <p:nvPr/>
        </p:nvSpPr>
        <p:spPr>
          <a:xfrm>
            <a:off x="170788" y="821139"/>
            <a:ext cx="3350895" cy="369332"/>
          </a:xfrm>
          <a:prstGeom prst="rect">
            <a:avLst/>
          </a:prstGeom>
          <a:noFill/>
        </p:spPr>
        <p:txBody>
          <a:bodyPr wrap="square" rtlCol="0">
            <a:spAutoFit/>
          </a:bodyPr>
          <a:lstStyle/>
          <a:p>
            <a:pPr marL="285750" indent="-285750">
              <a:buFont typeface="Arial" panose="020B0604020202020204" pitchFamily="34" charset="0"/>
              <a:buChar char="•"/>
            </a:pPr>
            <a:r>
              <a:rPr lang="en-US" altLang="ko-KR" b="1" dirty="0">
                <a:latin typeface="Arial" panose="020B0604020202020204" pitchFamily="34" charset="0"/>
                <a:cs typeface="Arial" panose="020B0604020202020204" pitchFamily="34" charset="0"/>
              </a:rPr>
              <a:t>Wind stress curl by group</a:t>
            </a:r>
          </a:p>
        </p:txBody>
      </p:sp>
      <p:sp>
        <p:nvSpPr>
          <p:cNvPr id="3" name="TextBox 2">
            <a:extLst>
              <a:ext uri="{FF2B5EF4-FFF2-40B4-BE49-F238E27FC236}">
                <a16:creationId xmlns:a16="http://schemas.microsoft.com/office/drawing/2014/main" id="{945161E2-42FD-9373-2097-D7E0AECA1CD3}"/>
              </a:ext>
            </a:extLst>
          </p:cNvPr>
          <p:cNvSpPr txBox="1"/>
          <p:nvPr/>
        </p:nvSpPr>
        <p:spPr>
          <a:xfrm>
            <a:off x="170788" y="4040830"/>
            <a:ext cx="3274696" cy="369332"/>
          </a:xfrm>
          <a:prstGeom prst="rect">
            <a:avLst/>
          </a:prstGeom>
          <a:noFill/>
        </p:spPr>
        <p:txBody>
          <a:bodyPr wrap="square" rtlCol="0">
            <a:spAutoFit/>
          </a:bodyPr>
          <a:lstStyle/>
          <a:p>
            <a:pPr marL="285750" indent="-285750">
              <a:buFont typeface="Arial" panose="020B0604020202020204" pitchFamily="34" charset="0"/>
              <a:buChar char="•"/>
            </a:pPr>
            <a:r>
              <a:rPr lang="en-US" altLang="ko-KR" b="1" dirty="0">
                <a:latin typeface="Arial" panose="020B0604020202020204" pitchFamily="34" charset="0"/>
                <a:cs typeface="Arial" panose="020B0604020202020204" pitchFamily="34" charset="0"/>
              </a:rPr>
              <a:t>Sasaki and Umeda (2021)</a:t>
            </a:r>
            <a:endParaRPr lang="ko-KR" altLang="en-US" b="1" dirty="0">
              <a:latin typeface="Arial" panose="020B0604020202020204" pitchFamily="34" charset="0"/>
              <a:cs typeface="Arial" panose="020B0604020202020204" pitchFamily="34" charset="0"/>
            </a:endParaRPr>
          </a:p>
        </p:txBody>
      </p:sp>
      <p:grpSp>
        <p:nvGrpSpPr>
          <p:cNvPr id="23" name="그룹 22">
            <a:extLst>
              <a:ext uri="{FF2B5EF4-FFF2-40B4-BE49-F238E27FC236}">
                <a16:creationId xmlns:a16="http://schemas.microsoft.com/office/drawing/2014/main" id="{DD253186-3129-EF62-A331-C7279AEEDEE5}"/>
              </a:ext>
            </a:extLst>
          </p:cNvPr>
          <p:cNvGrpSpPr/>
          <p:nvPr/>
        </p:nvGrpSpPr>
        <p:grpSpPr>
          <a:xfrm>
            <a:off x="490305" y="1240095"/>
            <a:ext cx="10859901" cy="2560292"/>
            <a:chOff x="411479" y="1196517"/>
            <a:chExt cx="10859901" cy="2560292"/>
          </a:xfrm>
        </p:grpSpPr>
        <p:pic>
          <p:nvPicPr>
            <p:cNvPr id="9" name="그림 8">
              <a:extLst>
                <a:ext uri="{FF2B5EF4-FFF2-40B4-BE49-F238E27FC236}">
                  <a16:creationId xmlns:a16="http://schemas.microsoft.com/office/drawing/2014/main" id="{C50B6F77-741F-DBEC-CE9A-89C2CE3535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479" y="1196517"/>
              <a:ext cx="10859901" cy="2560292"/>
            </a:xfrm>
            <a:prstGeom prst="rect">
              <a:avLst/>
            </a:prstGeom>
          </p:spPr>
        </p:pic>
        <p:cxnSp>
          <p:nvCxnSpPr>
            <p:cNvPr id="11" name="직선 화살표 연결선 10">
              <a:extLst>
                <a:ext uri="{FF2B5EF4-FFF2-40B4-BE49-F238E27FC236}">
                  <a16:creationId xmlns:a16="http://schemas.microsoft.com/office/drawing/2014/main" id="{45A39613-F803-E806-F2C1-55EE0CE5D729}"/>
                </a:ext>
              </a:extLst>
            </p:cNvPr>
            <p:cNvCxnSpPr>
              <a:cxnSpLocks/>
            </p:cNvCxnSpPr>
            <p:nvPr/>
          </p:nvCxnSpPr>
          <p:spPr>
            <a:xfrm flipV="1">
              <a:off x="1212980" y="2465614"/>
              <a:ext cx="0" cy="55983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9F51DCF1-47D4-3E7D-597C-C41E0EF9FFED}"/>
                </a:ext>
              </a:extLst>
            </p:cNvPr>
            <p:cNvCxnSpPr>
              <a:cxnSpLocks/>
            </p:cNvCxnSpPr>
            <p:nvPr/>
          </p:nvCxnSpPr>
          <p:spPr>
            <a:xfrm>
              <a:off x="4715070" y="2465614"/>
              <a:ext cx="0" cy="55983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18" name="그림 17">
            <a:extLst>
              <a:ext uri="{FF2B5EF4-FFF2-40B4-BE49-F238E27FC236}">
                <a16:creationId xmlns:a16="http://schemas.microsoft.com/office/drawing/2014/main" id="{DDABB72C-D312-CD0B-598B-B061197ADA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6047" y="4400299"/>
            <a:ext cx="3295636" cy="2349281"/>
          </a:xfrm>
          <a:prstGeom prst="rect">
            <a:avLst/>
          </a:prstGeom>
        </p:spPr>
      </p:pic>
      <p:sp>
        <p:nvSpPr>
          <p:cNvPr id="20" name="TextBox 19">
            <a:extLst>
              <a:ext uri="{FF2B5EF4-FFF2-40B4-BE49-F238E27FC236}">
                <a16:creationId xmlns:a16="http://schemas.microsoft.com/office/drawing/2014/main" id="{65DC480C-23A0-7F0A-2799-AC9267E72DCE}"/>
              </a:ext>
            </a:extLst>
          </p:cNvPr>
          <p:cNvSpPr txBox="1"/>
          <p:nvPr/>
        </p:nvSpPr>
        <p:spPr>
          <a:xfrm>
            <a:off x="8318830" y="4512104"/>
            <a:ext cx="3647123" cy="1923604"/>
          </a:xfrm>
          <a:prstGeom prst="rect">
            <a:avLst/>
          </a:prstGeom>
          <a:noFill/>
        </p:spPr>
        <p:txBody>
          <a:bodyPr wrap="square">
            <a:spAutoFit/>
          </a:bodyPr>
          <a:lstStyle/>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Sasaki and Umeda (2021) said that negative WSCs at low latitudes can cause an increase in Kuroshio speed.</a:t>
            </a:r>
          </a:p>
          <a:p>
            <a:pPr marL="285750" indent="-285750">
              <a:buFont typeface="Arial" panose="020B0604020202020204" pitchFamily="34" charset="0"/>
              <a:buChar char="•"/>
            </a:pPr>
            <a:endParaRPr lang="en-US" altLang="ko-KR" sz="17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ko-KR" sz="1700" dirty="0">
                <a:latin typeface="Times New Roman" panose="02020603050405020304" pitchFamily="18" charset="0"/>
                <a:cs typeface="Times New Roman" panose="02020603050405020304" pitchFamily="18" charset="0"/>
              </a:rPr>
              <a:t>Thermal advection is driving SST warming in relation to the increase in Kuroshio velocity.</a:t>
            </a:r>
          </a:p>
        </p:txBody>
      </p:sp>
      <p:pic>
        <p:nvPicPr>
          <p:cNvPr id="22" name="그림 21">
            <a:extLst>
              <a:ext uri="{FF2B5EF4-FFF2-40B4-BE49-F238E27FC236}">
                <a16:creationId xmlns:a16="http://schemas.microsoft.com/office/drawing/2014/main" id="{03C0DBB1-6A61-27AF-9091-9A050751C2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21683" y="4410162"/>
            <a:ext cx="4797147" cy="2265989"/>
          </a:xfrm>
          <a:prstGeom prst="rect">
            <a:avLst/>
          </a:prstGeom>
        </p:spPr>
      </p:pic>
    </p:spTree>
    <p:extLst>
      <p:ext uri="{BB962C8B-B14F-4D97-AF65-F5344CB8AC3E}">
        <p14:creationId xmlns:p14="http://schemas.microsoft.com/office/powerpoint/2010/main" val="220351125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79891</TotalTime>
  <Words>3410</Words>
  <Application>Microsoft Macintosh PowerPoint</Application>
  <PresentationFormat>와이드스크린</PresentationFormat>
  <Paragraphs>255</Paragraphs>
  <Slides>14</Slides>
  <Notes>14</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14</vt:i4>
      </vt:variant>
    </vt:vector>
  </HeadingPairs>
  <TitlesOfParts>
    <vt:vector size="21" baseType="lpstr">
      <vt:lpstr>맑은 고딕</vt:lpstr>
      <vt:lpstr>Arial</vt:lpstr>
      <vt:lpstr>Cambria Math</vt:lpstr>
      <vt:lpstr>Helvetica</vt:lpstr>
      <vt:lpstr>Times New Roman</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도건우</dc:creator>
  <cp:lastModifiedBy>건우 도</cp:lastModifiedBy>
  <cp:revision>217</cp:revision>
  <dcterms:created xsi:type="dcterms:W3CDTF">2023-02-21T22:50:15Z</dcterms:created>
  <dcterms:modified xsi:type="dcterms:W3CDTF">2026-06-18T22:02:09Z</dcterms:modified>
</cp:coreProperties>
</file>